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4.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5f6abcad6b64396" /><Relationship Type="http://schemas.openxmlformats.org/officeDocument/2006/relationships/extended-properties" Target="/docProps/app.xml" Id="R435bc342d4f64c68" /><Relationship Type="http://schemas.openxmlformats.org/officeDocument/2006/relationships/officeDocument" Target="/ppt/presentation.xml" Id="R8179314ff04b4829" /></Relationships>
</file>

<file path=ppt/presentation.xml><?xml version="1.0" encoding="utf-8"?>
<p:presentation xmlns:p="http://schemas.openxmlformats.org/presentationml/2006/main">
  <p:sldMasterIdLst>
    <p:sldMasterId xmlns:r="http://schemas.openxmlformats.org/officeDocument/2006/relationships" id="2147483648" r:id="R92449766fa4e4c55"/>
  </p:sldMasterIdLst>
  <p:notesMasterIdLst>
    <p:notesMasterId xmlns:r="http://schemas.openxmlformats.org/officeDocument/2006/relationships" r:id="Raba0c551389c4e16"/>
  </p:notesMasterIdLst>
  <p:sldIdLst>
    <p:sldId xmlns:r="http://schemas.openxmlformats.org/officeDocument/2006/relationships" id="256" r:id="R621ded435cf8417a"/>
    <p:sldId xmlns:r="http://schemas.openxmlformats.org/officeDocument/2006/relationships" id="257" r:id="R18306f7fa5ac49b5"/>
    <p:sldId xmlns:r="http://schemas.openxmlformats.org/officeDocument/2006/relationships" id="258" r:id="Ra3aac5652b9e4b93"/>
    <p:sldId xmlns:r="http://schemas.openxmlformats.org/officeDocument/2006/relationships" id="259" r:id="R66be2e6c82bc4a61"/>
    <p:sldId xmlns:r="http://schemas.openxmlformats.org/officeDocument/2006/relationships" id="260" r:id="R73a8fd78f1ca40c5"/>
    <p:sldId xmlns:r="http://schemas.openxmlformats.org/officeDocument/2006/relationships" id="261" r:id="R18401fe0784a4f14"/>
    <p:sldId xmlns:r="http://schemas.openxmlformats.org/officeDocument/2006/relationships" id="262" r:id="R0ed91e477fbd42c7"/>
    <p:sldId xmlns:r="http://schemas.openxmlformats.org/officeDocument/2006/relationships" id="263" r:id="R6aa1fa1aaafd4afe"/>
    <p:sldId xmlns:r="http://schemas.openxmlformats.org/officeDocument/2006/relationships" id="264" r:id="Rc5cb79fbb18342a8"/>
    <p:sldId xmlns:r="http://schemas.openxmlformats.org/officeDocument/2006/relationships" id="265" r:id="R01802cde43724e71"/>
    <p:sldId xmlns:r="http://schemas.openxmlformats.org/officeDocument/2006/relationships" id="266" r:id="Re63045fe167f4df3"/>
    <p:sldId xmlns:r="http://schemas.openxmlformats.org/officeDocument/2006/relationships" id="267" r:id="R0808d264c569476b"/>
    <p:sldId xmlns:r="http://schemas.openxmlformats.org/officeDocument/2006/relationships" id="268" r:id="Re772abd4cf6a4777"/>
    <p:sldId xmlns:r="http://schemas.openxmlformats.org/officeDocument/2006/relationships" id="269" r:id="Rcb7b160325524590"/>
    <p:sldId xmlns:r="http://schemas.openxmlformats.org/officeDocument/2006/relationships" id="270" r:id="Rb2931592ad3a4412"/>
    <p:sldId xmlns:r="http://schemas.openxmlformats.org/officeDocument/2006/relationships" id="271" r:id="R8687f3528ca14618"/>
    <p:sldId xmlns:r="http://schemas.openxmlformats.org/officeDocument/2006/relationships" id="272" r:id="R4c0c2e58c1e94dce"/>
    <p:sldId xmlns:r="http://schemas.openxmlformats.org/officeDocument/2006/relationships" id="273" r:id="R9573c32082e2430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d57878ec504495" /><Relationship Type="http://schemas.openxmlformats.org/officeDocument/2006/relationships/slideMaster" Target="/ppt/slideMasters/slideMaster1.xml" Id="R92449766fa4e4c55" /><Relationship Type="http://schemas.openxmlformats.org/officeDocument/2006/relationships/notesMaster" Target="/ppt/notesMasters/notesMaster1.xml" Id="Raba0c551389c4e16" /><Relationship Type="http://schemas.openxmlformats.org/officeDocument/2006/relationships/presProps" Target="/ppt/presProps.xml" Id="Rd22744fc3778470a" /><Relationship Type="http://schemas.openxmlformats.org/officeDocument/2006/relationships/tableStyles" Target="/ppt/tableStyles.xml" Id="R5e93fa70d9be4196" /><Relationship Type="http://schemas.openxmlformats.org/officeDocument/2006/relationships/slide" Target="/ppt/slides/slide1.xml" Id="R621ded435cf8417a" /><Relationship Type="http://schemas.openxmlformats.org/officeDocument/2006/relationships/slide" Target="/ppt/slides/slide2.xml" Id="R18306f7fa5ac49b5" /><Relationship Type="http://schemas.openxmlformats.org/officeDocument/2006/relationships/slide" Target="/ppt/slides/slide3.xml" Id="Ra3aac5652b9e4b93" /><Relationship Type="http://schemas.openxmlformats.org/officeDocument/2006/relationships/slide" Target="/ppt/slides/slide4.xml" Id="R66be2e6c82bc4a61" /><Relationship Type="http://schemas.openxmlformats.org/officeDocument/2006/relationships/slide" Target="/ppt/slides/slide5.xml" Id="R73a8fd78f1ca40c5" /><Relationship Type="http://schemas.openxmlformats.org/officeDocument/2006/relationships/slide" Target="/ppt/slides/slide6.xml" Id="R18401fe0784a4f14" /><Relationship Type="http://schemas.openxmlformats.org/officeDocument/2006/relationships/slide" Target="/ppt/slides/slide7.xml" Id="R0ed91e477fbd42c7" /><Relationship Type="http://schemas.openxmlformats.org/officeDocument/2006/relationships/slide" Target="/ppt/slides/slide8.xml" Id="R6aa1fa1aaafd4afe" /><Relationship Type="http://schemas.openxmlformats.org/officeDocument/2006/relationships/slide" Target="/ppt/slides/slide9.xml" Id="Rc5cb79fbb18342a8" /><Relationship Type="http://schemas.openxmlformats.org/officeDocument/2006/relationships/slide" Target="/ppt/slides/slide10.xml" Id="R01802cde43724e71" /><Relationship Type="http://schemas.openxmlformats.org/officeDocument/2006/relationships/slide" Target="/ppt/slides/slide11.xml" Id="Re63045fe167f4df3" /><Relationship Type="http://schemas.openxmlformats.org/officeDocument/2006/relationships/slide" Target="/ppt/slides/slide12.xml" Id="R0808d264c569476b" /><Relationship Type="http://schemas.openxmlformats.org/officeDocument/2006/relationships/slide" Target="/ppt/slides/slide13.xml" Id="Re772abd4cf6a4777" /><Relationship Type="http://schemas.openxmlformats.org/officeDocument/2006/relationships/slide" Target="/ppt/slides/slide14.xml" Id="Rcb7b160325524590" /><Relationship Type="http://schemas.openxmlformats.org/officeDocument/2006/relationships/slide" Target="/ppt/slides/slide15.xml" Id="Rb2931592ad3a4412" /><Relationship Type="http://schemas.openxmlformats.org/officeDocument/2006/relationships/slide" Target="/ppt/slides/slide16.xml" Id="R8687f3528ca14618" /><Relationship Type="http://schemas.openxmlformats.org/officeDocument/2006/relationships/slide" Target="/ppt/slides/slide17.xml" Id="R4c0c2e58c1e94dce" /><Relationship Type="http://schemas.openxmlformats.org/officeDocument/2006/relationships/slide" Target="/ppt/slides/slide18.xml" Id="R9573c32082e243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74346e6693e47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86dd128fb445c1" /><Relationship Type="http://schemas.openxmlformats.org/officeDocument/2006/relationships/notesMaster" Target="/ppt/notesMasters/notesMaster1.xml" Id="R3be44b67ec9d42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41c0c7f65189458a" /><Relationship Type="http://schemas.openxmlformats.org/officeDocument/2006/relationships/notesMaster" Target="/ppt/notesMasters/notesMaster1.xml" Id="R4e4ce456431046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48a7ca8caa7410f" /><Relationship Type="http://schemas.openxmlformats.org/officeDocument/2006/relationships/notesMaster" Target="/ppt/notesMasters/notesMaster1.xml" Id="Rd5dc8f77d36840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241cbb328a4bf2" /><Relationship Type="http://schemas.openxmlformats.org/officeDocument/2006/relationships/notesMaster" Target="/ppt/notesMasters/notesMaster1.xml" Id="R2e4bcadcd46a4e77" /></Relationships>
</file>

<file path=ppt/notesSlides/_rels/notesSlide5.xml.rels>&#65279;<?xml version="1.0" encoding="utf-8"?><Relationships xmlns="http://schemas.openxmlformats.org/package/2006/relationships"><Relationship Type="http://schemas.openxmlformats.org/officeDocument/2006/relationships/slide" Target="/ppt/slides/slide5.xml" Id="Rda78ca73d2dd4e09" /><Relationship Type="http://schemas.openxmlformats.org/officeDocument/2006/relationships/notesMaster" Target="/ppt/notesMasters/notesMaster1.xml" Id="R3da9e61f37bd47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53beb8d976647dd" /><Relationship Type="http://schemas.openxmlformats.org/officeDocument/2006/relationships/notesMaster" Target="/ppt/notesMasters/notesMaster1.xml" Id="Rfcfb57c1fb3642d4" /></Relationships>
</file>

<file path=ppt/notesSlides/_rels/notesSlide7.xml.rels>&#65279;<?xml version="1.0" encoding="utf-8"?><Relationships xmlns="http://schemas.openxmlformats.org/package/2006/relationships"><Relationship Type="http://schemas.openxmlformats.org/officeDocument/2006/relationships/slide" Target="/ppt/slides/slide7.xml" Id="R7fd97f36720944e1" /><Relationship Type="http://schemas.openxmlformats.org/officeDocument/2006/relationships/notesMaster" Target="/ppt/notesMasters/notesMaster1.xml" Id="R1bf87a9390c645ad" /></Relationships>
</file>

<file path=ppt/notesSlides/_rels/notesSlide8.xml.rels>&#65279;<?xml version="1.0" encoding="utf-8"?><Relationships xmlns="http://schemas.openxmlformats.org/package/2006/relationships"><Relationship Type="http://schemas.openxmlformats.org/officeDocument/2006/relationships/slide" Target="/ppt/slides/slide8.xml" Id="Rf97daad1c4d54bd9" /><Relationship Type="http://schemas.openxmlformats.org/officeDocument/2006/relationships/notesMaster" Target="/ppt/notesMasters/notesMaster1.xml" Id="R39805cc3ffb84a6d" /></Relationships>
</file>

<file path=ppt/notesSlides/_rels/notesSlide9.xml.rels>&#65279;<?xml version="1.0" encoding="utf-8"?><Relationships xmlns="http://schemas.openxmlformats.org/package/2006/relationships"><Relationship Type="http://schemas.openxmlformats.org/officeDocument/2006/relationships/slide" Target="/ppt/slides/slide9.xml" Id="R3d9215c55c644bae" /><Relationship Type="http://schemas.openxmlformats.org/officeDocument/2006/relationships/notesMaster" Target="/ppt/notesMasters/notesMaster1.xml" Id="R894d864fa865405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d9dda0d986c4114" /><Relationship Type="http://schemas.openxmlformats.org/officeDocument/2006/relationships/notesMaster" Target="/ppt/notesMasters/notesMaster1.xml" Id="Rc74000c00c1245c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e4cb709eb81481d" /><Relationship Type="http://schemas.openxmlformats.org/officeDocument/2006/relationships/notesMaster" Target="/ppt/notesMasters/notesMaster1.xml" Id="R53acd92309e744a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4b1da3133c54d1c" /><Relationship Type="http://schemas.openxmlformats.org/officeDocument/2006/relationships/notesMaster" Target="/ppt/notesMasters/notesMaster1.xml" Id="Rc4accb2a6e6944f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c7a17e11ec24e76" /><Relationship Type="http://schemas.openxmlformats.org/officeDocument/2006/relationships/notesMaster" Target="/ppt/notesMasters/notesMaster1.xml" Id="R8f29ce06d8714e6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86069d5bb214f6d" /><Relationship Type="http://schemas.openxmlformats.org/officeDocument/2006/relationships/notesMaster" Target="/ppt/notesMasters/notesMaster1.xml" Id="R3a61727657ad4a7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7ef1e34ad78421c" /><Relationship Type="http://schemas.openxmlformats.org/officeDocument/2006/relationships/notesMaster" Target="/ppt/notesMasters/notesMaster1.xml" Id="R28d76d6a683441e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b2ebdba2ba5468c" /><Relationship Type="http://schemas.openxmlformats.org/officeDocument/2006/relationships/notesMaster" Target="/ppt/notesMasters/notesMaster1.xml" Id="R84331f8bf1614fc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fe75979963e451a" /><Relationship Type="http://schemas.openxmlformats.org/officeDocument/2006/relationships/notesMaster" Target="/ppt/notesMasters/notesMaster1.xml" Id="Rf4f0278239ab4b7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8dbbae12fb34642" /><Relationship Type="http://schemas.openxmlformats.org/officeDocument/2006/relationships/notesMaster" Target="/ppt/notesMasters/notesMaster1.xml" Id="Ra868f614b2fb44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Shourya Bafna</a:t>
            </a:r>
          </a:p>
          <a:p xmlns:a="http://schemas.openxmlformats.org/drawingml/2006/main">
            <a:r>
              <a:t>Suggested time: 20 seconds</a:t>
            </a:r>
          </a:p>
          <a:p xmlns:a="http://schemas.openxmlformats.org/drawingml/2006/main">
            <a:r>
              <a:t/>
            </a:r>
          </a:p>
          <a:p xmlns:a="http://schemas.openxmlformats.org/drawingml/2006/main">
            <a:r>
              <a:t>Introduce the educational material classifier. State that this is the classical machine learning phase. The measured result belongs to a controlled TrashNet test split, so it is not a universal disposal recommendation. Hand over to Om for the problem and data.</a:t>
            </a:r>
          </a:p>
          <a:p xmlns:a="http://schemas.openxmlformats.org/drawingml/2006/main">
            <a:r>
              <a:t/>
            </a:r>
          </a:p>
          <a:p xmlns:a="http://schemas.openxmlformats.org/drawingml/2006/main">
            <a:r>
              <a:t>Sources: report/main.tex; docs/evaluation/test-metrics.json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Om Yadav</a:t>
            </a:r>
          </a:p>
          <a:p xmlns:a="http://schemas.openxmlformats.org/drawingml/2006/main">
            <a:r>
              <a:t>Suggested time: 30 seconds</a:t>
            </a:r>
          </a:p>
          <a:p xmlns:a="http://schemas.openxmlformats.org/drawingml/2006/main">
            <a:r>
              <a:t/>
            </a:r>
          </a:p>
          <a:p xmlns:a="http://schemas.openxmlformats.org/drawingml/2006/main">
            <a:r>
              <a:t>Explain the six labels. Local rules, contamination and composite materials determine disposal decisions, so we present material suggestions only. The baseline deliberately uses manual descriptors and classical SVM/Random Forest models. Transfer learning belongs to Phase 2.</a:t>
            </a:r>
          </a:p>
          <a:p xmlns:a="http://schemas.openxmlformats.org/drawingml/2006/main">
            <a:r>
              <a:t/>
            </a:r>
          </a:p>
          <a:p xmlns:a="http://schemas.openxmlformats.org/drawingml/2006/main">
            <a:r>
              <a:t>Sources: Faculty Project 12 brief; https://github.com/garythung/trashnet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Om Yadav</a:t>
            </a:r>
          </a:p>
          <a:p xmlns:a="http://schemas.openxmlformats.org/drawingml/2006/main">
            <a:r>
              <a:t>Suggested time: 50 seconds</a:t>
            </a:r>
          </a:p>
          <a:p xmlns:a="http://schemas.openxmlformats.org/drawingml/2006/main">
            <a:r>
              <a:t/>
            </a:r>
          </a:p>
          <a:p xmlns:a="http://schemas.openxmlformats.org/drawingml/2006/main">
            <a:r>
              <a:t>Start with 2,527 readable images. Three conflicting-label duplicate groups contain six files, all excluded without relabeling. The remaining counts shown here come from the manifest. Paper is the largest category and trash the smallest. Training imbalance is 416 versus 96, which motivates macro F1.</a:t>
            </a:r>
          </a:p>
          <a:p xmlns:a="http://schemas.openxmlformats.org/drawingml/2006/main">
            <a:r>
              <a:t/>
            </a:r>
          </a:p>
          <a:p xmlns:a="http://schemas.openxmlformats.org/drawingml/2006/main">
            <a:r>
              <a:t>Sources: docs/dataset/audit_summary.json; docs/dataset/split_summary.json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Om Yadav</a:t>
            </a:r>
          </a:p>
          <a:p xmlns:a="http://schemas.openxmlformats.org/drawingml/2006/main">
            <a:r>
              <a:t>Suggested time: 40 seconds</a:t>
            </a:r>
          </a:p>
          <a:p xmlns:a="http://schemas.openxmlformats.org/drawingml/2006/main">
            <a:r>
              <a:t/>
            </a:r>
          </a:p>
          <a:p xmlns:a="http://schemas.openxmlformats.org/drawingml/2006/main">
            <a:r>
              <a:t>The outer split is fixed and group-aware. Training supports all model searches and calibration. Validation selects only the abstention threshold. Test measures the frozen pipeline. We preserve detected same-item and uncertain duplicate groups. Perceptual hashing can miss repeated objects, so do not claim perfect object-identity isolation. Hand to Aditya.</a:t>
            </a:r>
          </a:p>
          <a:p xmlns:a="http://schemas.openxmlformats.org/drawingml/2006/main">
            <a:r>
              <a:t/>
            </a:r>
          </a:p>
          <a:p xmlns:a="http://schemas.openxmlformats.org/drawingml/2006/main">
            <a:r>
              <a:t>Sources: docs/dataset/split_summary.json; docs/training/folds.json; docs/evaluation/calibration-protocol.json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Aditya Bharadwaj</a:t>
            </a:r>
          </a:p>
          <a:p xmlns:a="http://schemas.openxmlformats.org/drawingml/2006/main">
            <a:r>
              <a:t>Suggested time: 50 seconds</a:t>
            </a:r>
          </a:p>
          <a:p xmlns:a="http://schemas.openxmlformats.org/drawingml/2006/main">
            <a:r>
              <a:t/>
            </a:r>
          </a:p>
          <a:p xmlns:a="http://schemas.openxmlformats.org/drawingml/2006/main">
            <a:r>
              <a:t>Explain each handcrafted descriptor using intuition. HSV summarizes color. HOG summarizes local edge directions, with unsigned orientations and normalized overlapping blocks. LBP compares each pixel with nearby intensities. The baseline concatenates 32, 1764 and 10 values. The common preprocessing preserves aspect ratio and white-pads a 128 by 128 canvas. Caches validate manifest and extractor identity.</a:t>
            </a:r>
          </a:p>
          <a:p xmlns:a="http://schemas.openxmlformats.org/drawingml/2006/main">
            <a:r>
              <a:t/>
            </a:r>
          </a:p>
          <a:p xmlns:a="http://schemas.openxmlformats.org/drawingml/2006/main">
            <a:r>
              <a:t>Sources: src/waste_sorting/features.py; configs/phase1.toml; Dalal &amp; Triggs (2005); Ojala et al. (2002)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Aditya Bharadwaj</a:t>
            </a:r>
          </a:p>
          <a:p xmlns:a="http://schemas.openxmlformats.org/drawingml/2006/main">
            <a:r>
              <a:t>Suggested time: 55 seconds</a:t>
            </a:r>
          </a:p>
          <a:p xmlns:a="http://schemas.openxmlformats.org/drawingml/2006/main">
            <a:r>
              <a:t/>
            </a:r>
          </a:p>
          <a:p xmlns:a="http://schemas.openxmlformats.org/drawingml/2006/main">
            <a:r>
              <a:t>The extended extractor uses a 256-square canvas and six regions: full image, fixed foreground mask and four quadrants. Each region has 288 color and 172 texture values. This produces 2760 raw inputs. The winner chooses color from full image plus foreground and texture from all regions: 576 plus 1032 equals 1608. It does not include HOG. The mask is a heuristic and can miss pale objects. Hand to Shourya.</a:t>
            </a:r>
          </a:p>
          <a:p xmlns:a="http://schemas.openxmlformats.org/drawingml/2006/main">
            <a:r>
              <a:t/>
            </a:r>
          </a:p>
          <a:p xmlns:a="http://schemas.openxmlformats.org/drawingml/2006/main">
            <a:r>
              <a:t>Sources: src/waste_sorting/extended_features.py; docs/training/extended-svm-study.md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Shourya Bafna</a:t>
            </a:r>
          </a:p>
          <a:p xmlns:a="http://schemas.openxmlformats.org/drawingml/2006/main">
            <a:r>
              <a:t>Suggested time: 65 seconds</a:t>
            </a:r>
          </a:p>
          <a:p xmlns:a="http://schemas.openxmlformats.org/drawingml/2006/main">
            <a:r>
              <a:t/>
            </a:r>
          </a:p>
          <a:p xmlns:a="http://schemas.openxmlformats.org/drawingml/2006/main">
            <a:r>
              <a:t>The stages share the same five training folds. The baseline RBF SVM scored 0.6731. A compact HSV plus LBP representation reached 0.8042. The extended selected subset reached 0.8803. These are selection scores, not test scores. The selected pipeline applies square root then per-image L2 normalization and an RBF kernel with C=10 and gamma=10. Its five-fold standard deviation is 0.0215. The extended search evaluated 72 candidates after the 256-candidate compact follow-up. Repeated fold reuse can produce optimism, which motivates the frozen test.</a:t>
            </a:r>
          </a:p>
          <a:p xmlns:a="http://schemas.openxmlformats.org/drawingml/2006/main">
            <a:r>
              <a:t/>
            </a:r>
          </a:p>
          <a:p xmlns:a="http://schemas.openxmlformats.org/drawingml/2006/main">
            <a:r>
              <a:t>Sources: docs/training/rf-refinement-results/cross-study-comparison.csv; docs/training/extended-svm-results/comparison.csv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Daksh Batra</a:t>
            </a:r>
          </a:p>
          <a:p xmlns:a="http://schemas.openxmlformats.org/drawingml/2006/main">
            <a:r>
              <a:t>Suggested time: 55 seconds</a:t>
            </a:r>
          </a:p>
          <a:p xmlns:a="http://schemas.openxmlformats.org/drawingml/2006/main">
            <a:r>
              <a:t/>
            </a:r>
          </a:p>
          <a:p xmlns:a="http://schemas.openxmlformats.org/drawingml/2006/main">
            <a:r>
              <a:t>Describe the RF experiment and the value of a second model family. All four refined families use the same 24 sampled configurations and frozen folds. The best refined RF uses all 2760 spatial color and texture features and reaches 0.8370. Its selected settings are 600 trees, unlimited depth, balanced class weights, bootstrap, and square-root feature sampling. Do not claim max_features=0.25 for the winning family.</a:t>
            </a:r>
          </a:p>
          <a:p xmlns:a="http://schemas.openxmlformats.org/drawingml/2006/main">
            <a:r>
              <a:t/>
            </a:r>
          </a:p>
          <a:p xmlns:a="http://schemas.openxmlformats.org/drawingml/2006/main">
            <a:r>
              <a:t>Sources: docs/training/rf-refinement-results/comparison.csv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Daksh Batra</a:t>
            </a:r>
          </a:p>
          <a:p xmlns:a="http://schemas.openxmlformats.org/drawingml/2006/main">
            <a:r>
              <a:t>Suggested time: 40 seconds</a:t>
            </a:r>
          </a:p>
          <a:p xmlns:a="http://schemas.openxmlformats.org/drawingml/2006/main">
            <a:r>
              <a:t/>
            </a:r>
          </a:p>
          <a:p xmlns:a="http://schemas.openxmlformats.org/drawingml/2006/main">
            <a:r>
              <a:t>The initial HSV-only forest outperformed the combined baseline despite having far fewer dimensions. The extended SVM also favored a subset over all extended features. This supports feature-family comparisons. Feature dilution is a possible mechanism, not proven causation. The SVM has higher mean selection F1 than refined RF, but we did not run a formal significance test. Hand to Prajjwal for confidence and evaluation.</a:t>
            </a:r>
          </a:p>
          <a:p xmlns:a="http://schemas.openxmlformats.org/drawingml/2006/main">
            <a:r>
              <a:t/>
            </a:r>
          </a:p>
          <a:p xmlns:a="http://schemas.openxmlformats.org/drawingml/2006/main">
            <a:r>
              <a:t>Sources: docs/training/rf-cv-summary.json; docs/training/extended-svm-results/comparison.csv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Prajjwal Tripathi</a:t>
            </a:r>
          </a:p>
          <a:p xmlns:a="http://schemas.openxmlformats.org/drawingml/2006/main">
            <a:r>
              <a:t>Suggested time: 60 seconds</a:t>
            </a:r>
          </a:p>
          <a:p xmlns:a="http://schemas.openxmlformats.org/drawingml/2006/main">
            <a:r>
              <a:t/>
            </a:r>
          </a:p>
          <a:p xmlns:a="http://schemas.openxmlformats.org/drawingml/2006/main">
            <a:r>
              <a:t>The selected SVM hyperparameters stay frozen. For each of five training folds, a base model learns from four folds and a sigmoid calibrator learns from the withheld fold. We average calibrated probabilities. This is training-only calibration, not validation or test fitting. On 380 validation images we choose a threshold from 101 candidates. At 0.52, 373 are accepted and 336 are correct, satisfying 90% accepted accuracy and 80% coverage targets. The same folds selected hyperparameters earlier, so training calibration diagnostics are not independent.</a:t>
            </a:r>
          </a:p>
          <a:p xmlns:a="http://schemas.openxmlformats.org/drawingml/2006/main">
            <a:r>
              <a:t/>
            </a:r>
          </a:p>
          <a:p xmlns:a="http://schemas.openxmlformats.org/drawingml/2006/main">
            <a:r>
              <a:t>Sources: docs/evaluation/calibration-protocol.json; docs/evaluation/validation-metrics.json; Platt (1999)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Prajjwal Tripathi</a:t>
            </a:r>
          </a:p>
          <a:p xmlns:a="http://schemas.openxmlformats.org/drawingml/2006/main">
            <a:r>
              <a:t>Suggested time: 45 seconds</a:t>
            </a:r>
          </a:p>
          <a:p xmlns:a="http://schemas.openxmlformats.org/drawingml/2006/main">
            <a:r>
              <a:t/>
            </a:r>
          </a:p>
          <a:p xmlns:a="http://schemas.openxmlformats.org/drawingml/2006/main">
            <a:r>
              <a:t>Clearly distinguish unconditional performance on all 377 images from selective performance on 371 accepted images. Accuracy rises from 90.19 to 91.37 percent on the accepted subset, a 1.19 percentage-point difference. Six predictions abstain: five errors and one correct prediction. These figures describe the controlled TrashNet test partition. They are not a promise for everyday photos.</a:t>
            </a:r>
          </a:p>
          <a:p xmlns:a="http://schemas.openxmlformats.org/drawingml/2006/main">
            <a:r>
              <a:t/>
            </a:r>
          </a:p>
          <a:p xmlns:a="http://schemas.openxmlformats.org/drawingml/2006/main">
            <a:r>
              <a:t>Sources: docs/evaluation/test-metrics.json; docs/evaluation/test-predictions.csv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Prajjwal Tripathi</a:t>
            </a:r>
          </a:p>
          <a:p xmlns:a="http://schemas.openxmlformats.org/drawingml/2006/main">
            <a:r>
              <a:t>Suggested time: 35 seconds</a:t>
            </a:r>
          </a:p>
          <a:p xmlns:a="http://schemas.openxmlformats.org/drawingml/2006/main">
            <a:r>
              <a:t/>
            </a:r>
          </a:p>
          <a:p xmlns:a="http://schemas.openxmlformats.org/drawingml/2006/main">
            <a:r>
              <a:t>Read the matrix by row: true class on rows and predictions on columns. Metal-to-glass is the largest individual off-diagonal with six examples. Plastic has the lowest recall, 61/72, with errors across several categories. Trash recall is high but based on only 20 test images. This analysis uses saved predictions and does not tune the model. Hand to Saksham for the demo.</a:t>
            </a:r>
          </a:p>
          <a:p xmlns:a="http://schemas.openxmlformats.org/drawingml/2006/main">
            <a:r>
              <a:t/>
            </a:r>
          </a:p>
          <a:p xmlns:a="http://schemas.openxmlformats.org/drawingml/2006/main">
            <a:r>
              <a:t>Sources: docs/evaluation/test-metrics.json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Saksham Mighlani</a:t>
            </a:r>
          </a:p>
          <a:p xmlns:a="http://schemas.openxmlformats.org/drawingml/2006/main">
            <a:r>
              <a:t>Suggested time: 60 seconds</a:t>
            </a:r>
          </a:p>
          <a:p xmlns:a="http://schemas.openxmlformats.org/drawingml/2006/main">
            <a:r>
              <a:t/>
            </a:r>
          </a:p>
          <a:p xmlns:a="http://schemas.openxmlformats.org/drawingml/2006/main">
            <a:r>
              <a:t>Switch to the live local application if available. Upload one previously prepared photo, show all six probabilities, and explain the fixed threshold. Clear and replace the input to show stale-state removal. Do not change model settings or treat the demonstration as an accuracy benchmark. This backup screenshot uses a generated color patch with the real evaluated model; it is deliberately not a real waste accuracy example. If the model is unavailable, present this screenshot instead of representing fixture output as real.</a:t>
            </a:r>
          </a:p>
          <a:p xmlns:a="http://schemas.openxmlformats.org/drawingml/2006/main">
            <a:r>
              <a:t/>
            </a:r>
          </a:p>
          <a:p xmlns:a="http://schemas.openxmlformats.org/drawingml/2006/main">
            <a:r>
              <a:t>Sources: app.py; docs/demo-verification.md; docs/demo-mobile.png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Saksham Mighlani</a:t>
            </a:r>
          </a:p>
          <a:p xmlns:a="http://schemas.openxmlformats.org/drawingml/2006/main">
            <a:r>
              <a:t>Suggested time: 40 seconds</a:t>
            </a:r>
          </a:p>
          <a:p xmlns:a="http://schemas.openxmlformats.org/drawingml/2006/main">
            <a:r>
              <a:t/>
            </a:r>
          </a:p>
          <a:p xmlns:a="http://schemas.openxmlformats.org/drawingml/2006/main">
            <a:r>
              <a:t>Explain limitations plainly. White-background training can bias feature behavior. Unknown categories and multiple objects do not have reliable rejection guarantees. ECE is 0.1325, so probabilities are imperfect even after calibration. Exact historical evaluation source is not reconstructable because the run used an uncommitted tree. The preserved binary and predictions remain unchanged. Phase 2 needs an independent everyday-photo evaluation and a planned transfer-learning comparison.</a:t>
            </a:r>
          </a:p>
          <a:p xmlns:a="http://schemas.openxmlformats.org/drawingml/2006/main">
            <a:r>
              <a:t/>
            </a:r>
          </a:p>
          <a:p xmlns:a="http://schemas.openxmlformats.org/drawingml/2006/main">
            <a:r>
              <a:t>Sources: docs/evaluation/README.md; docs/evaluation/test-metrics.json; docs/dataset/README.md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Shourya Bafna</a:t>
            </a:r>
          </a:p>
          <a:p xmlns:a="http://schemas.openxmlformats.org/drawingml/2006/main">
            <a:r>
              <a:t>Suggested time: 35 seconds</a:t>
            </a:r>
          </a:p>
          <a:p xmlns:a="http://schemas.openxmlformats.org/drawingml/2006/main">
            <a:r>
              <a:t/>
            </a:r>
          </a:p>
          <a:p xmlns:a="http://schemas.openxmlformats.org/drawingml/2006/main">
            <a:r>
              <a:t>Close by crediting each member. Om owns data and preprocessing, Aditya baseline descriptors and caching, Shourya SVM and integration review, Daksh forests, Prajjwal calibration and evaluation, and Saksham demo and submission assembly. Our main result is 0.8999 macro F1 with an uncertainty-aware educational prototype. Invite questions. The next slides are backup material only.</a:t>
            </a:r>
          </a:p>
          <a:p xmlns:a="http://schemas.openxmlformats.org/drawingml/2006/main">
            <a:r>
              <a:t/>
            </a:r>
          </a:p>
          <a:p xmlns:a="http://schemas.openxmlformats.org/drawingml/2006/main">
            <a:r>
              <a:t>Sources: docs/contributions.md; docs/evaluation/test-metrics.json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Shourya Bafna</a:t>
            </a:r>
          </a:p>
          <a:p xmlns:a="http://schemas.openxmlformats.org/drawingml/2006/main">
            <a:r>
              <a:t>Suggested time: Backup / Q&amp;A</a:t>
            </a:r>
          </a:p>
          <a:p xmlns:a="http://schemas.openxmlformats.org/drawingml/2006/main">
            <a:r>
              <a:t/>
            </a:r>
          </a:p>
          <a:p xmlns:a="http://schemas.openxmlformats.org/drawingml/2006/main">
            <a:r>
              <a:t>Explain C as the penalty for margin violations and gamma as the scale of the RBF similarity. Small gamma yields broad influence; larger gamma is more local. Square root and row L2 operate per image, so they do not fit statistics across train/validation/test. The selected 1608 columns are inside the saved pipeline, which expects a full 2760-vector. The extended winner has no HOG.</a:t>
            </a:r>
          </a:p>
          <a:p xmlns:a="http://schemas.openxmlformats.org/drawingml/2006/main">
            <a:r>
              <a:t/>
            </a:r>
          </a:p>
          <a:p xmlns:a="http://schemas.openxmlformats.org/drawingml/2006/main">
            <a:r>
              <a:t>Sources: src/waste_sorting/extended_features.py; docs/training/extended-svm-study.md; Cortes &amp; Vapnik (1995)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Prajjwal Tripathi</a:t>
            </a:r>
          </a:p>
          <a:p xmlns:a="http://schemas.openxmlformats.org/drawingml/2006/main">
            <a:r>
              <a:t>Suggested time: Backup / Q&amp;A</a:t>
            </a:r>
          </a:p>
          <a:p xmlns:a="http://schemas.openxmlformats.org/drawingml/2006/main">
            <a:r>
              <a:t/>
            </a:r>
          </a:p>
          <a:p xmlns:a="http://schemas.openxmlformats.org/drawingml/2006/main">
            <a:r>
              <a:t>ECE is a weighted confidence-to-accuracy gap using 10 fixed bins. The chart shows only nonempty bins. Higher-confidence bins tend to be underconfident because observed accuracy exceeds average confidence. We have no saved paired uncalibrated test comparison, so do not claim a quantified test calibration improvement. Log loss and Brier score assess the full probability vector, while ECE summarizes confidence bins.</a:t>
            </a:r>
          </a:p>
          <a:p xmlns:a="http://schemas.openxmlformats.org/drawingml/2006/main">
            <a:r>
              <a:t/>
            </a:r>
          </a:p>
          <a:p xmlns:a="http://schemas.openxmlformats.org/drawingml/2006/main">
            <a:r>
              <a:t>Sources: docs/evaluation/test-metrics.json; Niculescu-Mizil &amp; Caruana (2005)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All members</a:t>
            </a:r>
          </a:p>
          <a:p xmlns:a="http://schemas.openxmlformats.org/drawingml/2006/main">
            <a:r>
              <a:t>Suggested time: Backup / Q&amp;A</a:t>
            </a:r>
          </a:p>
          <a:p xmlns:a="http://schemas.openxmlformats.org/drawingml/2006/main">
            <a:r>
              <a:t/>
            </a:r>
          </a:p>
          <a:p xmlns:a="http://schemas.openxmlformats.org/drawingml/2006/main">
            <a:r>
              <a:t>These sources motivate the methods. Project-specific metrics come from the versioned experiment CSV/JSON files, not external papers. The report contains the full bibliography. If asked about external baselines, explain that our split and duplicate review differ and we have not made a like-for-like performance claim against published work.</a:t>
            </a:r>
          </a:p>
          <a:p xmlns:a="http://schemas.openxmlformats.org/drawingml/2006/main">
            <a:r>
              <a:t/>
            </a:r>
          </a:p>
          <a:p xmlns:a="http://schemas.openxmlformats.org/drawingml/2006/main">
            <a:r>
              <a:t>Sources: report/references.bib; https://github.com/garythung/trashnet; https://jmlr.org/papers/v11/el-yaniv10a.html; https://www.cs.cornell.edu/~alexn/papers/calibration.icml05.crc.rev3.pdf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5a4358cebf463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14e9bd2a5a43d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c908dfe94ff49f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f918d13da1f4eb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77e4d8f376544b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9833b4f6d294a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09AC2D-C6DA-4DB5-AB13-B60D4204BEF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EA1B1D8-1E91-403C-A019-3F170C9343D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8E86C93-0DF5-4157-A879-E70A8301B0E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A0C959B-B9E8-48F5-B823-BA5879E8D25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AB89869-79CB-47B8-800D-6B78CE4CC18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E4A8440-9C35-421D-9102-E5984C8D9E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F936CA0-380F-4AA6-B7E5-57ED3EC31B8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C3FADED-8D0F-4635-A302-DF7D10FB805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24E14D3-446C-4FBA-AB25-1B2A63983B0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9CE1AC-02BA-4BAC-A088-4C7BABA91B8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7bc7cb30adc4992" /><Relationship Type="http://schemas.openxmlformats.org/officeDocument/2006/relationships/slideLayout" Target="/ppt/slideLayouts/slideLayout1.xml" Id="Re0743a3d35644482" /><Relationship Type="http://schemas.openxmlformats.org/officeDocument/2006/relationships/slideLayout" Target="/ppt/slideLayouts/slideLayout2.xml" Id="R400daaa2d9324c1d" /><Relationship Type="http://schemas.openxmlformats.org/officeDocument/2006/relationships/slideLayout" Target="/ppt/slideLayouts/slideLayout3.xml" Id="Red1f9cfb007c407e" /><Relationship Type="http://schemas.openxmlformats.org/officeDocument/2006/relationships/slideLayout" Target="/ppt/slideLayouts/slideLayout4.xml" Id="R3c6878fec1b44807" /><Relationship Type="http://schemas.openxmlformats.org/officeDocument/2006/relationships/slideLayout" Target="/ppt/slideLayouts/slideLayout5.xml" Id="R580d8b8400d5479d" /><Relationship Type="http://schemas.openxmlformats.org/officeDocument/2006/relationships/slideLayout" Target="/ppt/slideLayouts/slideLayout6.xml" Id="R7aa132dea9af45d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743a3d35644482"/>
    <p:sldLayoutId xmlns:r="http://schemas.openxmlformats.org/officeDocument/2006/relationships" id="2147483650" r:id="R400daaa2d9324c1d"/>
    <p:sldLayoutId xmlns:r="http://schemas.openxmlformats.org/officeDocument/2006/relationships" id="2147483651" r:id="Red1f9cfb007c407e"/>
    <p:sldLayoutId xmlns:r="http://schemas.openxmlformats.org/officeDocument/2006/relationships" id="2147483652" r:id="R3c6878fec1b44807"/>
    <p:sldLayoutId xmlns:r="http://schemas.openxmlformats.org/officeDocument/2006/relationships" id="2147483653" r:id="R580d8b8400d5479d"/>
    <p:sldLayoutId xmlns:r="http://schemas.openxmlformats.org/officeDocument/2006/relationships" id="2147483654" r:id="R7aa132dea9af45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ce96ac2cd684c10" /><Relationship Type="http://schemas.openxmlformats.org/officeDocument/2006/relationships/notesSlide" Target="/ppt/notesSlides/notesSlide1.xml" Id="R395667c82c6444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02727ac250140ef" /><Relationship Type="http://schemas.openxmlformats.org/officeDocument/2006/relationships/notesSlide" Target="/ppt/notesSlides/notesSlide2.xml" Id="Raf60483aeefc47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a08b4d4d7bd43c2" /><Relationship Type="http://schemas.openxmlformats.org/officeDocument/2006/relationships/chart" Target="/ppt/slides/charts/chart1.xml" Id="R253db2bce2174ab6" /><Relationship Type="http://schemas.openxmlformats.org/officeDocument/2006/relationships/notesSlide" Target="/ppt/notesSlides/notesSlide3.xml" Id="Rd4c11102f3c94c2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a051bec1af44b4e" /><Relationship Type="http://schemas.openxmlformats.org/officeDocument/2006/relationships/notesSlide" Target="/ppt/notesSlides/notesSlide4.xml" Id="Radc89ec29eb64e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7b32f9c8fce4f97" /><Relationship Type="http://schemas.openxmlformats.org/officeDocument/2006/relationships/notesSlide" Target="/ppt/notesSlides/notesSlide5.xml" Id="R0faf33ea02864c7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a8c3f9068e845a8" /><Relationship Type="http://schemas.openxmlformats.org/officeDocument/2006/relationships/notesSlide" Target="/ppt/notesSlides/notesSlide6.xml" Id="R1365b12b009b4ed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ffa254b4063467d" /><Relationship Type="http://schemas.openxmlformats.org/officeDocument/2006/relationships/chart" Target="/ppt/slides/charts/chart2.xml" Id="Rbc173b06a52f4e4a" /><Relationship Type="http://schemas.openxmlformats.org/officeDocument/2006/relationships/notesSlide" Target="/ppt/notesSlides/notesSlide7.xml" Id="Rbb52fc8571b745d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31d532191ff423d" /><Relationship Type="http://schemas.openxmlformats.org/officeDocument/2006/relationships/chart" Target="/ppt/slides/charts/chart3.xml" Id="Rf0582dbf9a174ce1" /><Relationship Type="http://schemas.openxmlformats.org/officeDocument/2006/relationships/notesSlide" Target="/ppt/notesSlides/notesSlide8.xml" Id="Ra877c589254e46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836cc30c5ce4f15" /><Relationship Type="http://schemas.openxmlformats.org/officeDocument/2006/relationships/notesSlide" Target="/ppt/notesSlides/notesSlide9.xml" Id="Rc2b4befaefd7432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84e5715ff724a82" /><Relationship Type="http://schemas.openxmlformats.org/officeDocument/2006/relationships/notesSlide" Target="/ppt/notesSlides/notesSlide10.xml" Id="R10904885a60a442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eeb7e0708064102" /><Relationship Type="http://schemas.openxmlformats.org/officeDocument/2006/relationships/notesSlide" Target="/ppt/notesSlides/notesSlide11.xml" Id="Rf1852f63f624468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a83ec1b9d7f4ae2" /><Relationship Type="http://schemas.openxmlformats.org/officeDocument/2006/relationships/notesSlide" Target="/ppt/notesSlides/notesSlide12.xml" Id="R95ebc370085e4df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24ea8fdeb0e4535" /><Relationship Type="http://schemas.openxmlformats.org/officeDocument/2006/relationships/image" Target="/ppt/media/image.png" Id="R98c709ce290e4ddf" /><Relationship Type="http://schemas.openxmlformats.org/officeDocument/2006/relationships/notesSlide" Target="/ppt/notesSlides/notesSlide13.xml" Id="R2140964cbfb547b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bca9124bf90495e" /><Relationship Type="http://schemas.openxmlformats.org/officeDocument/2006/relationships/notesSlide" Target="/ppt/notesSlides/notesSlide14.xml" Id="Rff33eae9322c420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83ee40d21a0488f" /><Relationship Type="http://schemas.openxmlformats.org/officeDocument/2006/relationships/notesSlide" Target="/ppt/notesSlides/notesSlide15.xml" Id="R85a13f55908842a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f3a07efc3374178" /><Relationship Type="http://schemas.openxmlformats.org/officeDocument/2006/relationships/notesSlide" Target="/ppt/notesSlides/notesSlide16.xml" Id="R28397eac561242a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7bf9b4909384536" /><Relationship Type="http://schemas.openxmlformats.org/officeDocument/2006/relationships/chart" Target="/ppt/slides/charts/chart4.xml" Id="Rc4ecb86f283a416d" /><Relationship Type="http://schemas.openxmlformats.org/officeDocument/2006/relationships/notesSlide" Target="/ppt/notesSlides/notesSlide17.xml" Id="R0791787d19cd499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4a2af4f18464f1f" /><Relationship Type="http://schemas.openxmlformats.org/officeDocument/2006/relationships/notesSlide" Target="/ppt/notesSlides/notesSlide18.xml" Id="R7d65053d200441a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Included images</c:v>
          </c:tx>
          <c:spPr>
            <a:solidFill xmlns:a="http://schemas.openxmlformats.org/drawingml/2006/main">
              <a:srgbClr val="167B62"/>
            </a:solidFill>
          </c:spPr>
          <c:invertIfNegative val="0"/>
          <c:cat>
            <c:strRef>
              <c:f>'Chart Data'!$A$2:$A$7</c:f>
              <c:strCache>
                <c:ptCount val="6"/>
                <c:pt idx="0">
                  <c:v>Cardboard</c:v>
                </c:pt>
                <c:pt idx="1">
                  <c:v>Glass</c:v>
                </c:pt>
                <c:pt idx="2">
                  <c:v>Metal</c:v>
                </c:pt>
                <c:pt idx="3">
                  <c:v>Paper</c:v>
                </c:pt>
                <c:pt idx="4">
                  <c:v>Plastic</c:v>
                </c:pt>
                <c:pt idx="5">
                  <c:v>Trash</c:v>
                </c:pt>
              </c:strCache>
            </c:strRef>
          </c:cat>
          <c:val>
            <c:numRef>
              <c:f>'Chart Data'!$B$2:$B$7</c:f>
              <c:numCache>
                <c:formatCode>0</c:formatCode>
                <c:ptCount val="6"/>
                <c:pt idx="0">
                  <c:v>403</c:v>
                </c:pt>
                <c:pt idx="1">
                  <c:v>498</c:v>
                </c:pt>
                <c:pt idx="2">
                  <c:v>409</c:v>
                </c:pt>
                <c:pt idx="3">
                  <c:v>594</c:v>
                </c:pt>
                <c:pt idx="4">
                  <c:v>480</c:v>
                </c:pt>
                <c:pt idx="5">
                  <c:v>137</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725" b="1">
                  <a:solidFill>
                    <a:srgbClr val="163B35"/>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2DD"/>
            </a:solidFill>
          </a:ln>
        </c:spPr>
        <c:txPr>
          <a:bodyPr xmlns:a="http://schemas.openxmlformats.org/drawingml/2006/main" anchorCtr="1"/>
          <a:lstStyle xmlns:a="http://schemas.openxmlformats.org/drawingml/2006/main"/>
          <a:p xmlns:a="http://schemas.openxmlformats.org/drawingml/2006/main">
            <a:pPr>
              <a:defRPr sz="1650">
                <a:solidFill>
                  <a:srgbClr val="163B35"/>
                </a:solidFill>
                <a:latin typeface="Arial"/>
                <a:ea typeface="Arial"/>
                <a:cs typeface="Arial"/>
              </a:defRPr>
            </a:pPr>
          </a:p>
        </c:txPr>
        <c:crossAx val="48672768"/>
      </c:catAx>
      <c:valAx>
        <c:axId val="48672768"/>
        <c:scaling>
          <c:orientation val="minMax"/>
          <c:max val="700"/>
          <c:min val="0"/>
        </c:scaling>
        <c:delete val="0"/>
        <c:axPos val="l"/>
        <c:majorGridlines>
          <c:spPr>
            <a:ln xmlns:a="http://schemas.openxmlformats.org/drawingml/2006/main" w="9525">
              <a:solidFill>
                <a:srgbClr val="D8E2DD"/>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C66"/>
                </a:solidFill>
                <a:latin typeface="Arial"/>
                <a:ea typeface="Arial"/>
                <a:cs typeface="Arial"/>
              </a:defRPr>
            </a:pPr>
          </a:p>
        </c:txPr>
        <c:crossAx val="48650112"/>
        <c:crossBetween val="between"/>
        <c:majorUnit val="100"/>
      </c:valAx>
      <c:spPr>
        <a:solidFill xmlns:a="http://schemas.openxmlformats.org/drawingml/2006/main">
          <a:srgbClr val="F8FAF7"/>
        </a:solidFill>
      </c:spPr>
    </c:plotArea>
    <c:plotVisOnly val="1"/>
  </c:chart>
  <c:spPr>
    <a:solidFill xmlns:a="http://schemas.openxmlformats.org/drawingml/2006/main">
      <a:srgbClr val="F8FAF7"/>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CV macro F1</c:v>
          </c:tx>
          <c:spPr>
            <a:solidFill xmlns:a="http://schemas.openxmlformats.org/drawingml/2006/main">
              <a:srgbClr val="167B62"/>
            </a:solidFill>
          </c:spPr>
          <c:invertIfNegative val="0"/>
          <c:cat>
            <c:strRef>
              <c:f>'Chart Data'!$A$2:$A$4</c:f>
              <c:strCache>
                <c:ptCount val="3"/>
                <c:pt idx="0">
                  <c:v>Baseline RBF</c:v>
                </c:pt>
                <c:pt idx="1">
                  <c:v>Compact HSV + LBP</c:v>
                </c:pt>
                <c:pt idx="2">
                  <c:v>Extended color + texture</c:v>
                </c:pt>
              </c:strCache>
            </c:strRef>
          </c:cat>
          <c:val>
            <c:numRef>
              <c:f>'Chart Data'!$B$2:$B$4</c:f>
              <c:numCache>
                <c:formatCode>0.0</c:formatCode>
                <c:ptCount val="3"/>
                <c:pt idx="0">
                  <c:v>0.67306331396</c:v>
                </c:pt>
                <c:pt idx="1">
                  <c:v>0.80417394367</c:v>
                </c:pt>
                <c:pt idx="2">
                  <c:v>0.88026293877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725" b="1">
                  <a:solidFill>
                    <a:srgbClr val="163B35"/>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2DD"/>
            </a:solidFill>
          </a:ln>
        </c:spPr>
        <c:txPr>
          <a:bodyPr xmlns:a="http://schemas.openxmlformats.org/drawingml/2006/main" anchorCtr="1"/>
          <a:lstStyle xmlns:a="http://schemas.openxmlformats.org/drawingml/2006/main"/>
          <a:p xmlns:a="http://schemas.openxmlformats.org/drawingml/2006/main">
            <a:pPr>
              <a:defRPr sz="1650">
                <a:solidFill>
                  <a:srgbClr val="163B35"/>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E2DD"/>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C66"/>
                </a:solidFill>
                <a:latin typeface="Arial"/>
                <a:ea typeface="Arial"/>
                <a:cs typeface="Arial"/>
              </a:defRPr>
            </a:pPr>
          </a:p>
        </c:txPr>
        <c:crossAx val="48650112"/>
        <c:crossBetween val="between"/>
        <c:majorUnit val="0.2"/>
      </c:valAx>
      <c:spPr>
        <a:solidFill xmlns:a="http://schemas.openxmlformats.org/drawingml/2006/main">
          <a:srgbClr val="F8FAF7"/>
        </a:solidFill>
      </c:spPr>
    </c:plotArea>
    <c:plotVisOnly val="1"/>
  </c:chart>
  <c:spPr>
    <a:solidFill xmlns:a="http://schemas.openxmlformats.org/drawingml/2006/main">
      <a:srgbClr val="F8FAF7"/>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CV macro F1</c:v>
          </c:tx>
          <c:spPr>
            <a:solidFill xmlns:a="http://schemas.openxmlformats.org/drawingml/2006/main">
              <a:srgbClr val="167B62"/>
            </a:solidFill>
          </c:spPr>
          <c:invertIfNegative val="0"/>
          <c:cat>
            <c:strRef>
              <c:f>'Chart Data'!$A$2:$A$5</c:f>
              <c:strCache>
                <c:ptCount val="4"/>
                <c:pt idx="0">
                  <c:v>HSV</c:v>
                </c:pt>
                <c:pt idx="1">
                  <c:v>Global C + T</c:v>
                </c:pt>
                <c:pt idx="2">
                  <c:v>Global C + spatial T</c:v>
                </c:pt>
                <c:pt idx="3">
                  <c:v>Full spatial C + T</c:v>
                </c:pt>
              </c:strCache>
            </c:strRef>
          </c:cat>
          <c:val>
            <c:numRef>
              <c:f>'Chart Data'!$B$2:$B$5</c:f>
              <c:numCache>
                <c:formatCode>0.0</c:formatCode>
                <c:ptCount val="4"/>
                <c:pt idx="0">
                  <c:v>0.74191543197</c:v>
                </c:pt>
                <c:pt idx="1">
                  <c:v>0.83114272149</c:v>
                </c:pt>
                <c:pt idx="2">
                  <c:v>0.8262814367</c:v>
                </c:pt>
                <c:pt idx="3">
                  <c:v>0.83695517767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725" b="1">
                  <a:solidFill>
                    <a:srgbClr val="163B35"/>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2DD"/>
            </a:solidFill>
          </a:ln>
        </c:spPr>
        <c:txPr>
          <a:bodyPr xmlns:a="http://schemas.openxmlformats.org/drawingml/2006/main" anchorCtr="1"/>
          <a:lstStyle xmlns:a="http://schemas.openxmlformats.org/drawingml/2006/main"/>
          <a:p xmlns:a="http://schemas.openxmlformats.org/drawingml/2006/main">
            <a:pPr>
              <a:defRPr sz="1650">
                <a:solidFill>
                  <a:srgbClr val="163B35"/>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E2DD"/>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C66"/>
                </a:solidFill>
                <a:latin typeface="Arial"/>
                <a:ea typeface="Arial"/>
                <a:cs typeface="Arial"/>
              </a:defRPr>
            </a:pPr>
          </a:p>
        </c:txPr>
        <c:crossAx val="48650112"/>
        <c:crossBetween val="between"/>
        <c:majorUnit val="0.2"/>
      </c:valAx>
      <c:spPr>
        <a:solidFill xmlns:a="http://schemas.openxmlformats.org/drawingml/2006/main">
          <a:srgbClr val="F8FAF7"/>
        </a:solidFill>
      </c:spPr>
    </c:plotArea>
    <c:plotVisOnly val="1"/>
  </c:chart>
  <c:spPr>
    <a:solidFill xmlns:a="http://schemas.openxmlformats.org/drawingml/2006/main">
      <a:srgbClr val="F8FAF7"/>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varyColors val="0"/>
        <c:ser>
          <c:idx val="0"/>
          <c:order val="0"/>
          <c:tx>
            <c:v>Mean confidence</c:v>
          </c:tx>
          <c:spPr>
            <a:ln xmlns:a="http://schemas.openxmlformats.org/drawingml/2006/main" w="28575">
              <a:solidFill>
                <a:srgbClr val="536C66"/>
              </a:solidFill>
            </a:ln>
          </c:spPr>
          <c:marker>
            <c:symbol val="circle"/>
            <c:size val="7"/>
          </c:marker>
          <c:cat>
            <c:strRef>
              <c:f>'Chart Data'!$A$2:$A$8</c:f>
              <c:strCache>
                <c:ptCount val="7"/>
                <c:pt idx="0">
                  <c:v>0.3–0.4</c:v>
                </c:pt>
                <c:pt idx="1">
                  <c:v>0.4–0.5</c:v>
                </c:pt>
                <c:pt idx="2">
                  <c:v>0.5–0.6</c:v>
                </c:pt>
                <c:pt idx="3">
                  <c:v>0.6–0.7</c:v>
                </c:pt>
                <c:pt idx="4">
                  <c:v>0.7–0.8</c:v>
                </c:pt>
                <c:pt idx="5">
                  <c:v>0.8–0.9</c:v>
                </c:pt>
                <c:pt idx="6">
                  <c:v>0.9–1.0</c:v>
                </c:pt>
              </c:strCache>
            </c:strRef>
          </c:cat>
          <c:val>
            <c:numRef>
              <c:f>'Chart Data'!$B$2:$B$8</c:f>
              <c:numCache>
                <c:formatCode>0.0</c:formatCode>
                <c:ptCount val="7"/>
                <c:pt idx="0">
                  <c:v>0.383176</c:v>
                </c:pt>
                <c:pt idx="1">
                  <c:v>0.490773</c:v>
                </c:pt>
                <c:pt idx="2">
                  <c:v>0.55852</c:v>
                </c:pt>
                <c:pt idx="3">
                  <c:v>0.661747</c:v>
                </c:pt>
                <c:pt idx="4">
                  <c:v>0.759962</c:v>
                </c:pt>
                <c:pt idx="5">
                  <c:v>0.838529</c:v>
                </c:pt>
                <c:pt idx="6">
                  <c:v>0.921888</c:v>
                </c:pt>
              </c:numCache>
            </c:numRef>
          </c:val>
        </c:ser>
        <c:ser>
          <c:idx val="1"/>
          <c:order val="1"/>
          <c:tx>
            <c:v>Observed accuracy</c:v>
          </c:tx>
          <c:spPr>
            <a:ln xmlns:a="http://schemas.openxmlformats.org/drawingml/2006/main" w="28575">
              <a:solidFill>
                <a:srgbClr val="167B62"/>
              </a:solidFill>
            </a:ln>
          </c:spPr>
          <c:marker>
            <c:symbol val="circle"/>
            <c:size val="7"/>
          </c:marker>
          <c:cat>
            <c:strRef>
              <c:f>'Chart Data'!$C$2:$C$8</c:f>
              <c:strCache>
                <c:ptCount val="7"/>
                <c:pt idx="0">
                  <c:v>0.3–0.4</c:v>
                </c:pt>
                <c:pt idx="1">
                  <c:v>0.4–0.5</c:v>
                </c:pt>
                <c:pt idx="2">
                  <c:v>0.5–0.6</c:v>
                </c:pt>
                <c:pt idx="3">
                  <c:v>0.6–0.7</c:v>
                </c:pt>
                <c:pt idx="4">
                  <c:v>0.7–0.8</c:v>
                </c:pt>
                <c:pt idx="5">
                  <c:v>0.8–0.9</c:v>
                </c:pt>
                <c:pt idx="6">
                  <c:v>0.9–1.0</c:v>
                </c:pt>
              </c:strCache>
            </c:strRef>
          </c:cat>
          <c:val>
            <c:numRef>
              <c:f>'Chart Data'!$D$2:$D$8</c:f>
              <c:numCache>
                <c:formatCode>0.0</c:formatCode>
                <c:ptCount val="7"/>
                <c:pt idx="0">
                  <c:v>0</c:v>
                </c:pt>
                <c:pt idx="1">
                  <c:v>0.25</c:v>
                </c:pt>
                <c:pt idx="2">
                  <c:v>0.375</c:v>
                </c:pt>
                <c:pt idx="3">
                  <c:v>0.708333</c:v>
                </c:pt>
                <c:pt idx="4">
                  <c:v>0.925532</c:v>
                </c:pt>
                <c:pt idx="5">
                  <c:v>0.963134</c:v>
                </c:pt>
                <c:pt idx="6">
                  <c:v>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E2DD"/>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0.2"/>
      </c:valAx>
      <c:spPr>
        <a:solidFill xmlns:a="http://schemas.openxmlformats.org/drawingml/2006/main">
          <a:srgbClr val="F8FAF7"/>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legend>
    <c:plotVisOnly val="1"/>
  </c:chart>
  <c:spPr>
    <a:solidFill xmlns:a="http://schemas.openxmlformats.org/drawingml/2006/main">
      <a:srgbClr val="F8FAF7"/>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63B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0B8EBAC-0FA7-4D6E-9507-837132D2C092}"/>
              </a:ext>
            </a:extLst>
          </p:cNvPr>
          <p:cNvSpPr>
            <a:spLocks xmlns:a="http://schemas.openxmlformats.org/drawingml/2006/main" noGrp="1"/>
          </p:cNvSpPr>
          <p:nvPr/>
        </p:nvSpPr>
        <p:spPr>
          <a:xfrm xmlns:a="http://schemas.openxmlformats.org/drawingml/2006/main">
            <a:off x="11068050" y="633412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C6E7D9"/>
                </a:solidFill>
                <a:latin typeface="Arial"/>
                <a:ea typeface="Arial"/>
                <a:cs typeface="Arial"/>
              </a:defRPr>
            </a:defPPr>
            <a:lvl1pPr>
              <a:defRPr sz="1350" b="0">
                <a:solidFill>
                  <a:srgbClr val="C6E7D9"/>
                </a:solidFill>
                <a:latin typeface="Arial"/>
                <a:ea typeface="Arial"/>
                <a:cs typeface="Arial"/>
              </a:defRPr>
            </a:lvl1pPr>
            <a:lvl2pPr>
              <a:defRPr sz="1350" b="0">
                <a:solidFill>
                  <a:srgbClr val="C6E7D9"/>
                </a:solidFill>
                <a:latin typeface="Arial"/>
                <a:ea typeface="Arial"/>
                <a:cs typeface="Arial"/>
              </a:defRPr>
            </a:lvl2pPr>
            <a:lvl3pPr>
              <a:defRPr sz="1350" b="0">
                <a:solidFill>
                  <a:srgbClr val="C6E7D9"/>
                </a:solidFill>
                <a:latin typeface="Arial"/>
                <a:ea typeface="Arial"/>
                <a:cs typeface="Arial"/>
              </a:defRPr>
            </a:lvl3pPr>
            <a:lvl4pPr>
              <a:defRPr sz="1350" b="0">
                <a:solidFill>
                  <a:srgbClr val="C6E7D9"/>
                </a:solidFill>
                <a:latin typeface="Arial"/>
                <a:ea typeface="Arial"/>
                <a:cs typeface="Arial"/>
              </a:defRPr>
            </a:lvl4pPr>
            <a:lvl5pPr>
              <a:defRPr sz="1350" b="0">
                <a:solidFill>
                  <a:srgbClr val="C6E7D9"/>
                </a:solidFill>
                <a:latin typeface="Arial"/>
                <a:ea typeface="Arial"/>
                <a:cs typeface="Arial"/>
              </a:defRPr>
            </a:lvl5pPr>
            <a:lvl6pPr>
              <a:defRPr sz="1350" b="0">
                <a:solidFill>
                  <a:srgbClr val="C6E7D9"/>
                </a:solidFill>
                <a:latin typeface="Arial"/>
                <a:ea typeface="Arial"/>
                <a:cs typeface="Arial"/>
              </a:defRPr>
            </a:lvl6pPr>
            <a:lvl7pPr>
              <a:defRPr sz="1350" b="0">
                <a:solidFill>
                  <a:srgbClr val="C6E7D9"/>
                </a:solidFill>
                <a:latin typeface="Arial"/>
                <a:ea typeface="Arial"/>
                <a:cs typeface="Arial"/>
              </a:defRPr>
            </a:lvl7pPr>
            <a:lvl8pPr>
              <a:defRPr sz="1350" b="0">
                <a:solidFill>
                  <a:srgbClr val="C6E7D9"/>
                </a:solidFill>
                <a:latin typeface="Arial"/>
                <a:ea typeface="Arial"/>
                <a:cs typeface="Arial"/>
              </a:defRPr>
            </a:lvl8pPr>
            <a:lvl9pPr>
              <a:defRPr sz="1350" b="0">
                <a:solidFill>
                  <a:srgbClr val="C6E7D9"/>
                </a:solidFill>
                <a:latin typeface="Arial"/>
                <a:ea typeface="Arial"/>
                <a:cs typeface="Arial"/>
              </a:defRPr>
            </a:lvl9pPr>
          </a:lstStyle>
          <a:p xmlns:a="http://schemas.openxmlformats.org/drawingml/2006/main">
            <a:pPr>
              <a:defRPr sz="1350" b="0">
                <a:solidFill>
                  <a:srgbClr val="C6E7D9"/>
                </a:solidFill>
                <a:latin typeface="Arial"/>
                <a:ea typeface="Arial"/>
                <a:cs typeface="Arial"/>
              </a:defRPr>
            </a:pPr>
            <a:r>
              <a:rPr sz="1350" b="0">
                <a:solidFill>
                  <a:srgbClr val="C6E7D9"/>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E2DC3888-FE95-4586-AB91-A940BED22887}"/>
              </a:ext>
            </a:extLst>
          </p:cNvPr>
          <p:cNvSpPr>
            <a:spLocks xmlns:a="http://schemas.openxmlformats.org/drawingml/2006/main" noGrp="1"/>
          </p:cNvSpPr>
          <p:nvPr/>
        </p:nvSpPr>
        <p:spPr>
          <a:xfrm xmlns:a="http://schemas.openxmlformats.org/drawingml/2006/main">
            <a:off x="609600" y="1352550"/>
            <a:ext cx="10572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850" b="1">
                <a:solidFill>
                  <a:srgbClr val="FFFFFF"/>
                </a:solidFill>
                <a:latin typeface="Arial"/>
                <a:ea typeface="Arial"/>
                <a:cs typeface="Arial"/>
              </a:defRPr>
            </a:defPPr>
            <a:lvl1pPr>
              <a:defRPr sz="5850" b="1">
                <a:solidFill>
                  <a:srgbClr val="FFFFFF"/>
                </a:solidFill>
                <a:latin typeface="Arial"/>
                <a:ea typeface="Arial"/>
                <a:cs typeface="Arial"/>
              </a:defRPr>
            </a:lvl1pPr>
            <a:lvl2pPr>
              <a:defRPr sz="5850" b="1">
                <a:solidFill>
                  <a:srgbClr val="FFFFFF"/>
                </a:solidFill>
                <a:latin typeface="Arial"/>
                <a:ea typeface="Arial"/>
                <a:cs typeface="Arial"/>
              </a:defRPr>
            </a:lvl2pPr>
            <a:lvl3pPr>
              <a:defRPr sz="5850" b="1">
                <a:solidFill>
                  <a:srgbClr val="FFFFFF"/>
                </a:solidFill>
                <a:latin typeface="Arial"/>
                <a:ea typeface="Arial"/>
                <a:cs typeface="Arial"/>
              </a:defRPr>
            </a:lvl3pPr>
            <a:lvl4pPr>
              <a:defRPr sz="5850" b="1">
                <a:solidFill>
                  <a:srgbClr val="FFFFFF"/>
                </a:solidFill>
                <a:latin typeface="Arial"/>
                <a:ea typeface="Arial"/>
                <a:cs typeface="Arial"/>
              </a:defRPr>
            </a:lvl4pPr>
            <a:lvl5pPr>
              <a:defRPr sz="5850" b="1">
                <a:solidFill>
                  <a:srgbClr val="FFFFFF"/>
                </a:solidFill>
                <a:latin typeface="Arial"/>
                <a:ea typeface="Arial"/>
                <a:cs typeface="Arial"/>
              </a:defRPr>
            </a:lvl5pPr>
            <a:lvl6pPr>
              <a:defRPr sz="5850" b="1">
                <a:solidFill>
                  <a:srgbClr val="FFFFFF"/>
                </a:solidFill>
                <a:latin typeface="Arial"/>
                <a:ea typeface="Arial"/>
                <a:cs typeface="Arial"/>
              </a:defRPr>
            </a:lvl6pPr>
            <a:lvl7pPr>
              <a:defRPr sz="5850" b="1">
                <a:solidFill>
                  <a:srgbClr val="FFFFFF"/>
                </a:solidFill>
                <a:latin typeface="Arial"/>
                <a:ea typeface="Arial"/>
                <a:cs typeface="Arial"/>
              </a:defRPr>
            </a:lvl7pPr>
            <a:lvl8pPr>
              <a:defRPr sz="5850" b="1">
                <a:solidFill>
                  <a:srgbClr val="FFFFFF"/>
                </a:solidFill>
                <a:latin typeface="Arial"/>
                <a:ea typeface="Arial"/>
                <a:cs typeface="Arial"/>
              </a:defRPr>
            </a:lvl8pPr>
            <a:lvl9pPr>
              <a:defRPr sz="5850" b="1">
                <a:solidFill>
                  <a:srgbClr val="FFFFFF"/>
                </a:solidFill>
                <a:latin typeface="Arial"/>
                <a:ea typeface="Arial"/>
                <a:cs typeface="Arial"/>
              </a:defRPr>
            </a:lvl9pPr>
          </a:lstStyle>
          <a:p xmlns:a="http://schemas.openxmlformats.org/drawingml/2006/main">
            <a:pPr>
              <a:defRPr sz="5850" b="1">
                <a:solidFill>
                  <a:srgbClr val="FFFFFF"/>
                </a:solidFill>
                <a:latin typeface="Arial"/>
                <a:ea typeface="Arial"/>
                <a:cs typeface="Arial"/>
              </a:defRPr>
            </a:pPr>
            <a:r>
              <a:rPr sz="5850" b="1">
                <a:solidFill>
                  <a:srgbClr val="FFFFFF"/>
                </a:solidFill>
                <a:latin typeface="Arial"/>
                <a:ea typeface="Arial"/>
                <a:cs typeface="Arial"/>
              </a:rPr>
              <a:t>Smart Waste</a:t>
            </a:r>
          </a:p>
          <a:p xmlns:a="http://schemas.openxmlformats.org/drawingml/2006/main">
            <a:pPr>
              <a:defRPr sz="5850" b="1">
                <a:solidFill>
                  <a:srgbClr val="FFFFFF"/>
                </a:solidFill>
                <a:latin typeface="Arial"/>
                <a:ea typeface="Arial"/>
                <a:cs typeface="Arial"/>
              </a:defRPr>
            </a:pPr>
            <a:r>
              <a:rPr sz="5850" b="1">
                <a:solidFill>
                  <a:srgbClr val="FFFFFF"/>
                </a:solidFill>
                <a:latin typeface="Arial"/>
                <a:ea typeface="Arial"/>
                <a:cs typeface="Arial"/>
              </a:rPr>
              <a:t>Segregation</a:t>
            </a:r>
          </a:p>
        </p:txBody>
      </p:sp>
      <p:sp>
        <p:nvSpPr>
          <p:cNvPr id="3" name="">
            <a:extLst xmlns:a="http://schemas.openxmlformats.org/drawingml/2006/main">
              <a:ext uri="{FF2B5EF4-FFF2-40B4-BE49-F238E27FC236}">
                <a16:creationId xmlns:a16="http://schemas.microsoft.com/office/drawing/2014/main" id="{1B3255CA-B75F-418C-9B50-EC115B502B42}"/>
              </a:ext>
            </a:extLst>
          </p:cNvPr>
          <p:cNvSpPr>
            <a:spLocks xmlns:a="http://schemas.openxmlformats.org/drawingml/2006/main" noGrp="1"/>
          </p:cNvSpPr>
          <p:nvPr/>
        </p:nvSpPr>
        <p:spPr>
          <a:xfrm xmlns:a="http://schemas.openxmlformats.org/drawingml/2006/main">
            <a:off x="647700" y="3676650"/>
            <a:ext cx="1038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0">
                <a:solidFill>
                  <a:srgbClr val="C6E7D9"/>
                </a:solidFill>
                <a:latin typeface="Arial"/>
                <a:ea typeface="Arial"/>
                <a:cs typeface="Arial"/>
              </a:defRPr>
            </a:defPPr>
            <a:lvl1pPr>
              <a:defRPr sz="2400" b="0">
                <a:solidFill>
                  <a:srgbClr val="C6E7D9"/>
                </a:solidFill>
                <a:latin typeface="Arial"/>
                <a:ea typeface="Arial"/>
                <a:cs typeface="Arial"/>
              </a:defRPr>
            </a:lvl1pPr>
            <a:lvl2pPr>
              <a:defRPr sz="2400" b="0">
                <a:solidFill>
                  <a:srgbClr val="C6E7D9"/>
                </a:solidFill>
                <a:latin typeface="Arial"/>
                <a:ea typeface="Arial"/>
                <a:cs typeface="Arial"/>
              </a:defRPr>
            </a:lvl2pPr>
            <a:lvl3pPr>
              <a:defRPr sz="2400" b="0">
                <a:solidFill>
                  <a:srgbClr val="C6E7D9"/>
                </a:solidFill>
                <a:latin typeface="Arial"/>
                <a:ea typeface="Arial"/>
                <a:cs typeface="Arial"/>
              </a:defRPr>
            </a:lvl3pPr>
            <a:lvl4pPr>
              <a:defRPr sz="2400" b="0">
                <a:solidFill>
                  <a:srgbClr val="C6E7D9"/>
                </a:solidFill>
                <a:latin typeface="Arial"/>
                <a:ea typeface="Arial"/>
                <a:cs typeface="Arial"/>
              </a:defRPr>
            </a:lvl4pPr>
            <a:lvl5pPr>
              <a:defRPr sz="2400" b="0">
                <a:solidFill>
                  <a:srgbClr val="C6E7D9"/>
                </a:solidFill>
                <a:latin typeface="Arial"/>
                <a:ea typeface="Arial"/>
                <a:cs typeface="Arial"/>
              </a:defRPr>
            </a:lvl5pPr>
            <a:lvl6pPr>
              <a:defRPr sz="2400" b="0">
                <a:solidFill>
                  <a:srgbClr val="C6E7D9"/>
                </a:solidFill>
                <a:latin typeface="Arial"/>
                <a:ea typeface="Arial"/>
                <a:cs typeface="Arial"/>
              </a:defRPr>
            </a:lvl6pPr>
            <a:lvl7pPr>
              <a:defRPr sz="2400" b="0">
                <a:solidFill>
                  <a:srgbClr val="C6E7D9"/>
                </a:solidFill>
                <a:latin typeface="Arial"/>
                <a:ea typeface="Arial"/>
                <a:cs typeface="Arial"/>
              </a:defRPr>
            </a:lvl7pPr>
            <a:lvl8pPr>
              <a:defRPr sz="2400" b="0">
                <a:solidFill>
                  <a:srgbClr val="C6E7D9"/>
                </a:solidFill>
                <a:latin typeface="Arial"/>
                <a:ea typeface="Arial"/>
                <a:cs typeface="Arial"/>
              </a:defRPr>
            </a:lvl8pPr>
            <a:lvl9pPr>
              <a:defRPr sz="2400" b="0">
                <a:solidFill>
                  <a:srgbClr val="C6E7D9"/>
                </a:solidFill>
                <a:latin typeface="Arial"/>
                <a:ea typeface="Arial"/>
                <a:cs typeface="Arial"/>
              </a:defRPr>
            </a:lvl9pPr>
          </a:lstStyle>
          <a:p xmlns:a="http://schemas.openxmlformats.org/drawingml/2006/main">
            <a:pPr>
              <a:defRPr sz="2400" b="0">
                <a:solidFill>
                  <a:srgbClr val="C6E7D9"/>
                </a:solidFill>
                <a:latin typeface="Arial"/>
                <a:ea typeface="Arial"/>
                <a:cs typeface="Arial"/>
              </a:defRPr>
            </a:pPr>
            <a:r>
              <a:rPr sz="2400" b="0">
                <a:solidFill>
                  <a:srgbClr val="C6E7D9"/>
                </a:solidFill>
                <a:latin typeface="Arial"/>
                <a:ea typeface="Arial"/>
                <a:cs typeface="Arial"/>
              </a:rPr>
              <a:t>Handcrafted features and calibrated classical classification</a:t>
            </a:r>
          </a:p>
        </p:txBody>
      </p:sp>
      <p:sp>
        <p:nvSpPr>
          <p:cNvPr id="4" name="">
            <a:extLst xmlns:a="http://schemas.openxmlformats.org/drawingml/2006/main">
              <a:ext uri="{FF2B5EF4-FFF2-40B4-BE49-F238E27FC236}">
                <a16:creationId xmlns:a16="http://schemas.microsoft.com/office/drawing/2014/main" id="{69DB391A-6688-436E-A456-7B56E001F57B}"/>
              </a:ext>
            </a:extLst>
          </p:cNvPr>
          <p:cNvSpPr>
            <a:spLocks xmlns:a="http://schemas.openxmlformats.org/drawingml/2006/main" noGrp="1"/>
          </p:cNvSpPr>
          <p:nvPr/>
        </p:nvSpPr>
        <p:spPr>
          <a:xfrm xmlns:a="http://schemas.openxmlformats.org/drawingml/2006/main">
            <a:off x="647700" y="704850"/>
            <a:ext cx="952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C6E7D9"/>
                </a:solidFill>
                <a:latin typeface="Arial"/>
                <a:ea typeface="Arial"/>
                <a:cs typeface="Arial"/>
              </a:defRPr>
            </a:defPPr>
            <a:lvl1pPr>
              <a:defRPr sz="1800" b="0">
                <a:solidFill>
                  <a:srgbClr val="C6E7D9"/>
                </a:solidFill>
                <a:latin typeface="Arial"/>
                <a:ea typeface="Arial"/>
                <a:cs typeface="Arial"/>
              </a:defRPr>
            </a:lvl1pPr>
            <a:lvl2pPr>
              <a:defRPr sz="1800" b="0">
                <a:solidFill>
                  <a:srgbClr val="C6E7D9"/>
                </a:solidFill>
                <a:latin typeface="Arial"/>
                <a:ea typeface="Arial"/>
                <a:cs typeface="Arial"/>
              </a:defRPr>
            </a:lvl2pPr>
            <a:lvl3pPr>
              <a:defRPr sz="1800" b="0">
                <a:solidFill>
                  <a:srgbClr val="C6E7D9"/>
                </a:solidFill>
                <a:latin typeface="Arial"/>
                <a:ea typeface="Arial"/>
                <a:cs typeface="Arial"/>
              </a:defRPr>
            </a:lvl3pPr>
            <a:lvl4pPr>
              <a:defRPr sz="1800" b="0">
                <a:solidFill>
                  <a:srgbClr val="C6E7D9"/>
                </a:solidFill>
                <a:latin typeface="Arial"/>
                <a:ea typeface="Arial"/>
                <a:cs typeface="Arial"/>
              </a:defRPr>
            </a:lvl4pPr>
            <a:lvl5pPr>
              <a:defRPr sz="1800" b="0">
                <a:solidFill>
                  <a:srgbClr val="C6E7D9"/>
                </a:solidFill>
                <a:latin typeface="Arial"/>
                <a:ea typeface="Arial"/>
                <a:cs typeface="Arial"/>
              </a:defRPr>
            </a:lvl5pPr>
            <a:lvl6pPr>
              <a:defRPr sz="1800" b="0">
                <a:solidFill>
                  <a:srgbClr val="C6E7D9"/>
                </a:solidFill>
                <a:latin typeface="Arial"/>
                <a:ea typeface="Arial"/>
                <a:cs typeface="Arial"/>
              </a:defRPr>
            </a:lvl6pPr>
            <a:lvl7pPr>
              <a:defRPr sz="1800" b="0">
                <a:solidFill>
                  <a:srgbClr val="C6E7D9"/>
                </a:solidFill>
                <a:latin typeface="Arial"/>
                <a:ea typeface="Arial"/>
                <a:cs typeface="Arial"/>
              </a:defRPr>
            </a:lvl7pPr>
            <a:lvl8pPr>
              <a:defRPr sz="1800" b="0">
                <a:solidFill>
                  <a:srgbClr val="C6E7D9"/>
                </a:solidFill>
                <a:latin typeface="Arial"/>
                <a:ea typeface="Arial"/>
                <a:cs typeface="Arial"/>
              </a:defRPr>
            </a:lvl8pPr>
            <a:lvl9pPr>
              <a:defRPr sz="1800" b="0">
                <a:solidFill>
                  <a:srgbClr val="C6E7D9"/>
                </a:solidFill>
                <a:latin typeface="Arial"/>
                <a:ea typeface="Arial"/>
                <a:cs typeface="Arial"/>
              </a:defRPr>
            </a:lvl9pPr>
          </a:lstStyle>
          <a:p xmlns:a="http://schemas.openxmlformats.org/drawingml/2006/main">
            <a:pPr>
              <a:defRPr sz="1800" b="0">
                <a:solidFill>
                  <a:srgbClr val="C6E7D9"/>
                </a:solidFill>
                <a:latin typeface="Arial"/>
                <a:ea typeface="Arial"/>
                <a:cs typeface="Arial"/>
              </a:defRPr>
            </a:pPr>
            <a:r>
              <a:rPr sz="1800" b="0">
                <a:solidFill>
                  <a:srgbClr val="C6E7D9"/>
                </a:solidFill>
                <a:latin typeface="Arial"/>
                <a:ea typeface="Arial"/>
                <a:cs typeface="Arial"/>
              </a:rPr>
              <a:t>Project 12 / Phase 1</a:t>
            </a:r>
          </a:p>
        </p:txBody>
      </p:sp>
      <p:sp>
        <p:nvSpPr>
          <p:cNvPr id="5" name="">
            <a:extLst xmlns:a="http://schemas.openxmlformats.org/drawingml/2006/main">
              <a:ext uri="{FF2B5EF4-FFF2-40B4-BE49-F238E27FC236}">
                <a16:creationId xmlns:a16="http://schemas.microsoft.com/office/drawing/2014/main" id="{0EA2EE6E-427D-402B-9B0D-840CB550514D}"/>
              </a:ext>
            </a:extLst>
          </p:cNvPr>
          <p:cNvSpPr>
            <a:spLocks xmlns:a="http://schemas.openxmlformats.org/drawingml/2006/main" noGrp="1"/>
          </p:cNvSpPr>
          <p:nvPr/>
        </p:nvSpPr>
        <p:spPr>
          <a:xfrm xmlns:a="http://schemas.openxmlformats.org/drawingml/2006/main">
            <a:off x="647700" y="5219700"/>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FFFFF"/>
                </a:solidFill>
                <a:latin typeface="Arial"/>
                <a:ea typeface="Arial"/>
                <a:cs typeface="Arial"/>
              </a:defRPr>
            </a:defPPr>
            <a:lvl1pPr>
              <a:defRPr sz="1875" b="0">
                <a:solidFill>
                  <a:srgbClr val="FFFFFF"/>
                </a:solidFill>
                <a:latin typeface="Arial"/>
                <a:ea typeface="Arial"/>
                <a:cs typeface="Arial"/>
              </a:defRPr>
            </a:lvl1pPr>
            <a:lvl2pPr>
              <a:defRPr sz="1875" b="0">
                <a:solidFill>
                  <a:srgbClr val="FFFFFF"/>
                </a:solidFill>
                <a:latin typeface="Arial"/>
                <a:ea typeface="Arial"/>
                <a:cs typeface="Arial"/>
              </a:defRPr>
            </a:lvl2pPr>
            <a:lvl3pPr>
              <a:defRPr sz="1875" b="0">
                <a:solidFill>
                  <a:srgbClr val="FFFFFF"/>
                </a:solidFill>
                <a:latin typeface="Arial"/>
                <a:ea typeface="Arial"/>
                <a:cs typeface="Arial"/>
              </a:defRPr>
            </a:lvl3pPr>
            <a:lvl4pPr>
              <a:defRPr sz="1875" b="0">
                <a:solidFill>
                  <a:srgbClr val="FFFFFF"/>
                </a:solidFill>
                <a:latin typeface="Arial"/>
                <a:ea typeface="Arial"/>
                <a:cs typeface="Arial"/>
              </a:defRPr>
            </a:lvl4pPr>
            <a:lvl5pPr>
              <a:defRPr sz="1875" b="0">
                <a:solidFill>
                  <a:srgbClr val="FFFFFF"/>
                </a:solidFill>
                <a:latin typeface="Arial"/>
                <a:ea typeface="Arial"/>
                <a:cs typeface="Arial"/>
              </a:defRPr>
            </a:lvl5pPr>
            <a:lvl6pPr>
              <a:defRPr sz="1875" b="0">
                <a:solidFill>
                  <a:srgbClr val="FFFFFF"/>
                </a:solidFill>
                <a:latin typeface="Arial"/>
                <a:ea typeface="Arial"/>
                <a:cs typeface="Arial"/>
              </a:defRPr>
            </a:lvl6pPr>
            <a:lvl7pPr>
              <a:defRPr sz="1875" b="0">
                <a:solidFill>
                  <a:srgbClr val="FFFFFF"/>
                </a:solidFill>
                <a:latin typeface="Arial"/>
                <a:ea typeface="Arial"/>
                <a:cs typeface="Arial"/>
              </a:defRPr>
            </a:lvl7pPr>
            <a:lvl8pPr>
              <a:defRPr sz="1875" b="0">
                <a:solidFill>
                  <a:srgbClr val="FFFFFF"/>
                </a:solidFill>
                <a:latin typeface="Arial"/>
                <a:ea typeface="Arial"/>
                <a:cs typeface="Arial"/>
              </a:defRPr>
            </a:lvl8pPr>
            <a:lvl9pPr>
              <a:defRPr sz="1875" b="0">
                <a:solidFill>
                  <a:srgbClr val="FFFFFF"/>
                </a:solidFill>
                <a:latin typeface="Arial"/>
                <a:ea typeface="Arial"/>
                <a:cs typeface="Arial"/>
              </a:defRPr>
            </a:lvl9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Om Yadav, Aditya Bharadwaj, Shourya Bafna</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Daksh Batra, Prajjwal Tripathi, Saksham Mighlani</a:t>
            </a:r>
          </a:p>
        </p:txBody>
      </p:sp>
    </p:spTree>
    <p:extLst>
      <p:ext uri="{BB962C8B-B14F-4D97-AF65-F5344CB8AC3E}">
        <p14:creationId xmlns:p14="http://schemas.microsoft.com/office/powerpoint/2010/main" val="1285266973"/>
      </p:ext>
    </p:extLst>
  </p:cSld>
</p:sld>
</file>

<file path=ppt/slides/slide2.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57EE2DA-D442-4E59-8A67-22311AE639C9}"/>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63B35"/>
                </a:solidFill>
                <a:latin typeface="Arial"/>
                <a:ea typeface="Arial"/>
                <a:cs typeface="Arial"/>
              </a:defRPr>
            </a:defPPr>
            <a:lvl1pPr>
              <a:defRPr sz="3300" b="1">
                <a:solidFill>
                  <a:srgbClr val="163B35"/>
                </a:solidFill>
                <a:latin typeface="Arial"/>
                <a:ea typeface="Arial"/>
                <a:cs typeface="Arial"/>
              </a:defRPr>
            </a:lvl1pPr>
            <a:lvl2pPr>
              <a:defRPr sz="3300" b="1">
                <a:solidFill>
                  <a:srgbClr val="163B35"/>
                </a:solidFill>
                <a:latin typeface="Arial"/>
                <a:ea typeface="Arial"/>
                <a:cs typeface="Arial"/>
              </a:defRPr>
            </a:lvl2pPr>
            <a:lvl3pPr>
              <a:defRPr sz="3300" b="1">
                <a:solidFill>
                  <a:srgbClr val="163B35"/>
                </a:solidFill>
                <a:latin typeface="Arial"/>
                <a:ea typeface="Arial"/>
                <a:cs typeface="Arial"/>
              </a:defRPr>
            </a:lvl3pPr>
            <a:lvl4pPr>
              <a:defRPr sz="3300" b="1">
                <a:solidFill>
                  <a:srgbClr val="163B35"/>
                </a:solidFill>
                <a:latin typeface="Arial"/>
                <a:ea typeface="Arial"/>
                <a:cs typeface="Arial"/>
              </a:defRPr>
            </a:lvl4pPr>
            <a:lvl5pPr>
              <a:defRPr sz="3300" b="1">
                <a:solidFill>
                  <a:srgbClr val="163B35"/>
                </a:solidFill>
                <a:latin typeface="Arial"/>
                <a:ea typeface="Arial"/>
                <a:cs typeface="Arial"/>
              </a:defRPr>
            </a:lvl5pPr>
            <a:lvl6pPr>
              <a:defRPr sz="3300" b="1">
                <a:solidFill>
                  <a:srgbClr val="163B35"/>
                </a:solidFill>
                <a:latin typeface="Arial"/>
                <a:ea typeface="Arial"/>
                <a:cs typeface="Arial"/>
              </a:defRPr>
            </a:lvl6pPr>
            <a:lvl7pPr>
              <a:defRPr sz="3300" b="1">
                <a:solidFill>
                  <a:srgbClr val="163B35"/>
                </a:solidFill>
                <a:latin typeface="Arial"/>
                <a:ea typeface="Arial"/>
                <a:cs typeface="Arial"/>
              </a:defRPr>
            </a:lvl7pPr>
            <a:lvl8pPr>
              <a:defRPr sz="3300" b="1">
                <a:solidFill>
                  <a:srgbClr val="163B35"/>
                </a:solidFill>
                <a:latin typeface="Arial"/>
                <a:ea typeface="Arial"/>
                <a:cs typeface="Arial"/>
              </a:defRPr>
            </a:lvl8pPr>
            <a:lvl9pPr>
              <a:defRPr sz="3300" b="1">
                <a:solidFill>
                  <a:srgbClr val="163B35"/>
                </a:solidFill>
                <a:latin typeface="Arial"/>
                <a:ea typeface="Arial"/>
                <a:cs typeface="Arial"/>
              </a:defRPr>
            </a:lvl9pPr>
          </a:lstStyle>
          <a:p xmlns:a="http://schemas.openxmlformats.org/drawingml/2006/main">
            <a:pPr>
              <a:defRPr sz="3300" b="1">
                <a:solidFill>
                  <a:srgbClr val="163B35"/>
                </a:solidFill>
                <a:latin typeface="Arial"/>
                <a:ea typeface="Arial"/>
                <a:cs typeface="Arial"/>
              </a:defRPr>
            </a:pPr>
            <a:r>
              <a:rPr sz="3300" b="1">
                <a:solidFill>
                  <a:srgbClr val="163B35"/>
                </a:solidFill>
                <a:latin typeface="Arial"/>
                <a:ea typeface="Arial"/>
                <a:cs typeface="Arial"/>
              </a:rPr>
              <a:t>A material suggestion from a photograph</a:t>
            </a:r>
          </a:p>
        </p:txBody>
      </p:sp>
      <p:sp>
        <p:nvSpPr>
          <p:cNvPr id="2" name="">
            <a:extLst xmlns:a="http://schemas.openxmlformats.org/drawingml/2006/main">
              <a:ext uri="{FF2B5EF4-FFF2-40B4-BE49-F238E27FC236}">
                <a16:creationId xmlns:a16="http://schemas.microsoft.com/office/drawing/2014/main" id="{8D403CB9-4410-4A57-948E-4BAF5DE05967}"/>
              </a:ext>
            </a:extLst>
          </p:cNvPr>
          <p:cNvSpPr>
            <a:spLocks xmlns:a="http://schemas.openxmlformats.org/drawingml/2006/main" noGrp="1"/>
          </p:cNvSpPr>
          <p:nvPr/>
        </p:nvSpPr>
        <p:spPr>
          <a:xfrm xmlns:a="http://schemas.openxmlformats.org/drawingml/2006/main">
            <a:off x="11068050" y="633412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36C66"/>
                </a:solidFill>
                <a:latin typeface="Arial"/>
                <a:ea typeface="Arial"/>
                <a:cs typeface="Arial"/>
              </a:defRPr>
            </a:defPPr>
            <a:lvl1pPr>
              <a:defRPr sz="1350" b="0">
                <a:solidFill>
                  <a:srgbClr val="536C66"/>
                </a:solidFill>
                <a:latin typeface="Arial"/>
                <a:ea typeface="Arial"/>
                <a:cs typeface="Arial"/>
              </a:defRPr>
            </a:lvl1pPr>
            <a:lvl2pPr>
              <a:defRPr sz="1350" b="0">
                <a:solidFill>
                  <a:srgbClr val="536C66"/>
                </a:solidFill>
                <a:latin typeface="Arial"/>
                <a:ea typeface="Arial"/>
                <a:cs typeface="Arial"/>
              </a:defRPr>
            </a:lvl2pPr>
            <a:lvl3pPr>
              <a:defRPr sz="1350" b="0">
                <a:solidFill>
                  <a:srgbClr val="536C66"/>
                </a:solidFill>
                <a:latin typeface="Arial"/>
                <a:ea typeface="Arial"/>
                <a:cs typeface="Arial"/>
              </a:defRPr>
            </a:lvl3pPr>
            <a:lvl4pPr>
              <a:defRPr sz="1350" b="0">
                <a:solidFill>
                  <a:srgbClr val="536C66"/>
                </a:solidFill>
                <a:latin typeface="Arial"/>
                <a:ea typeface="Arial"/>
                <a:cs typeface="Arial"/>
              </a:defRPr>
            </a:lvl4pPr>
            <a:lvl5pPr>
              <a:defRPr sz="1350" b="0">
                <a:solidFill>
                  <a:srgbClr val="536C66"/>
                </a:solidFill>
                <a:latin typeface="Arial"/>
                <a:ea typeface="Arial"/>
                <a:cs typeface="Arial"/>
              </a:defRPr>
            </a:lvl5pPr>
            <a:lvl6pPr>
              <a:defRPr sz="1350" b="0">
                <a:solidFill>
                  <a:srgbClr val="536C66"/>
                </a:solidFill>
                <a:latin typeface="Arial"/>
                <a:ea typeface="Arial"/>
                <a:cs typeface="Arial"/>
              </a:defRPr>
            </a:lvl6pPr>
            <a:lvl7pPr>
              <a:defRPr sz="1350" b="0">
                <a:solidFill>
                  <a:srgbClr val="536C66"/>
                </a:solidFill>
                <a:latin typeface="Arial"/>
                <a:ea typeface="Arial"/>
                <a:cs typeface="Arial"/>
              </a:defRPr>
            </a:lvl7pPr>
            <a:lvl8pPr>
              <a:defRPr sz="1350" b="0">
                <a:solidFill>
                  <a:srgbClr val="536C66"/>
                </a:solidFill>
                <a:latin typeface="Arial"/>
                <a:ea typeface="Arial"/>
                <a:cs typeface="Arial"/>
              </a:defRPr>
            </a:lvl8pPr>
            <a:lvl9pPr>
              <a:defRPr sz="1350" b="0">
                <a:solidFill>
                  <a:srgbClr val="536C66"/>
                </a:solidFill>
                <a:latin typeface="Arial"/>
                <a:ea typeface="Arial"/>
                <a:cs typeface="Arial"/>
              </a:defRPr>
            </a:lvl9pPr>
          </a:lstStyle>
          <a:p xmlns:a="http://schemas.openxmlformats.org/drawingml/2006/main">
            <a:pPr>
              <a:defRPr sz="1350" b="0">
                <a:solidFill>
                  <a:srgbClr val="536C66"/>
                </a:solidFill>
                <a:latin typeface="Arial"/>
                <a:ea typeface="Arial"/>
                <a:cs typeface="Arial"/>
              </a:defRPr>
            </a:pPr>
            <a:r>
              <a:rPr sz="1350" b="0">
                <a:solidFill>
                  <a:srgbClr val="536C66"/>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30FE2BA9-FE7B-4F62-9E6B-ACDCE9C7A2DA}"/>
              </a:ext>
            </a:extLst>
          </p:cNvPr>
          <p:cNvSpPr>
            <a:spLocks xmlns:a="http://schemas.openxmlformats.org/drawingml/2006/main" noGrp="1"/>
          </p:cNvSpPr>
          <p:nvPr/>
        </p:nvSpPr>
        <p:spPr>
          <a:xfrm xmlns:a="http://schemas.openxmlformats.org/drawingml/2006/main">
            <a:off x="609600" y="1885950"/>
            <a:ext cx="1066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167B62"/>
                </a:solidFill>
                <a:latin typeface="Arial"/>
                <a:ea typeface="Arial"/>
                <a:cs typeface="Arial"/>
              </a:defRPr>
            </a:defPPr>
            <a:lvl1pPr>
              <a:defRPr sz="3600" b="1">
                <a:solidFill>
                  <a:srgbClr val="167B62"/>
                </a:solidFill>
                <a:latin typeface="Arial"/>
                <a:ea typeface="Arial"/>
                <a:cs typeface="Arial"/>
              </a:defRPr>
            </a:lvl1pPr>
            <a:lvl2pPr>
              <a:defRPr sz="3600" b="1">
                <a:solidFill>
                  <a:srgbClr val="167B62"/>
                </a:solidFill>
                <a:latin typeface="Arial"/>
                <a:ea typeface="Arial"/>
                <a:cs typeface="Arial"/>
              </a:defRPr>
            </a:lvl2pPr>
            <a:lvl3pPr>
              <a:defRPr sz="3600" b="1">
                <a:solidFill>
                  <a:srgbClr val="167B62"/>
                </a:solidFill>
                <a:latin typeface="Arial"/>
                <a:ea typeface="Arial"/>
                <a:cs typeface="Arial"/>
              </a:defRPr>
            </a:lvl3pPr>
            <a:lvl4pPr>
              <a:defRPr sz="3600" b="1">
                <a:solidFill>
                  <a:srgbClr val="167B62"/>
                </a:solidFill>
                <a:latin typeface="Arial"/>
                <a:ea typeface="Arial"/>
                <a:cs typeface="Arial"/>
              </a:defRPr>
            </a:lvl4pPr>
            <a:lvl5pPr>
              <a:defRPr sz="3600" b="1">
                <a:solidFill>
                  <a:srgbClr val="167B62"/>
                </a:solidFill>
                <a:latin typeface="Arial"/>
                <a:ea typeface="Arial"/>
                <a:cs typeface="Arial"/>
              </a:defRPr>
            </a:lvl5pPr>
            <a:lvl6pPr>
              <a:defRPr sz="3600" b="1">
                <a:solidFill>
                  <a:srgbClr val="167B62"/>
                </a:solidFill>
                <a:latin typeface="Arial"/>
                <a:ea typeface="Arial"/>
                <a:cs typeface="Arial"/>
              </a:defRPr>
            </a:lvl6pPr>
            <a:lvl7pPr>
              <a:defRPr sz="3600" b="1">
                <a:solidFill>
                  <a:srgbClr val="167B62"/>
                </a:solidFill>
                <a:latin typeface="Arial"/>
                <a:ea typeface="Arial"/>
                <a:cs typeface="Arial"/>
              </a:defRPr>
            </a:lvl7pPr>
            <a:lvl8pPr>
              <a:defRPr sz="3600" b="1">
                <a:solidFill>
                  <a:srgbClr val="167B62"/>
                </a:solidFill>
                <a:latin typeface="Arial"/>
                <a:ea typeface="Arial"/>
                <a:cs typeface="Arial"/>
              </a:defRPr>
            </a:lvl8pPr>
            <a:lvl9pPr>
              <a:defRPr sz="3600" b="1">
                <a:solidFill>
                  <a:srgbClr val="167B62"/>
                </a:solidFill>
                <a:latin typeface="Arial"/>
                <a:ea typeface="Arial"/>
                <a:cs typeface="Arial"/>
              </a:defRPr>
            </a:lvl9pPr>
          </a:lstStyle>
          <a:p xmlns:a="http://schemas.openxmlformats.org/drawingml/2006/main">
            <a:pPr>
              <a:defRPr sz="3600" b="1">
                <a:solidFill>
                  <a:srgbClr val="167B62"/>
                </a:solidFill>
                <a:latin typeface="Arial"/>
                <a:ea typeface="Arial"/>
                <a:cs typeface="Arial"/>
              </a:defRPr>
            </a:pPr>
            <a:r>
              <a:rPr sz="3600" b="1">
                <a:solidFill>
                  <a:srgbClr val="167B62"/>
                </a:solidFill>
                <a:latin typeface="Arial"/>
                <a:ea typeface="Arial"/>
                <a:cs typeface="Arial"/>
              </a:rPr>
              <a:t>Cardboard   Glass   Metal</a:t>
            </a:r>
          </a:p>
          <a:p xmlns:a="http://schemas.openxmlformats.org/drawingml/2006/main">
            <a:pPr>
              <a:defRPr sz="3600" b="1">
                <a:solidFill>
                  <a:srgbClr val="167B62"/>
                </a:solidFill>
                <a:latin typeface="Arial"/>
                <a:ea typeface="Arial"/>
                <a:cs typeface="Arial"/>
              </a:defRPr>
            </a:pPr>
            <a:r>
              <a:rPr sz="3600" b="1">
                <a:solidFill>
                  <a:srgbClr val="167B62"/>
                </a:solidFill>
                <a:latin typeface="Arial"/>
                <a:ea typeface="Arial"/>
                <a:cs typeface="Arial"/>
              </a:rPr>
              <a:t>Paper   Plastic   Trash</a:t>
            </a:r>
          </a:p>
        </p:txBody>
      </p:sp>
      <p:sp>
        <p:nvSpPr>
          <p:cNvPr id="4" name="">
            <a:extLst xmlns:a="http://schemas.openxmlformats.org/drawingml/2006/main">
              <a:ext uri="{FF2B5EF4-FFF2-40B4-BE49-F238E27FC236}">
                <a16:creationId xmlns:a16="http://schemas.microsoft.com/office/drawing/2014/main" id="{4B49D69F-D289-4C8A-B19A-70EDD38C900F}"/>
              </a:ext>
            </a:extLst>
          </p:cNvPr>
          <p:cNvSpPr>
            <a:spLocks xmlns:a="http://schemas.openxmlformats.org/drawingml/2006/main" noGrp="1"/>
          </p:cNvSpPr>
          <p:nvPr/>
        </p:nvSpPr>
        <p:spPr>
          <a:xfrm xmlns:a="http://schemas.openxmlformats.org/drawingml/2006/main">
            <a:off x="609600" y="37623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63B35"/>
                </a:solidFill>
                <a:latin typeface="Arial"/>
                <a:ea typeface="Arial"/>
                <a:cs typeface="Arial"/>
              </a:defRPr>
            </a:defPPr>
            <a:lvl1pPr>
              <a:defRPr sz="2250" b="0">
                <a:solidFill>
                  <a:srgbClr val="163B35"/>
                </a:solidFill>
                <a:latin typeface="Arial"/>
                <a:ea typeface="Arial"/>
                <a:cs typeface="Arial"/>
              </a:defRPr>
            </a:lvl1pPr>
            <a:lvl2pPr>
              <a:defRPr sz="2250" b="0">
                <a:solidFill>
                  <a:srgbClr val="163B35"/>
                </a:solidFill>
                <a:latin typeface="Arial"/>
                <a:ea typeface="Arial"/>
                <a:cs typeface="Arial"/>
              </a:defRPr>
            </a:lvl2pPr>
            <a:lvl3pPr>
              <a:defRPr sz="2250" b="0">
                <a:solidFill>
                  <a:srgbClr val="163B35"/>
                </a:solidFill>
                <a:latin typeface="Arial"/>
                <a:ea typeface="Arial"/>
                <a:cs typeface="Arial"/>
              </a:defRPr>
            </a:lvl3pPr>
            <a:lvl4pPr>
              <a:defRPr sz="2250" b="0">
                <a:solidFill>
                  <a:srgbClr val="163B35"/>
                </a:solidFill>
                <a:latin typeface="Arial"/>
                <a:ea typeface="Arial"/>
                <a:cs typeface="Arial"/>
              </a:defRPr>
            </a:lvl4pPr>
            <a:lvl5pPr>
              <a:defRPr sz="2250" b="0">
                <a:solidFill>
                  <a:srgbClr val="163B35"/>
                </a:solidFill>
                <a:latin typeface="Arial"/>
                <a:ea typeface="Arial"/>
                <a:cs typeface="Arial"/>
              </a:defRPr>
            </a:lvl5pPr>
            <a:lvl6pPr>
              <a:defRPr sz="2250" b="0">
                <a:solidFill>
                  <a:srgbClr val="163B35"/>
                </a:solidFill>
                <a:latin typeface="Arial"/>
                <a:ea typeface="Arial"/>
                <a:cs typeface="Arial"/>
              </a:defRPr>
            </a:lvl6pPr>
            <a:lvl7pPr>
              <a:defRPr sz="2250" b="0">
                <a:solidFill>
                  <a:srgbClr val="163B35"/>
                </a:solidFill>
                <a:latin typeface="Arial"/>
                <a:ea typeface="Arial"/>
                <a:cs typeface="Arial"/>
              </a:defRPr>
            </a:lvl7pPr>
            <a:lvl8pPr>
              <a:defRPr sz="2250" b="0">
                <a:solidFill>
                  <a:srgbClr val="163B35"/>
                </a:solidFill>
                <a:latin typeface="Arial"/>
                <a:ea typeface="Arial"/>
                <a:cs typeface="Arial"/>
              </a:defRPr>
            </a:lvl8pPr>
            <a:lvl9pPr>
              <a:defRPr sz="2250" b="0">
                <a:solidFill>
                  <a:srgbClr val="163B35"/>
                </a:solidFill>
                <a:latin typeface="Arial"/>
                <a:ea typeface="Arial"/>
                <a:cs typeface="Arial"/>
              </a:defRPr>
            </a:lvl9pPr>
          </a:lstStyle>
          <a:p xmlns:a="http://schemas.openxmlformats.org/drawingml/2006/main">
            <a:pPr>
              <a:defRPr sz="2250" b="0">
                <a:solidFill>
                  <a:srgbClr val="163B35"/>
                </a:solidFill>
                <a:latin typeface="Arial"/>
                <a:ea typeface="Arial"/>
                <a:cs typeface="Arial"/>
              </a:defRPr>
            </a:pPr>
            <a:r>
              <a:rPr sz="2250" b="0">
                <a:solidFill>
                  <a:srgbClr val="163B35"/>
                </a:solidFill>
                <a:latin typeface="Arial"/>
                <a:ea typeface="Arial"/>
                <a:cs typeface="Arial"/>
              </a:rPr>
              <a:t>Single-photo input with six known categories</a:t>
            </a:r>
          </a:p>
        </p:txBody>
      </p:sp>
      <p:sp>
        <p:nvSpPr>
          <p:cNvPr id="5" name="">
            <a:extLst xmlns:a="http://schemas.openxmlformats.org/drawingml/2006/main">
              <a:ext uri="{FF2B5EF4-FFF2-40B4-BE49-F238E27FC236}">
                <a16:creationId xmlns:a16="http://schemas.microsoft.com/office/drawing/2014/main" id="{D4B1FABD-B726-475F-88DD-5C12C76D4ABA}"/>
              </a:ext>
            </a:extLst>
          </p:cNvPr>
          <p:cNvSpPr>
            <a:spLocks xmlns:a="http://schemas.openxmlformats.org/drawingml/2006/main" noGrp="1"/>
          </p:cNvSpPr>
          <p:nvPr/>
        </p:nvSpPr>
        <p:spPr>
          <a:xfrm xmlns:a="http://schemas.openxmlformats.org/drawingml/2006/main">
            <a:off x="609600" y="45720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63B35"/>
                </a:solidFill>
                <a:latin typeface="Arial"/>
                <a:ea typeface="Arial"/>
                <a:cs typeface="Arial"/>
              </a:defRPr>
            </a:defPPr>
            <a:lvl1pPr>
              <a:defRPr sz="2250" b="0">
                <a:solidFill>
                  <a:srgbClr val="163B35"/>
                </a:solidFill>
                <a:latin typeface="Arial"/>
                <a:ea typeface="Arial"/>
                <a:cs typeface="Arial"/>
              </a:defRPr>
            </a:lvl1pPr>
            <a:lvl2pPr>
              <a:defRPr sz="2250" b="0">
                <a:solidFill>
                  <a:srgbClr val="163B35"/>
                </a:solidFill>
                <a:latin typeface="Arial"/>
                <a:ea typeface="Arial"/>
                <a:cs typeface="Arial"/>
              </a:defRPr>
            </a:lvl2pPr>
            <a:lvl3pPr>
              <a:defRPr sz="2250" b="0">
                <a:solidFill>
                  <a:srgbClr val="163B35"/>
                </a:solidFill>
                <a:latin typeface="Arial"/>
                <a:ea typeface="Arial"/>
                <a:cs typeface="Arial"/>
              </a:defRPr>
            </a:lvl3pPr>
            <a:lvl4pPr>
              <a:defRPr sz="2250" b="0">
                <a:solidFill>
                  <a:srgbClr val="163B35"/>
                </a:solidFill>
                <a:latin typeface="Arial"/>
                <a:ea typeface="Arial"/>
                <a:cs typeface="Arial"/>
              </a:defRPr>
            </a:lvl4pPr>
            <a:lvl5pPr>
              <a:defRPr sz="2250" b="0">
                <a:solidFill>
                  <a:srgbClr val="163B35"/>
                </a:solidFill>
                <a:latin typeface="Arial"/>
                <a:ea typeface="Arial"/>
                <a:cs typeface="Arial"/>
              </a:defRPr>
            </a:lvl5pPr>
            <a:lvl6pPr>
              <a:defRPr sz="2250" b="0">
                <a:solidFill>
                  <a:srgbClr val="163B35"/>
                </a:solidFill>
                <a:latin typeface="Arial"/>
                <a:ea typeface="Arial"/>
                <a:cs typeface="Arial"/>
              </a:defRPr>
            </a:lvl6pPr>
            <a:lvl7pPr>
              <a:defRPr sz="2250" b="0">
                <a:solidFill>
                  <a:srgbClr val="163B35"/>
                </a:solidFill>
                <a:latin typeface="Arial"/>
                <a:ea typeface="Arial"/>
                <a:cs typeface="Arial"/>
              </a:defRPr>
            </a:lvl7pPr>
            <a:lvl8pPr>
              <a:defRPr sz="2250" b="0">
                <a:solidFill>
                  <a:srgbClr val="163B35"/>
                </a:solidFill>
                <a:latin typeface="Arial"/>
                <a:ea typeface="Arial"/>
                <a:cs typeface="Arial"/>
              </a:defRPr>
            </a:lvl8pPr>
            <a:lvl9pPr>
              <a:defRPr sz="2250" b="0">
                <a:solidFill>
                  <a:srgbClr val="163B35"/>
                </a:solidFill>
                <a:latin typeface="Arial"/>
                <a:ea typeface="Arial"/>
                <a:cs typeface="Arial"/>
              </a:defRPr>
            </a:lvl9pPr>
          </a:lstStyle>
          <a:p xmlns:a="http://schemas.openxmlformats.org/drawingml/2006/main">
            <a:pPr>
              <a:defRPr sz="2250" b="0">
                <a:solidFill>
                  <a:srgbClr val="163B35"/>
                </a:solidFill>
                <a:latin typeface="Arial"/>
                <a:ea typeface="Arial"/>
                <a:cs typeface="Arial"/>
              </a:defRPr>
            </a:pPr>
            <a:r>
              <a:rPr sz="2250" b="0">
                <a:solidFill>
                  <a:srgbClr val="163B35"/>
                </a:solidFill>
                <a:latin typeface="Arial"/>
                <a:ea typeface="Arial"/>
                <a:cs typeface="Arial"/>
              </a:rPr>
              <a:t>Uncertainty response when confidence is below 0.52</a:t>
            </a:r>
          </a:p>
        </p:txBody>
      </p:sp>
      <p:sp>
        <p:nvSpPr>
          <p:cNvPr id="6" name="">
            <a:extLst xmlns:a="http://schemas.openxmlformats.org/drawingml/2006/main">
              <a:ext uri="{FF2B5EF4-FFF2-40B4-BE49-F238E27FC236}">
                <a16:creationId xmlns:a16="http://schemas.microsoft.com/office/drawing/2014/main" id="{F5441E5C-8F69-400B-8DC2-36499A70589D}"/>
              </a:ext>
            </a:extLst>
          </p:cNvPr>
          <p:cNvSpPr>
            <a:spLocks xmlns:a="http://schemas.openxmlformats.org/drawingml/2006/main" noGrp="1"/>
          </p:cNvSpPr>
          <p:nvPr/>
        </p:nvSpPr>
        <p:spPr>
          <a:xfrm xmlns:a="http://schemas.openxmlformats.org/drawingml/2006/main">
            <a:off x="609600" y="57245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36C66"/>
                </a:solidFill>
                <a:latin typeface="Arial"/>
                <a:ea typeface="Arial"/>
                <a:cs typeface="Arial"/>
              </a:defRPr>
            </a:defPPr>
            <a:lvl1pPr>
              <a:defRPr sz="1650" b="0">
                <a:solidFill>
                  <a:srgbClr val="536C66"/>
                </a:solidFill>
                <a:latin typeface="Arial"/>
                <a:ea typeface="Arial"/>
                <a:cs typeface="Arial"/>
              </a:defRPr>
            </a:lvl1pPr>
            <a:lvl2pPr>
              <a:defRPr sz="1650" b="0">
                <a:solidFill>
                  <a:srgbClr val="536C66"/>
                </a:solidFill>
                <a:latin typeface="Arial"/>
                <a:ea typeface="Arial"/>
                <a:cs typeface="Arial"/>
              </a:defRPr>
            </a:lvl2pPr>
            <a:lvl3pPr>
              <a:defRPr sz="1650" b="0">
                <a:solidFill>
                  <a:srgbClr val="536C66"/>
                </a:solidFill>
                <a:latin typeface="Arial"/>
                <a:ea typeface="Arial"/>
                <a:cs typeface="Arial"/>
              </a:defRPr>
            </a:lvl3pPr>
            <a:lvl4pPr>
              <a:defRPr sz="1650" b="0">
                <a:solidFill>
                  <a:srgbClr val="536C66"/>
                </a:solidFill>
                <a:latin typeface="Arial"/>
                <a:ea typeface="Arial"/>
                <a:cs typeface="Arial"/>
              </a:defRPr>
            </a:lvl4pPr>
            <a:lvl5pPr>
              <a:defRPr sz="1650" b="0">
                <a:solidFill>
                  <a:srgbClr val="536C66"/>
                </a:solidFill>
                <a:latin typeface="Arial"/>
                <a:ea typeface="Arial"/>
                <a:cs typeface="Arial"/>
              </a:defRPr>
            </a:lvl5pPr>
            <a:lvl6pPr>
              <a:defRPr sz="1650" b="0">
                <a:solidFill>
                  <a:srgbClr val="536C66"/>
                </a:solidFill>
                <a:latin typeface="Arial"/>
                <a:ea typeface="Arial"/>
                <a:cs typeface="Arial"/>
              </a:defRPr>
            </a:lvl6pPr>
            <a:lvl7pPr>
              <a:defRPr sz="1650" b="0">
                <a:solidFill>
                  <a:srgbClr val="536C66"/>
                </a:solidFill>
                <a:latin typeface="Arial"/>
                <a:ea typeface="Arial"/>
                <a:cs typeface="Arial"/>
              </a:defRPr>
            </a:lvl7pPr>
            <a:lvl8pPr>
              <a:defRPr sz="1650" b="0">
                <a:solidFill>
                  <a:srgbClr val="536C66"/>
                </a:solidFill>
                <a:latin typeface="Arial"/>
                <a:ea typeface="Arial"/>
                <a:cs typeface="Arial"/>
              </a:defRPr>
            </a:lvl8pPr>
            <a:lvl9pPr>
              <a:defRPr sz="1650" b="0">
                <a:solidFill>
                  <a:srgbClr val="536C66"/>
                </a:solidFill>
                <a:latin typeface="Arial"/>
                <a:ea typeface="Arial"/>
                <a:cs typeface="Arial"/>
              </a:defRPr>
            </a:lvl9pPr>
          </a:lstStyle>
          <a:p xmlns:a="http://schemas.openxmlformats.org/drawingml/2006/main">
            <a:pPr>
              <a:defRPr sz="1650" b="0">
                <a:solidFill>
                  <a:srgbClr val="536C66"/>
                </a:solidFill>
                <a:latin typeface="Arial"/>
                <a:ea typeface="Arial"/>
                <a:cs typeface="Arial"/>
              </a:defRPr>
            </a:pPr>
            <a:r>
              <a:rPr sz="1650" b="0">
                <a:solidFill>
                  <a:srgbClr val="536C66"/>
                </a:solidFill>
                <a:latin typeface="Arial"/>
                <a:ea typeface="Arial"/>
                <a:cs typeface="Arial"/>
              </a:rPr>
              <a:t>Local recycling rules and contamination remain outside the classifier’s scope.</a:t>
            </a:r>
          </a:p>
        </p:txBody>
      </p:sp>
    </p:spTree>
    <p:extLst>
      <p:ext uri="{BB962C8B-B14F-4D97-AF65-F5344CB8AC3E}">
        <p14:creationId xmlns:p14="http://schemas.microsoft.com/office/powerpoint/2010/main" val="471103600"/>
      </p:ext>
    </p:extLst>
  </p:cSld>
</p:sld>
</file>

<file path=ppt/slides/slide3.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0B315CE-B335-45C1-A437-5931AC51E093}"/>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63B35"/>
                </a:solidFill>
                <a:latin typeface="Arial"/>
                <a:ea typeface="Arial"/>
                <a:cs typeface="Arial"/>
              </a:defRPr>
            </a:defPPr>
            <a:lvl1pPr>
              <a:defRPr sz="3300" b="1">
                <a:solidFill>
                  <a:srgbClr val="163B35"/>
                </a:solidFill>
                <a:latin typeface="Arial"/>
                <a:ea typeface="Arial"/>
                <a:cs typeface="Arial"/>
              </a:defRPr>
            </a:lvl1pPr>
            <a:lvl2pPr>
              <a:defRPr sz="3300" b="1">
                <a:solidFill>
                  <a:srgbClr val="163B35"/>
                </a:solidFill>
                <a:latin typeface="Arial"/>
                <a:ea typeface="Arial"/>
                <a:cs typeface="Arial"/>
              </a:defRPr>
            </a:lvl2pPr>
            <a:lvl3pPr>
              <a:defRPr sz="3300" b="1">
                <a:solidFill>
                  <a:srgbClr val="163B35"/>
                </a:solidFill>
                <a:latin typeface="Arial"/>
                <a:ea typeface="Arial"/>
                <a:cs typeface="Arial"/>
              </a:defRPr>
            </a:lvl3pPr>
            <a:lvl4pPr>
              <a:defRPr sz="3300" b="1">
                <a:solidFill>
                  <a:srgbClr val="163B35"/>
                </a:solidFill>
                <a:latin typeface="Arial"/>
                <a:ea typeface="Arial"/>
                <a:cs typeface="Arial"/>
              </a:defRPr>
            </a:lvl4pPr>
            <a:lvl5pPr>
              <a:defRPr sz="3300" b="1">
                <a:solidFill>
                  <a:srgbClr val="163B35"/>
                </a:solidFill>
                <a:latin typeface="Arial"/>
                <a:ea typeface="Arial"/>
                <a:cs typeface="Arial"/>
              </a:defRPr>
            </a:lvl5pPr>
            <a:lvl6pPr>
              <a:defRPr sz="3300" b="1">
                <a:solidFill>
                  <a:srgbClr val="163B35"/>
                </a:solidFill>
                <a:latin typeface="Arial"/>
                <a:ea typeface="Arial"/>
                <a:cs typeface="Arial"/>
              </a:defRPr>
            </a:lvl6pPr>
            <a:lvl7pPr>
              <a:defRPr sz="3300" b="1">
                <a:solidFill>
                  <a:srgbClr val="163B35"/>
                </a:solidFill>
                <a:latin typeface="Arial"/>
                <a:ea typeface="Arial"/>
                <a:cs typeface="Arial"/>
              </a:defRPr>
            </a:lvl7pPr>
            <a:lvl8pPr>
              <a:defRPr sz="3300" b="1">
                <a:solidFill>
                  <a:srgbClr val="163B35"/>
                </a:solidFill>
                <a:latin typeface="Arial"/>
                <a:ea typeface="Arial"/>
                <a:cs typeface="Arial"/>
              </a:defRPr>
            </a:lvl8pPr>
            <a:lvl9pPr>
              <a:defRPr sz="3300" b="1">
                <a:solidFill>
                  <a:srgbClr val="163B35"/>
                </a:solidFill>
                <a:latin typeface="Arial"/>
                <a:ea typeface="Arial"/>
                <a:cs typeface="Arial"/>
              </a:defRPr>
            </a:lvl9pPr>
          </a:lstStyle>
          <a:p xmlns:a="http://schemas.openxmlformats.org/drawingml/2006/main">
            <a:pPr>
              <a:defRPr sz="3300" b="1">
                <a:solidFill>
                  <a:srgbClr val="163B35"/>
                </a:solidFill>
                <a:latin typeface="Arial"/>
                <a:ea typeface="Arial"/>
                <a:cs typeface="Arial"/>
              </a:defRPr>
            </a:pPr>
            <a:r>
              <a:rPr sz="3300" b="1">
                <a:solidFill>
                  <a:srgbClr val="163B35"/>
                </a:solidFill>
                <a:latin typeface="Arial"/>
                <a:ea typeface="Arial"/>
                <a:cs typeface="Arial"/>
              </a:rPr>
              <a:t>2,521 usable images after the audit</a:t>
            </a:r>
          </a:p>
        </p:txBody>
      </p:sp>
      <p:sp>
        <p:nvSpPr>
          <p:cNvPr id="2" name="">
            <a:extLst xmlns:a="http://schemas.openxmlformats.org/drawingml/2006/main">
              <a:ext uri="{FF2B5EF4-FFF2-40B4-BE49-F238E27FC236}">
                <a16:creationId xmlns:a16="http://schemas.microsoft.com/office/drawing/2014/main" id="{AD22A43C-34F6-43FD-8E1E-1DE0DF68C55D}"/>
              </a:ext>
            </a:extLst>
          </p:cNvPr>
          <p:cNvSpPr>
            <a:spLocks xmlns:a="http://schemas.openxmlformats.org/drawingml/2006/main" noGrp="1"/>
          </p:cNvSpPr>
          <p:nvPr/>
        </p:nvSpPr>
        <p:spPr>
          <a:xfrm xmlns:a="http://schemas.openxmlformats.org/drawingml/2006/main">
            <a:off x="11068050" y="633412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36C66"/>
                </a:solidFill>
                <a:latin typeface="Arial"/>
                <a:ea typeface="Arial"/>
                <a:cs typeface="Arial"/>
              </a:defRPr>
            </a:defPPr>
            <a:lvl1pPr>
              <a:defRPr sz="1350" b="0">
                <a:solidFill>
                  <a:srgbClr val="536C66"/>
                </a:solidFill>
                <a:latin typeface="Arial"/>
                <a:ea typeface="Arial"/>
                <a:cs typeface="Arial"/>
              </a:defRPr>
            </a:lvl1pPr>
            <a:lvl2pPr>
              <a:defRPr sz="1350" b="0">
                <a:solidFill>
                  <a:srgbClr val="536C66"/>
                </a:solidFill>
                <a:latin typeface="Arial"/>
                <a:ea typeface="Arial"/>
                <a:cs typeface="Arial"/>
              </a:defRPr>
            </a:lvl2pPr>
            <a:lvl3pPr>
              <a:defRPr sz="1350" b="0">
                <a:solidFill>
                  <a:srgbClr val="536C66"/>
                </a:solidFill>
                <a:latin typeface="Arial"/>
                <a:ea typeface="Arial"/>
                <a:cs typeface="Arial"/>
              </a:defRPr>
            </a:lvl3pPr>
            <a:lvl4pPr>
              <a:defRPr sz="1350" b="0">
                <a:solidFill>
                  <a:srgbClr val="536C66"/>
                </a:solidFill>
                <a:latin typeface="Arial"/>
                <a:ea typeface="Arial"/>
                <a:cs typeface="Arial"/>
              </a:defRPr>
            </a:lvl4pPr>
            <a:lvl5pPr>
              <a:defRPr sz="1350" b="0">
                <a:solidFill>
                  <a:srgbClr val="536C66"/>
                </a:solidFill>
                <a:latin typeface="Arial"/>
                <a:ea typeface="Arial"/>
                <a:cs typeface="Arial"/>
              </a:defRPr>
            </a:lvl5pPr>
            <a:lvl6pPr>
              <a:defRPr sz="1350" b="0">
                <a:solidFill>
                  <a:srgbClr val="536C66"/>
                </a:solidFill>
                <a:latin typeface="Arial"/>
                <a:ea typeface="Arial"/>
                <a:cs typeface="Arial"/>
              </a:defRPr>
            </a:lvl6pPr>
            <a:lvl7pPr>
              <a:defRPr sz="1350" b="0">
                <a:solidFill>
                  <a:srgbClr val="536C66"/>
                </a:solidFill>
                <a:latin typeface="Arial"/>
                <a:ea typeface="Arial"/>
                <a:cs typeface="Arial"/>
              </a:defRPr>
            </a:lvl7pPr>
            <a:lvl8pPr>
              <a:defRPr sz="1350" b="0">
                <a:solidFill>
                  <a:srgbClr val="536C66"/>
                </a:solidFill>
                <a:latin typeface="Arial"/>
                <a:ea typeface="Arial"/>
                <a:cs typeface="Arial"/>
              </a:defRPr>
            </a:lvl8pPr>
            <a:lvl9pPr>
              <a:defRPr sz="1350" b="0">
                <a:solidFill>
                  <a:srgbClr val="536C66"/>
                </a:solidFill>
                <a:latin typeface="Arial"/>
                <a:ea typeface="Arial"/>
                <a:cs typeface="Arial"/>
              </a:defRPr>
            </a:lvl9pPr>
          </a:lstStyle>
          <a:p xmlns:a="http://schemas.openxmlformats.org/drawingml/2006/main">
            <a:pPr>
              <a:defRPr sz="1350" b="0">
                <a:solidFill>
                  <a:srgbClr val="536C66"/>
                </a:solidFill>
                <a:latin typeface="Arial"/>
                <a:ea typeface="Arial"/>
                <a:cs typeface="Arial"/>
              </a:defRPr>
            </a:pPr>
            <a:r>
              <a:rPr sz="1350" b="0">
                <a:solidFill>
                  <a:srgbClr val="536C66"/>
                </a:solidFill>
                <a:latin typeface="Arial"/>
                <a:ea typeface="Arial"/>
                <a:cs typeface="Arial"/>
              </a:rPr>
              <a:t>03</a:t>
            </a:r>
          </a:p>
        </p:txBody>
      </p:sp>
      <p:graphicFrame>
        <p:nvGraphicFramePr>
          <p:cNvPr id="3" name="Chart">
            <a:extLst xmlns:a="http://schemas.openxmlformats.org/drawingml/2006/main">
              <a:ext uri="{FF2B5EF4-FFF2-40B4-BE49-F238E27FC236}">
                <a16:creationId xmlns:a16="http://schemas.microsoft.com/office/drawing/2014/main" id="{FF22491B-757B-4687-B49C-DFE4D1AC6BF8}"/>
              </a:ext>
            </a:extLst>
          </p:cNvPr>
          <p:cNvGraphicFramePr/>
          <p:nvPr/>
        </p:nvGraphicFramePr>
        <p:xfrm>
          <a:off xmlns:a="http://schemas.openxmlformats.org/drawingml/2006/main" x="609600" y="1666875"/>
          <a:ext xmlns:a="http://schemas.openxmlformats.org/drawingml/2006/main" cx="10477500" cy="3476625"/>
        </p:xfrm>
        <a:graphic xmlns:a="http://schemas.openxmlformats.org/drawingml/2006/main">
          <a:graphicData uri="http://schemas.openxmlformats.org/drawingml/2006/chart">
            <c:chart xmlns:r="http://schemas.openxmlformats.org/officeDocument/2006/relationships" xmlns:c="http://schemas.openxmlformats.org/drawingml/2006/chart" r:id="R253db2bce2174ab6"/>
          </a:graphicData>
        </a:graphic>
      </p:graphicFrame>
      <p:sp>
        <p:nvSpPr>
          <p:cNvPr id="4" name="">
            <a:extLst xmlns:a="http://schemas.openxmlformats.org/drawingml/2006/main">
              <a:ext uri="{FF2B5EF4-FFF2-40B4-BE49-F238E27FC236}">
                <a16:creationId xmlns:a16="http://schemas.microsoft.com/office/drawing/2014/main" id="{CBE17EE8-0611-47AB-A8EE-265EFF90D4E3}"/>
              </a:ext>
            </a:extLst>
          </p:cNvPr>
          <p:cNvSpPr>
            <a:spLocks xmlns:a="http://schemas.openxmlformats.org/drawingml/2006/main" noGrp="1"/>
          </p:cNvSpPr>
          <p:nvPr/>
        </p:nvSpPr>
        <p:spPr>
          <a:xfrm xmlns:a="http://schemas.openxmlformats.org/drawingml/2006/main">
            <a:off x="609600" y="566737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36C66"/>
                </a:solidFill>
                <a:latin typeface="Arial"/>
                <a:ea typeface="Arial"/>
                <a:cs typeface="Arial"/>
              </a:defRPr>
            </a:defPPr>
            <a:lvl1pPr>
              <a:defRPr sz="1650" b="0">
                <a:solidFill>
                  <a:srgbClr val="536C66"/>
                </a:solidFill>
                <a:latin typeface="Arial"/>
                <a:ea typeface="Arial"/>
                <a:cs typeface="Arial"/>
              </a:defRPr>
            </a:lvl1pPr>
            <a:lvl2pPr>
              <a:defRPr sz="1650" b="0">
                <a:solidFill>
                  <a:srgbClr val="536C66"/>
                </a:solidFill>
                <a:latin typeface="Arial"/>
                <a:ea typeface="Arial"/>
                <a:cs typeface="Arial"/>
              </a:defRPr>
            </a:lvl2pPr>
            <a:lvl3pPr>
              <a:defRPr sz="1650" b="0">
                <a:solidFill>
                  <a:srgbClr val="536C66"/>
                </a:solidFill>
                <a:latin typeface="Arial"/>
                <a:ea typeface="Arial"/>
                <a:cs typeface="Arial"/>
              </a:defRPr>
            </a:lvl3pPr>
            <a:lvl4pPr>
              <a:defRPr sz="1650" b="0">
                <a:solidFill>
                  <a:srgbClr val="536C66"/>
                </a:solidFill>
                <a:latin typeface="Arial"/>
                <a:ea typeface="Arial"/>
                <a:cs typeface="Arial"/>
              </a:defRPr>
            </a:lvl4pPr>
            <a:lvl5pPr>
              <a:defRPr sz="1650" b="0">
                <a:solidFill>
                  <a:srgbClr val="536C66"/>
                </a:solidFill>
                <a:latin typeface="Arial"/>
                <a:ea typeface="Arial"/>
                <a:cs typeface="Arial"/>
              </a:defRPr>
            </a:lvl5pPr>
            <a:lvl6pPr>
              <a:defRPr sz="1650" b="0">
                <a:solidFill>
                  <a:srgbClr val="536C66"/>
                </a:solidFill>
                <a:latin typeface="Arial"/>
                <a:ea typeface="Arial"/>
                <a:cs typeface="Arial"/>
              </a:defRPr>
            </a:lvl6pPr>
            <a:lvl7pPr>
              <a:defRPr sz="1650" b="0">
                <a:solidFill>
                  <a:srgbClr val="536C66"/>
                </a:solidFill>
                <a:latin typeface="Arial"/>
                <a:ea typeface="Arial"/>
                <a:cs typeface="Arial"/>
              </a:defRPr>
            </a:lvl7pPr>
            <a:lvl8pPr>
              <a:defRPr sz="1650" b="0">
                <a:solidFill>
                  <a:srgbClr val="536C66"/>
                </a:solidFill>
                <a:latin typeface="Arial"/>
                <a:ea typeface="Arial"/>
                <a:cs typeface="Arial"/>
              </a:defRPr>
            </a:lvl8pPr>
            <a:lvl9pPr>
              <a:defRPr sz="1650" b="0">
                <a:solidFill>
                  <a:srgbClr val="536C66"/>
                </a:solidFill>
                <a:latin typeface="Arial"/>
                <a:ea typeface="Arial"/>
                <a:cs typeface="Arial"/>
              </a:defRPr>
            </a:lvl9pPr>
          </a:lstStyle>
          <a:p xmlns:a="http://schemas.openxmlformats.org/drawingml/2006/main">
            <a:pPr>
              <a:defRPr sz="1650" b="0">
                <a:solidFill>
                  <a:srgbClr val="536C66"/>
                </a:solidFill>
                <a:latin typeface="Arial"/>
                <a:ea typeface="Arial"/>
                <a:cs typeface="Arial"/>
              </a:defRPr>
            </a:pPr>
            <a:r>
              <a:rPr sz="1650" b="0">
                <a:solidFill>
                  <a:srgbClr val="536C66"/>
                </a:solidFill>
                <a:latin typeface="Arial"/>
                <a:ea typeface="Arial"/>
                <a:cs typeface="Arial"/>
              </a:rPr>
              <a:t>2,527 source images − 6 conflicting-label duplicates = 2,521 included images</a:t>
            </a:r>
          </a:p>
        </p:txBody>
      </p:sp>
    </p:spTree>
    <p:extLst>
      <p:ext uri="{BB962C8B-B14F-4D97-AF65-F5344CB8AC3E}">
        <p14:creationId xmlns:p14="http://schemas.microsoft.com/office/powerpoint/2010/main" val="1576302106"/>
      </p:ext>
    </p:extLst>
  </p:cSld>
</p:sld>
</file>

<file path=ppt/slides/slide4.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21CBED1-7E96-45DC-BBCF-F1EEA807CE1E}"/>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63B35"/>
                </a:solidFill>
                <a:latin typeface="Arial"/>
                <a:ea typeface="Arial"/>
                <a:cs typeface="Arial"/>
              </a:defRPr>
            </a:defPPr>
            <a:lvl1pPr>
              <a:defRPr sz="3300" b="1">
                <a:solidFill>
                  <a:srgbClr val="163B35"/>
                </a:solidFill>
                <a:latin typeface="Arial"/>
                <a:ea typeface="Arial"/>
                <a:cs typeface="Arial"/>
              </a:defRPr>
            </a:lvl1pPr>
            <a:lvl2pPr>
              <a:defRPr sz="3300" b="1">
                <a:solidFill>
                  <a:srgbClr val="163B35"/>
                </a:solidFill>
                <a:latin typeface="Arial"/>
                <a:ea typeface="Arial"/>
                <a:cs typeface="Arial"/>
              </a:defRPr>
            </a:lvl2pPr>
            <a:lvl3pPr>
              <a:defRPr sz="3300" b="1">
                <a:solidFill>
                  <a:srgbClr val="163B35"/>
                </a:solidFill>
                <a:latin typeface="Arial"/>
                <a:ea typeface="Arial"/>
                <a:cs typeface="Arial"/>
              </a:defRPr>
            </a:lvl3pPr>
            <a:lvl4pPr>
              <a:defRPr sz="3300" b="1">
                <a:solidFill>
                  <a:srgbClr val="163B35"/>
                </a:solidFill>
                <a:latin typeface="Arial"/>
                <a:ea typeface="Arial"/>
                <a:cs typeface="Arial"/>
              </a:defRPr>
            </a:lvl4pPr>
            <a:lvl5pPr>
              <a:defRPr sz="3300" b="1">
                <a:solidFill>
                  <a:srgbClr val="163B35"/>
                </a:solidFill>
                <a:latin typeface="Arial"/>
                <a:ea typeface="Arial"/>
                <a:cs typeface="Arial"/>
              </a:defRPr>
            </a:lvl5pPr>
            <a:lvl6pPr>
              <a:defRPr sz="3300" b="1">
                <a:solidFill>
                  <a:srgbClr val="163B35"/>
                </a:solidFill>
                <a:latin typeface="Arial"/>
                <a:ea typeface="Arial"/>
                <a:cs typeface="Arial"/>
              </a:defRPr>
            </a:lvl6pPr>
            <a:lvl7pPr>
              <a:defRPr sz="3300" b="1">
                <a:solidFill>
                  <a:srgbClr val="163B35"/>
                </a:solidFill>
                <a:latin typeface="Arial"/>
                <a:ea typeface="Arial"/>
                <a:cs typeface="Arial"/>
              </a:defRPr>
            </a:lvl7pPr>
            <a:lvl8pPr>
              <a:defRPr sz="3300" b="1">
                <a:solidFill>
                  <a:srgbClr val="163B35"/>
                </a:solidFill>
                <a:latin typeface="Arial"/>
                <a:ea typeface="Arial"/>
                <a:cs typeface="Arial"/>
              </a:defRPr>
            </a:lvl8pPr>
            <a:lvl9pPr>
              <a:defRPr sz="3300" b="1">
                <a:solidFill>
                  <a:srgbClr val="163B35"/>
                </a:solidFill>
                <a:latin typeface="Arial"/>
                <a:ea typeface="Arial"/>
                <a:cs typeface="Arial"/>
              </a:defRPr>
            </a:lvl9pPr>
          </a:lstStyle>
          <a:p xmlns:a="http://schemas.openxmlformats.org/drawingml/2006/main">
            <a:pPr>
              <a:defRPr sz="3300" b="1">
                <a:solidFill>
                  <a:srgbClr val="163B35"/>
                </a:solidFill>
                <a:latin typeface="Arial"/>
                <a:ea typeface="Arial"/>
                <a:cs typeface="Arial"/>
              </a:defRPr>
            </a:pPr>
            <a:r>
              <a:rPr sz="3300" b="1">
                <a:solidFill>
                  <a:srgbClr val="163B35"/>
                </a:solidFill>
                <a:latin typeface="Arial"/>
                <a:ea typeface="Arial"/>
                <a:cs typeface="Arial"/>
              </a:rPr>
              <a:t>Training, threshold selection and test stay separate</a:t>
            </a:r>
          </a:p>
        </p:txBody>
      </p:sp>
      <p:sp>
        <p:nvSpPr>
          <p:cNvPr id="2" name="">
            <a:extLst xmlns:a="http://schemas.openxmlformats.org/drawingml/2006/main">
              <a:ext uri="{FF2B5EF4-FFF2-40B4-BE49-F238E27FC236}">
                <a16:creationId xmlns:a16="http://schemas.microsoft.com/office/drawing/2014/main" id="{585496F9-914F-4023-99CA-6174D3AE4458}"/>
              </a:ext>
            </a:extLst>
          </p:cNvPr>
          <p:cNvSpPr>
            <a:spLocks xmlns:a="http://schemas.openxmlformats.org/drawingml/2006/main" noGrp="1"/>
          </p:cNvSpPr>
          <p:nvPr/>
        </p:nvSpPr>
        <p:spPr>
          <a:xfrm xmlns:a="http://schemas.openxmlformats.org/drawingml/2006/main">
            <a:off x="11068050" y="633412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36C66"/>
                </a:solidFill>
                <a:latin typeface="Arial"/>
                <a:ea typeface="Arial"/>
                <a:cs typeface="Arial"/>
              </a:defRPr>
            </a:defPPr>
            <a:lvl1pPr>
              <a:defRPr sz="1350" b="0">
                <a:solidFill>
                  <a:srgbClr val="536C66"/>
                </a:solidFill>
                <a:latin typeface="Arial"/>
                <a:ea typeface="Arial"/>
                <a:cs typeface="Arial"/>
              </a:defRPr>
            </a:lvl1pPr>
            <a:lvl2pPr>
              <a:defRPr sz="1350" b="0">
                <a:solidFill>
                  <a:srgbClr val="536C66"/>
                </a:solidFill>
                <a:latin typeface="Arial"/>
                <a:ea typeface="Arial"/>
                <a:cs typeface="Arial"/>
              </a:defRPr>
            </a:lvl2pPr>
            <a:lvl3pPr>
              <a:defRPr sz="1350" b="0">
                <a:solidFill>
                  <a:srgbClr val="536C66"/>
                </a:solidFill>
                <a:latin typeface="Arial"/>
                <a:ea typeface="Arial"/>
                <a:cs typeface="Arial"/>
              </a:defRPr>
            </a:lvl3pPr>
            <a:lvl4pPr>
              <a:defRPr sz="1350" b="0">
                <a:solidFill>
                  <a:srgbClr val="536C66"/>
                </a:solidFill>
                <a:latin typeface="Arial"/>
                <a:ea typeface="Arial"/>
                <a:cs typeface="Arial"/>
              </a:defRPr>
            </a:lvl4pPr>
            <a:lvl5pPr>
              <a:defRPr sz="1350" b="0">
                <a:solidFill>
                  <a:srgbClr val="536C66"/>
                </a:solidFill>
                <a:latin typeface="Arial"/>
                <a:ea typeface="Arial"/>
                <a:cs typeface="Arial"/>
              </a:defRPr>
            </a:lvl5pPr>
            <a:lvl6pPr>
              <a:defRPr sz="1350" b="0">
                <a:solidFill>
                  <a:srgbClr val="536C66"/>
                </a:solidFill>
                <a:latin typeface="Arial"/>
                <a:ea typeface="Arial"/>
                <a:cs typeface="Arial"/>
              </a:defRPr>
            </a:lvl6pPr>
            <a:lvl7pPr>
              <a:defRPr sz="1350" b="0">
                <a:solidFill>
                  <a:srgbClr val="536C66"/>
                </a:solidFill>
                <a:latin typeface="Arial"/>
                <a:ea typeface="Arial"/>
                <a:cs typeface="Arial"/>
              </a:defRPr>
            </a:lvl7pPr>
            <a:lvl8pPr>
              <a:defRPr sz="1350" b="0">
                <a:solidFill>
                  <a:srgbClr val="536C66"/>
                </a:solidFill>
                <a:latin typeface="Arial"/>
                <a:ea typeface="Arial"/>
                <a:cs typeface="Arial"/>
              </a:defRPr>
            </a:lvl8pPr>
            <a:lvl9pPr>
              <a:defRPr sz="1350" b="0">
                <a:solidFill>
                  <a:srgbClr val="536C66"/>
                </a:solidFill>
                <a:latin typeface="Arial"/>
                <a:ea typeface="Arial"/>
                <a:cs typeface="Arial"/>
              </a:defRPr>
            </a:lvl9pPr>
          </a:lstStyle>
          <a:p xmlns:a="http://schemas.openxmlformats.org/drawingml/2006/main">
            <a:pPr>
              <a:defRPr sz="1350" b="0">
                <a:solidFill>
                  <a:srgbClr val="536C66"/>
                </a:solidFill>
                <a:latin typeface="Arial"/>
                <a:ea typeface="Arial"/>
                <a:cs typeface="Arial"/>
              </a:defRPr>
            </a:pPr>
            <a:r>
              <a:rPr sz="1350" b="0">
                <a:solidFill>
                  <a:srgbClr val="536C66"/>
                </a:solidFill>
                <a:latin typeface="Arial"/>
                <a:ea typeface="Arial"/>
                <a:cs typeface="Arial"/>
              </a:rPr>
              <a:t>04</a:t>
            </a:r>
          </a:p>
        </p:txBody>
      </p:sp>
      <p:graphicFrame>
        <p:nvGraphicFramePr>
          <p:cNvPr id="3" name="">
            <a:extLst xmlns:a="http://schemas.openxmlformats.org/drawingml/2006/main">
              <a:ext uri="{FF2B5EF4-FFF2-40B4-BE49-F238E27FC236}">
                <a16:creationId xmlns:a16="http://schemas.microsoft.com/office/drawing/2014/main" id="{1A96524A-7F71-456F-B343-7B414D2DF930}"/>
              </a:ext>
            </a:extLst>
          </p:cNvPr>
          <p:cNvGraphicFramePr/>
          <p:nvPr/>
        </p:nvGraphicFramePr>
        <p:xfrm>
          <a:off xmlns:a="http://schemas.openxmlformats.org/drawingml/2006/main" x="609600" y="1762125"/>
          <a:ext xmlns:a="http://schemas.openxmlformats.org/drawingml/2006/main" cx="10972800" cy="2857500"/>
        </p:xfrm>
        <a:graphic xmlns:a="http://schemas.openxmlformats.org/drawingml/2006/main">
          <a:graphicData uri="http://schemas.openxmlformats.org/drawingml/2006/table">
            <a:tbl>
              <a:tblPr/>
              <a:tblGrid>
                <a:gridCol w="2381250"/>
                <a:gridCol w="1714500"/>
                <a:gridCol w="6877050"/>
              </a:tblGrid>
              <a:tr h="714375">
                <a:tc>
                  <a:txBody>
                    <a:bodyPr/>
                    <a:lstStyle/>
                    <a:p>
                      <a:r>
                        <a:rPr sz="1725" b="1">
                          <a:solidFill>
                            <a:srgbClr val="FFFFFF"/>
                          </a:solidFill>
                          <a:latin typeface="Arial"/>
                          <a:ea typeface="Arial"/>
                          <a:cs typeface="Arial"/>
                        </a:rPr>
                        <a:t>Partition</a:t>
                      </a:r>
                    </a:p>
                  </a:txBody>
                  <a:tcPr marL="91440" marR="91440" marT="45720" marB="45720">
                    <a:lnL w="9525">
                      <a:solidFill>
                        <a:srgbClr val="D8E2DD"/>
                      </a:solidFill>
                      <a:prstDash val="solid"/>
                    </a:lnL>
                    <a:lnR w="9525">
                      <a:solidFill>
                        <a:srgbClr val="D8E2DD"/>
                      </a:solidFill>
                      <a:prstDash val="solid"/>
                    </a:lnR>
                    <a:lnT w="9525">
                      <a:solidFill>
                        <a:srgbClr val="D8E2DD"/>
                      </a:solidFill>
                      <a:prstDash val="solid"/>
                    </a:lnT>
                    <a:lnB w="9525">
                      <a:solidFill>
                        <a:srgbClr val="D8E2DD"/>
                      </a:solidFill>
                      <a:prstDash val="solid"/>
                    </a:lnB>
                    <a:solidFill>
                      <a:srgbClr val="163B35"/>
                    </a:solidFill>
                  </a:tcPr>
                </a:tc>
                <a:tc>
                  <a:txBody>
                    <a:bodyPr/>
                    <a:lstStyle/>
                    <a:p>
                      <a:r>
                        <a:rPr sz="1725" b="1">
                          <a:solidFill>
                            <a:srgbClr val="FFFFFF"/>
                          </a:solidFill>
                          <a:latin typeface="Arial"/>
                          <a:ea typeface="Arial"/>
                          <a:cs typeface="Arial"/>
                        </a:rPr>
                        <a:t>Images</a:t>
                      </a:r>
                    </a:p>
                  </a:txBody>
                  <a:tcPr marL="91440" marR="91440" marT="45720" marB="45720">
                    <a:lnR w="9525">
                      <a:solidFill>
                        <a:srgbClr val="D8E2DD"/>
                      </a:solidFill>
                      <a:prstDash val="solid"/>
                    </a:lnR>
                    <a:lnT w="9525">
                      <a:solidFill>
                        <a:srgbClr val="D8E2DD"/>
                      </a:solidFill>
                      <a:prstDash val="solid"/>
                    </a:lnT>
                    <a:lnB w="9525">
                      <a:solidFill>
                        <a:srgbClr val="D8E2DD"/>
                      </a:solidFill>
                      <a:prstDash val="solid"/>
                    </a:lnB>
                    <a:solidFill>
                      <a:srgbClr val="163B35"/>
                    </a:solidFill>
                  </a:tcPr>
                </a:tc>
                <a:tc>
                  <a:txBody>
                    <a:bodyPr/>
                    <a:lstStyle/>
                    <a:p>
                      <a:r>
                        <a:rPr sz="1725" b="1">
                          <a:solidFill>
                            <a:srgbClr val="FFFFFF"/>
                          </a:solidFill>
                          <a:latin typeface="Arial"/>
                          <a:ea typeface="Arial"/>
                          <a:cs typeface="Arial"/>
                        </a:rPr>
                        <a:t>Role</a:t>
                      </a:r>
                    </a:p>
                  </a:txBody>
                  <a:tcPr marL="91440" marR="91440" marT="45720" marB="45720">
                    <a:lnR w="9525">
                      <a:solidFill>
                        <a:srgbClr val="D8E2DD"/>
                      </a:solidFill>
                      <a:prstDash val="solid"/>
                    </a:lnR>
                    <a:lnT w="9525">
                      <a:solidFill>
                        <a:srgbClr val="D8E2DD"/>
                      </a:solidFill>
                      <a:prstDash val="solid"/>
                    </a:lnT>
                    <a:lnB w="9525">
                      <a:solidFill>
                        <a:srgbClr val="D8E2DD"/>
                      </a:solidFill>
                      <a:prstDash val="solid"/>
                    </a:lnB>
                    <a:solidFill>
                      <a:srgbClr val="163B35"/>
                    </a:solidFill>
                  </a:tcPr>
                </a:tc>
              </a:tr>
              <a:tr h="714375">
                <a:tc>
                  <a:txBody>
                    <a:bodyPr/>
                    <a:lstStyle/>
                    <a:p>
                      <a:r>
                        <a:rPr sz="1725" b="0">
                          <a:solidFill>
                            <a:srgbClr val="163B35"/>
                          </a:solidFill>
                          <a:latin typeface="Arial"/>
                          <a:ea typeface="Arial"/>
                          <a:cs typeface="Arial"/>
                        </a:rPr>
                        <a:t>Training</a:t>
                      </a:r>
                    </a:p>
                  </a:txBody>
                  <a:tcPr marL="91440" marR="91440" marT="45720" marB="45720">
                    <a:lnL w="9525">
                      <a:solidFill>
                        <a:srgbClr val="D8E2DD"/>
                      </a:solidFill>
                      <a:prstDash val="solid"/>
                    </a:lnL>
                    <a:lnR w="9525">
                      <a:solidFill>
                        <a:srgbClr val="D8E2DD"/>
                      </a:solidFill>
                      <a:prstDash val="solid"/>
                    </a:lnR>
                    <a:lnB w="9525">
                      <a:solidFill>
                        <a:srgbClr val="D8E2DD"/>
                      </a:solidFill>
                      <a:prstDash val="solid"/>
                    </a:lnB>
                    <a:solidFill>
                      <a:srgbClr val="FFFFFF"/>
                    </a:solidFill>
                  </a:tcPr>
                </a:tc>
                <a:tc>
                  <a:txBody>
                    <a:bodyPr/>
                    <a:lstStyle/>
                    <a:p>
                      <a:r>
                        <a:rPr sz="1725" b="0">
                          <a:solidFill>
                            <a:srgbClr val="163B35"/>
                          </a:solidFill>
                          <a:latin typeface="Arial"/>
                          <a:ea typeface="Arial"/>
                          <a:cs typeface="Arial"/>
                        </a:rPr>
                        <a:t>1,764</a:t>
                      </a:r>
                    </a:p>
                  </a:txBody>
                  <a:tcPr marL="91440" marR="91440" marT="45720" marB="45720">
                    <a:lnR w="9525">
                      <a:solidFill>
                        <a:srgbClr val="D8E2DD"/>
                      </a:solidFill>
                      <a:prstDash val="solid"/>
                    </a:lnR>
                    <a:lnB w="9525">
                      <a:solidFill>
                        <a:srgbClr val="D8E2DD"/>
                      </a:solidFill>
                      <a:prstDash val="solid"/>
                    </a:lnB>
                    <a:solidFill>
                      <a:srgbClr val="FFFFFF"/>
                    </a:solidFill>
                  </a:tcPr>
                </a:tc>
                <a:tc>
                  <a:txBody>
                    <a:bodyPr/>
                    <a:lstStyle/>
                    <a:p>
                      <a:r>
                        <a:rPr sz="1725" b="0">
                          <a:solidFill>
                            <a:srgbClr val="163B35"/>
                          </a:solidFill>
                          <a:latin typeface="Arial"/>
                          <a:ea typeface="Arial"/>
                          <a:cs typeface="Arial"/>
                        </a:rPr>
                        <a:t>Model selection and calibration</a:t>
                      </a:r>
                    </a:p>
                  </a:txBody>
                  <a:tcPr marL="91440" marR="91440" marT="45720" marB="45720">
                    <a:lnR w="9525">
                      <a:solidFill>
                        <a:srgbClr val="D8E2DD"/>
                      </a:solidFill>
                      <a:prstDash val="solid"/>
                    </a:lnR>
                    <a:lnB w="9525">
                      <a:solidFill>
                        <a:srgbClr val="D8E2DD"/>
                      </a:solidFill>
                      <a:prstDash val="solid"/>
                    </a:lnB>
                    <a:solidFill>
                      <a:srgbClr val="FFFFFF"/>
                    </a:solidFill>
                  </a:tcPr>
                </a:tc>
              </a:tr>
              <a:tr h="714375">
                <a:tc>
                  <a:txBody>
                    <a:bodyPr/>
                    <a:lstStyle/>
                    <a:p>
                      <a:r>
                        <a:rPr sz="1725" b="0">
                          <a:solidFill>
                            <a:srgbClr val="163B35"/>
                          </a:solidFill>
                          <a:latin typeface="Arial"/>
                          <a:ea typeface="Arial"/>
                          <a:cs typeface="Arial"/>
                        </a:rPr>
                        <a:t>Validation</a:t>
                      </a:r>
                    </a:p>
                  </a:txBody>
                  <a:tcPr marL="91440" marR="91440" marT="45720" marB="45720">
                    <a:lnL w="9525">
                      <a:solidFill>
                        <a:srgbClr val="D8E2DD"/>
                      </a:solidFill>
                      <a:prstDash val="solid"/>
                    </a:lnL>
                    <a:lnR w="9525">
                      <a:solidFill>
                        <a:srgbClr val="D8E2DD"/>
                      </a:solidFill>
                      <a:prstDash val="solid"/>
                    </a:lnR>
                    <a:lnB w="9525">
                      <a:solidFill>
                        <a:srgbClr val="D8E2DD"/>
                      </a:solidFill>
                      <a:prstDash val="solid"/>
                    </a:lnB>
                    <a:solidFill>
                      <a:srgbClr val="F8FAF7"/>
                    </a:solidFill>
                  </a:tcPr>
                </a:tc>
                <a:tc>
                  <a:txBody>
                    <a:bodyPr/>
                    <a:lstStyle/>
                    <a:p>
                      <a:r>
                        <a:rPr sz="1725" b="0">
                          <a:solidFill>
                            <a:srgbClr val="163B35"/>
                          </a:solidFill>
                          <a:latin typeface="Arial"/>
                          <a:ea typeface="Arial"/>
                          <a:cs typeface="Arial"/>
                        </a:rPr>
                        <a:t>380</a:t>
                      </a:r>
                    </a:p>
                  </a:txBody>
                  <a:tcPr marL="91440" marR="91440" marT="45720" marB="45720">
                    <a:lnR w="9525">
                      <a:solidFill>
                        <a:srgbClr val="D8E2DD"/>
                      </a:solidFill>
                      <a:prstDash val="solid"/>
                    </a:lnR>
                    <a:lnB w="9525">
                      <a:solidFill>
                        <a:srgbClr val="D8E2DD"/>
                      </a:solidFill>
                      <a:prstDash val="solid"/>
                    </a:lnB>
                    <a:solidFill>
                      <a:srgbClr val="F8FAF7"/>
                    </a:solidFill>
                  </a:tcPr>
                </a:tc>
                <a:tc>
                  <a:txBody>
                    <a:bodyPr/>
                    <a:lstStyle/>
                    <a:p>
                      <a:r>
                        <a:rPr sz="1725" b="0">
                          <a:solidFill>
                            <a:srgbClr val="163B35"/>
                          </a:solidFill>
                          <a:latin typeface="Arial"/>
                          <a:ea typeface="Arial"/>
                          <a:cs typeface="Arial"/>
                        </a:rPr>
                        <a:t>Abstention threshold only</a:t>
                      </a:r>
                    </a:p>
                  </a:txBody>
                  <a:tcPr marL="91440" marR="91440" marT="45720" marB="45720">
                    <a:lnR w="9525">
                      <a:solidFill>
                        <a:srgbClr val="D8E2DD"/>
                      </a:solidFill>
                      <a:prstDash val="solid"/>
                    </a:lnR>
                    <a:lnB w="9525">
                      <a:solidFill>
                        <a:srgbClr val="D8E2DD"/>
                      </a:solidFill>
                      <a:prstDash val="solid"/>
                    </a:lnB>
                    <a:solidFill>
                      <a:srgbClr val="F8FAF7"/>
                    </a:solidFill>
                  </a:tcPr>
                </a:tc>
              </a:tr>
              <a:tr h="714375">
                <a:tc>
                  <a:txBody>
                    <a:bodyPr/>
                    <a:lstStyle/>
                    <a:p>
                      <a:r>
                        <a:rPr sz="1725" b="0">
                          <a:solidFill>
                            <a:srgbClr val="163B35"/>
                          </a:solidFill>
                          <a:latin typeface="Arial"/>
                          <a:ea typeface="Arial"/>
                          <a:cs typeface="Arial"/>
                        </a:rPr>
                        <a:t>Test</a:t>
                      </a:r>
                    </a:p>
                  </a:txBody>
                  <a:tcPr marL="91440" marR="91440" marT="45720" marB="45720">
                    <a:lnL w="9525">
                      <a:solidFill>
                        <a:srgbClr val="D8E2DD"/>
                      </a:solidFill>
                      <a:prstDash val="solid"/>
                    </a:lnL>
                    <a:lnR w="9525">
                      <a:solidFill>
                        <a:srgbClr val="D8E2DD"/>
                      </a:solidFill>
                      <a:prstDash val="solid"/>
                    </a:lnR>
                    <a:lnB w="9525">
                      <a:solidFill>
                        <a:srgbClr val="D8E2DD"/>
                      </a:solidFill>
                      <a:prstDash val="solid"/>
                    </a:lnB>
                    <a:solidFill>
                      <a:srgbClr val="FFFFFF"/>
                    </a:solidFill>
                  </a:tcPr>
                </a:tc>
                <a:tc>
                  <a:txBody>
                    <a:bodyPr/>
                    <a:lstStyle/>
                    <a:p>
                      <a:r>
                        <a:rPr sz="1725" b="0">
                          <a:solidFill>
                            <a:srgbClr val="163B35"/>
                          </a:solidFill>
                          <a:latin typeface="Arial"/>
                          <a:ea typeface="Arial"/>
                          <a:cs typeface="Arial"/>
                        </a:rPr>
                        <a:t>377</a:t>
                      </a:r>
                    </a:p>
                  </a:txBody>
                  <a:tcPr marL="91440" marR="91440" marT="45720" marB="45720">
                    <a:lnR w="9525">
                      <a:solidFill>
                        <a:srgbClr val="D8E2DD"/>
                      </a:solidFill>
                      <a:prstDash val="solid"/>
                    </a:lnR>
                    <a:lnB w="9525">
                      <a:solidFill>
                        <a:srgbClr val="D8E2DD"/>
                      </a:solidFill>
                      <a:prstDash val="solid"/>
                    </a:lnB>
                    <a:solidFill>
                      <a:srgbClr val="FFFFFF"/>
                    </a:solidFill>
                  </a:tcPr>
                </a:tc>
                <a:tc>
                  <a:txBody>
                    <a:bodyPr/>
                    <a:lstStyle/>
                    <a:p>
                      <a:r>
                        <a:rPr sz="1725" b="0">
                          <a:solidFill>
                            <a:srgbClr val="163B35"/>
                          </a:solidFill>
                          <a:latin typeface="Arial"/>
                          <a:ea typeface="Arial"/>
                          <a:cs typeface="Arial"/>
                        </a:rPr>
                        <a:t>Frozen final evaluation</a:t>
                      </a:r>
                    </a:p>
                  </a:txBody>
                  <a:tcPr marL="91440" marR="91440" marT="45720" marB="45720">
                    <a:lnR w="9525">
                      <a:solidFill>
                        <a:srgbClr val="D8E2DD"/>
                      </a:solidFill>
                      <a:prstDash val="solid"/>
                    </a:lnR>
                    <a:lnB w="9525">
                      <a:solidFill>
                        <a:srgbClr val="D8E2DD"/>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7A5D637-D013-4803-A9B0-C4999F85DDF3}"/>
              </a:ext>
            </a:extLst>
          </p:cNvPr>
          <p:cNvSpPr>
            <a:spLocks xmlns:a="http://schemas.openxmlformats.org/drawingml/2006/main" noGrp="1"/>
          </p:cNvSpPr>
          <p:nvPr/>
        </p:nvSpPr>
        <p:spPr>
          <a:xfrm xmlns:a="http://schemas.openxmlformats.org/drawingml/2006/main">
            <a:off x="609600" y="50387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B35"/>
                </a:solidFill>
                <a:latin typeface="Arial"/>
                <a:ea typeface="Arial"/>
                <a:cs typeface="Arial"/>
              </a:defRPr>
            </a:defPPr>
            <a:lvl1pPr>
              <a:defRPr sz="2025" b="0">
                <a:solidFill>
                  <a:srgbClr val="163B35"/>
                </a:solidFill>
                <a:latin typeface="Arial"/>
                <a:ea typeface="Arial"/>
                <a:cs typeface="Arial"/>
              </a:defRPr>
            </a:lvl1pPr>
            <a:lvl2pPr>
              <a:defRPr sz="2025" b="0">
                <a:solidFill>
                  <a:srgbClr val="163B35"/>
                </a:solidFill>
                <a:latin typeface="Arial"/>
                <a:ea typeface="Arial"/>
                <a:cs typeface="Arial"/>
              </a:defRPr>
            </a:lvl2pPr>
            <a:lvl3pPr>
              <a:defRPr sz="2025" b="0">
                <a:solidFill>
                  <a:srgbClr val="163B35"/>
                </a:solidFill>
                <a:latin typeface="Arial"/>
                <a:ea typeface="Arial"/>
                <a:cs typeface="Arial"/>
              </a:defRPr>
            </a:lvl3pPr>
            <a:lvl4pPr>
              <a:defRPr sz="2025" b="0">
                <a:solidFill>
                  <a:srgbClr val="163B35"/>
                </a:solidFill>
                <a:latin typeface="Arial"/>
                <a:ea typeface="Arial"/>
                <a:cs typeface="Arial"/>
              </a:defRPr>
            </a:lvl4pPr>
            <a:lvl5pPr>
              <a:defRPr sz="2025" b="0">
                <a:solidFill>
                  <a:srgbClr val="163B35"/>
                </a:solidFill>
                <a:latin typeface="Arial"/>
                <a:ea typeface="Arial"/>
                <a:cs typeface="Arial"/>
              </a:defRPr>
            </a:lvl5pPr>
            <a:lvl6pPr>
              <a:defRPr sz="2025" b="0">
                <a:solidFill>
                  <a:srgbClr val="163B35"/>
                </a:solidFill>
                <a:latin typeface="Arial"/>
                <a:ea typeface="Arial"/>
                <a:cs typeface="Arial"/>
              </a:defRPr>
            </a:lvl6pPr>
            <a:lvl7pPr>
              <a:defRPr sz="2025" b="0">
                <a:solidFill>
                  <a:srgbClr val="163B35"/>
                </a:solidFill>
                <a:latin typeface="Arial"/>
                <a:ea typeface="Arial"/>
                <a:cs typeface="Arial"/>
              </a:defRPr>
            </a:lvl7pPr>
            <a:lvl8pPr>
              <a:defRPr sz="2025" b="0">
                <a:solidFill>
                  <a:srgbClr val="163B35"/>
                </a:solidFill>
                <a:latin typeface="Arial"/>
                <a:ea typeface="Arial"/>
                <a:cs typeface="Arial"/>
              </a:defRPr>
            </a:lvl8pPr>
            <a:lvl9pPr>
              <a:defRPr sz="2025" b="0">
                <a:solidFill>
                  <a:srgbClr val="163B35"/>
                </a:solidFill>
                <a:latin typeface="Arial"/>
                <a:ea typeface="Arial"/>
                <a:cs typeface="Arial"/>
              </a:defRPr>
            </a:lvl9pPr>
          </a:lstStyle>
          <a:p xmlns:a="http://schemas.openxmlformats.org/drawingml/2006/main">
            <a:pPr>
              <a:defRPr sz="2025" b="0">
                <a:solidFill>
                  <a:srgbClr val="163B35"/>
                </a:solidFill>
                <a:latin typeface="Arial"/>
                <a:ea typeface="Arial"/>
                <a:cs typeface="Arial"/>
              </a:defRPr>
            </a:pPr>
            <a:r>
              <a:rPr sz="2025" b="0">
                <a:solidFill>
                  <a:srgbClr val="163B35"/>
                </a:solidFill>
                <a:latin typeface="Arial"/>
                <a:ea typeface="Arial"/>
                <a:cs typeface="Arial"/>
              </a:rPr>
              <a:t>Five saved training folds with seed 42</a:t>
            </a:r>
          </a:p>
        </p:txBody>
      </p:sp>
      <p:sp>
        <p:nvSpPr>
          <p:cNvPr id="5" name="">
            <a:extLst xmlns:a="http://schemas.openxmlformats.org/drawingml/2006/main">
              <a:ext uri="{FF2B5EF4-FFF2-40B4-BE49-F238E27FC236}">
                <a16:creationId xmlns:a16="http://schemas.microsoft.com/office/drawing/2014/main" id="{400AA4D7-9814-4DE0-8E9C-85E04AC07163}"/>
              </a:ext>
            </a:extLst>
          </p:cNvPr>
          <p:cNvSpPr>
            <a:spLocks xmlns:a="http://schemas.openxmlformats.org/drawingml/2006/main" noGrp="1"/>
          </p:cNvSpPr>
          <p:nvPr/>
        </p:nvSpPr>
        <p:spPr>
          <a:xfrm xmlns:a="http://schemas.openxmlformats.org/drawingml/2006/main">
            <a:off x="609600" y="56102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B35"/>
                </a:solidFill>
                <a:latin typeface="Arial"/>
                <a:ea typeface="Arial"/>
                <a:cs typeface="Arial"/>
              </a:defRPr>
            </a:defPPr>
            <a:lvl1pPr>
              <a:defRPr sz="2025" b="0">
                <a:solidFill>
                  <a:srgbClr val="163B35"/>
                </a:solidFill>
                <a:latin typeface="Arial"/>
                <a:ea typeface="Arial"/>
                <a:cs typeface="Arial"/>
              </a:defRPr>
            </a:lvl1pPr>
            <a:lvl2pPr>
              <a:defRPr sz="2025" b="0">
                <a:solidFill>
                  <a:srgbClr val="163B35"/>
                </a:solidFill>
                <a:latin typeface="Arial"/>
                <a:ea typeface="Arial"/>
                <a:cs typeface="Arial"/>
              </a:defRPr>
            </a:lvl2pPr>
            <a:lvl3pPr>
              <a:defRPr sz="2025" b="0">
                <a:solidFill>
                  <a:srgbClr val="163B35"/>
                </a:solidFill>
                <a:latin typeface="Arial"/>
                <a:ea typeface="Arial"/>
                <a:cs typeface="Arial"/>
              </a:defRPr>
            </a:lvl3pPr>
            <a:lvl4pPr>
              <a:defRPr sz="2025" b="0">
                <a:solidFill>
                  <a:srgbClr val="163B35"/>
                </a:solidFill>
                <a:latin typeface="Arial"/>
                <a:ea typeface="Arial"/>
                <a:cs typeface="Arial"/>
              </a:defRPr>
            </a:lvl4pPr>
            <a:lvl5pPr>
              <a:defRPr sz="2025" b="0">
                <a:solidFill>
                  <a:srgbClr val="163B35"/>
                </a:solidFill>
                <a:latin typeface="Arial"/>
                <a:ea typeface="Arial"/>
                <a:cs typeface="Arial"/>
              </a:defRPr>
            </a:lvl5pPr>
            <a:lvl6pPr>
              <a:defRPr sz="2025" b="0">
                <a:solidFill>
                  <a:srgbClr val="163B35"/>
                </a:solidFill>
                <a:latin typeface="Arial"/>
                <a:ea typeface="Arial"/>
                <a:cs typeface="Arial"/>
              </a:defRPr>
            </a:lvl6pPr>
            <a:lvl7pPr>
              <a:defRPr sz="2025" b="0">
                <a:solidFill>
                  <a:srgbClr val="163B35"/>
                </a:solidFill>
                <a:latin typeface="Arial"/>
                <a:ea typeface="Arial"/>
                <a:cs typeface="Arial"/>
              </a:defRPr>
            </a:lvl7pPr>
            <a:lvl8pPr>
              <a:defRPr sz="2025" b="0">
                <a:solidFill>
                  <a:srgbClr val="163B35"/>
                </a:solidFill>
                <a:latin typeface="Arial"/>
                <a:ea typeface="Arial"/>
                <a:cs typeface="Arial"/>
              </a:defRPr>
            </a:lvl8pPr>
            <a:lvl9pPr>
              <a:defRPr sz="2025" b="0">
                <a:solidFill>
                  <a:srgbClr val="163B35"/>
                </a:solidFill>
                <a:latin typeface="Arial"/>
                <a:ea typeface="Arial"/>
                <a:cs typeface="Arial"/>
              </a:defRPr>
            </a:lvl9pPr>
          </a:lstStyle>
          <a:p xmlns:a="http://schemas.openxmlformats.org/drawingml/2006/main">
            <a:pPr>
              <a:defRPr sz="2025" b="0">
                <a:solidFill>
                  <a:srgbClr val="163B35"/>
                </a:solidFill>
                <a:latin typeface="Arial"/>
                <a:ea typeface="Arial"/>
                <a:cs typeface="Arial"/>
              </a:defRPr>
            </a:pPr>
            <a:r>
              <a:rPr sz="2025" b="0">
                <a:solidFill>
                  <a:srgbClr val="163B35"/>
                </a:solidFill>
                <a:latin typeface="Arial"/>
                <a:ea typeface="Arial"/>
                <a:cs typeface="Arial"/>
              </a:rPr>
              <a:t>Detected duplicate groups never cross partitions</a:t>
            </a:r>
          </a:p>
        </p:txBody>
      </p:sp>
    </p:spTree>
    <p:extLst>
      <p:ext uri="{BB962C8B-B14F-4D97-AF65-F5344CB8AC3E}">
        <p14:creationId xmlns:p14="http://schemas.microsoft.com/office/powerpoint/2010/main" val="1508247599"/>
      </p:ext>
    </p:extLst>
  </p:cSld>
</p:sld>
</file>

<file path=ppt/slides/slide5.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505242F-B3C7-48AB-9EC3-304FC0569845}"/>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63B35"/>
                </a:solidFill>
                <a:latin typeface="Arial"/>
                <a:ea typeface="Arial"/>
                <a:cs typeface="Arial"/>
              </a:defRPr>
            </a:defPPr>
            <a:lvl1pPr>
              <a:defRPr sz="3300" b="1">
                <a:solidFill>
                  <a:srgbClr val="163B35"/>
                </a:solidFill>
                <a:latin typeface="Arial"/>
                <a:ea typeface="Arial"/>
                <a:cs typeface="Arial"/>
              </a:defRPr>
            </a:lvl1pPr>
            <a:lvl2pPr>
              <a:defRPr sz="3300" b="1">
                <a:solidFill>
                  <a:srgbClr val="163B35"/>
                </a:solidFill>
                <a:latin typeface="Arial"/>
                <a:ea typeface="Arial"/>
                <a:cs typeface="Arial"/>
              </a:defRPr>
            </a:lvl2pPr>
            <a:lvl3pPr>
              <a:defRPr sz="3300" b="1">
                <a:solidFill>
                  <a:srgbClr val="163B35"/>
                </a:solidFill>
                <a:latin typeface="Arial"/>
                <a:ea typeface="Arial"/>
                <a:cs typeface="Arial"/>
              </a:defRPr>
            </a:lvl3pPr>
            <a:lvl4pPr>
              <a:defRPr sz="3300" b="1">
                <a:solidFill>
                  <a:srgbClr val="163B35"/>
                </a:solidFill>
                <a:latin typeface="Arial"/>
                <a:ea typeface="Arial"/>
                <a:cs typeface="Arial"/>
              </a:defRPr>
            </a:lvl4pPr>
            <a:lvl5pPr>
              <a:defRPr sz="3300" b="1">
                <a:solidFill>
                  <a:srgbClr val="163B35"/>
                </a:solidFill>
                <a:latin typeface="Arial"/>
                <a:ea typeface="Arial"/>
                <a:cs typeface="Arial"/>
              </a:defRPr>
            </a:lvl5pPr>
            <a:lvl6pPr>
              <a:defRPr sz="3300" b="1">
                <a:solidFill>
                  <a:srgbClr val="163B35"/>
                </a:solidFill>
                <a:latin typeface="Arial"/>
                <a:ea typeface="Arial"/>
                <a:cs typeface="Arial"/>
              </a:defRPr>
            </a:lvl6pPr>
            <a:lvl7pPr>
              <a:defRPr sz="3300" b="1">
                <a:solidFill>
                  <a:srgbClr val="163B35"/>
                </a:solidFill>
                <a:latin typeface="Arial"/>
                <a:ea typeface="Arial"/>
                <a:cs typeface="Arial"/>
              </a:defRPr>
            </a:lvl7pPr>
            <a:lvl8pPr>
              <a:defRPr sz="3300" b="1">
                <a:solidFill>
                  <a:srgbClr val="163B35"/>
                </a:solidFill>
                <a:latin typeface="Arial"/>
                <a:ea typeface="Arial"/>
                <a:cs typeface="Arial"/>
              </a:defRPr>
            </a:lvl8pPr>
            <a:lvl9pPr>
              <a:defRPr sz="3300" b="1">
                <a:solidFill>
                  <a:srgbClr val="163B35"/>
                </a:solidFill>
                <a:latin typeface="Arial"/>
                <a:ea typeface="Arial"/>
                <a:cs typeface="Arial"/>
              </a:defRPr>
            </a:lvl9pPr>
          </a:lstStyle>
          <a:p xmlns:a="http://schemas.openxmlformats.org/drawingml/2006/main">
            <a:pPr>
              <a:defRPr sz="3300" b="1">
                <a:solidFill>
                  <a:srgbClr val="163B35"/>
                </a:solidFill>
                <a:latin typeface="Arial"/>
                <a:ea typeface="Arial"/>
                <a:cs typeface="Arial"/>
              </a:defRPr>
            </a:pPr>
            <a:r>
              <a:rPr sz="3300" b="1">
                <a:solidFill>
                  <a:srgbClr val="163B35"/>
                </a:solidFill>
                <a:latin typeface="Arial"/>
                <a:ea typeface="Arial"/>
                <a:cs typeface="Arial"/>
              </a:rPr>
              <a:t>Baseline features capture color, shape and texture</a:t>
            </a:r>
          </a:p>
        </p:txBody>
      </p:sp>
      <p:sp>
        <p:nvSpPr>
          <p:cNvPr id="2" name="">
            <a:extLst xmlns:a="http://schemas.openxmlformats.org/drawingml/2006/main">
              <a:ext uri="{FF2B5EF4-FFF2-40B4-BE49-F238E27FC236}">
                <a16:creationId xmlns:a16="http://schemas.microsoft.com/office/drawing/2014/main" id="{23559CF1-F828-4506-9738-B893AACECFA6}"/>
              </a:ext>
            </a:extLst>
          </p:cNvPr>
          <p:cNvSpPr>
            <a:spLocks xmlns:a="http://schemas.openxmlformats.org/drawingml/2006/main" noGrp="1"/>
          </p:cNvSpPr>
          <p:nvPr/>
        </p:nvSpPr>
        <p:spPr>
          <a:xfrm xmlns:a="http://schemas.openxmlformats.org/drawingml/2006/main">
            <a:off x="11068050" y="633412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36C66"/>
                </a:solidFill>
                <a:latin typeface="Arial"/>
                <a:ea typeface="Arial"/>
                <a:cs typeface="Arial"/>
              </a:defRPr>
            </a:defPPr>
            <a:lvl1pPr>
              <a:defRPr sz="1350" b="0">
                <a:solidFill>
                  <a:srgbClr val="536C66"/>
                </a:solidFill>
                <a:latin typeface="Arial"/>
                <a:ea typeface="Arial"/>
                <a:cs typeface="Arial"/>
              </a:defRPr>
            </a:lvl1pPr>
            <a:lvl2pPr>
              <a:defRPr sz="1350" b="0">
                <a:solidFill>
                  <a:srgbClr val="536C66"/>
                </a:solidFill>
                <a:latin typeface="Arial"/>
                <a:ea typeface="Arial"/>
                <a:cs typeface="Arial"/>
              </a:defRPr>
            </a:lvl2pPr>
            <a:lvl3pPr>
              <a:defRPr sz="1350" b="0">
                <a:solidFill>
                  <a:srgbClr val="536C66"/>
                </a:solidFill>
                <a:latin typeface="Arial"/>
                <a:ea typeface="Arial"/>
                <a:cs typeface="Arial"/>
              </a:defRPr>
            </a:lvl3pPr>
            <a:lvl4pPr>
              <a:defRPr sz="1350" b="0">
                <a:solidFill>
                  <a:srgbClr val="536C66"/>
                </a:solidFill>
                <a:latin typeface="Arial"/>
                <a:ea typeface="Arial"/>
                <a:cs typeface="Arial"/>
              </a:defRPr>
            </a:lvl4pPr>
            <a:lvl5pPr>
              <a:defRPr sz="1350" b="0">
                <a:solidFill>
                  <a:srgbClr val="536C66"/>
                </a:solidFill>
                <a:latin typeface="Arial"/>
                <a:ea typeface="Arial"/>
                <a:cs typeface="Arial"/>
              </a:defRPr>
            </a:lvl5pPr>
            <a:lvl6pPr>
              <a:defRPr sz="1350" b="0">
                <a:solidFill>
                  <a:srgbClr val="536C66"/>
                </a:solidFill>
                <a:latin typeface="Arial"/>
                <a:ea typeface="Arial"/>
                <a:cs typeface="Arial"/>
              </a:defRPr>
            </a:lvl6pPr>
            <a:lvl7pPr>
              <a:defRPr sz="1350" b="0">
                <a:solidFill>
                  <a:srgbClr val="536C66"/>
                </a:solidFill>
                <a:latin typeface="Arial"/>
                <a:ea typeface="Arial"/>
                <a:cs typeface="Arial"/>
              </a:defRPr>
            </a:lvl7pPr>
            <a:lvl8pPr>
              <a:defRPr sz="1350" b="0">
                <a:solidFill>
                  <a:srgbClr val="536C66"/>
                </a:solidFill>
                <a:latin typeface="Arial"/>
                <a:ea typeface="Arial"/>
                <a:cs typeface="Arial"/>
              </a:defRPr>
            </a:lvl8pPr>
            <a:lvl9pPr>
              <a:defRPr sz="1350" b="0">
                <a:solidFill>
                  <a:srgbClr val="536C66"/>
                </a:solidFill>
                <a:latin typeface="Arial"/>
                <a:ea typeface="Arial"/>
                <a:cs typeface="Arial"/>
              </a:defRPr>
            </a:lvl9pPr>
          </a:lstStyle>
          <a:p xmlns:a="http://schemas.openxmlformats.org/drawingml/2006/main">
            <a:pPr>
              <a:defRPr sz="1350" b="0">
                <a:solidFill>
                  <a:srgbClr val="536C66"/>
                </a:solidFill>
                <a:latin typeface="Arial"/>
                <a:ea typeface="Arial"/>
                <a:cs typeface="Arial"/>
              </a:defRPr>
            </a:pPr>
            <a:r>
              <a:rPr sz="1350" b="0">
                <a:solidFill>
                  <a:srgbClr val="536C66"/>
                </a:solidFill>
                <a:latin typeface="Arial"/>
                <a:ea typeface="Arial"/>
                <a:cs typeface="Arial"/>
              </a:rPr>
              <a:t>05</a:t>
            </a:r>
          </a:p>
        </p:txBody>
      </p:sp>
      <p:graphicFrame>
        <p:nvGraphicFramePr>
          <p:cNvPr id="3" name="">
            <a:extLst xmlns:a="http://schemas.openxmlformats.org/drawingml/2006/main">
              <a:ext uri="{FF2B5EF4-FFF2-40B4-BE49-F238E27FC236}">
                <a16:creationId xmlns:a16="http://schemas.microsoft.com/office/drawing/2014/main" id="{639E6ED5-DBF3-4068-B006-94296A750813}"/>
              </a:ext>
            </a:extLst>
          </p:cNvPr>
          <p:cNvGraphicFramePr/>
          <p:nvPr/>
        </p:nvGraphicFramePr>
        <p:xfrm>
          <a:off xmlns:a="http://schemas.openxmlformats.org/drawingml/2006/main" x="609600" y="1752600"/>
          <a:ext xmlns:a="http://schemas.openxmlformats.org/drawingml/2006/main" cx="10972800" cy="3333750"/>
        </p:xfrm>
        <a:graphic xmlns:a="http://schemas.openxmlformats.org/drawingml/2006/main">
          <a:graphicData uri="http://schemas.openxmlformats.org/drawingml/2006/table">
            <a:tbl>
              <a:tblPr/>
              <a:tblGrid>
                <a:gridCol w="2857500"/>
                <a:gridCol w="5905500"/>
                <a:gridCol w="2209800"/>
              </a:tblGrid>
              <a:tr h="666750">
                <a:tc>
                  <a:txBody>
                    <a:bodyPr/>
                    <a:lstStyle/>
                    <a:p>
                      <a:r>
                        <a:rPr sz="1725" b="1">
                          <a:solidFill>
                            <a:srgbClr val="FFFFFF"/>
                          </a:solidFill>
                          <a:latin typeface="Arial"/>
                          <a:ea typeface="Arial"/>
                          <a:cs typeface="Arial"/>
                        </a:rPr>
                        <a:t>Descriptor</a:t>
                      </a:r>
                    </a:p>
                  </a:txBody>
                  <a:tcPr marL="91440" marR="91440" marT="45720" marB="45720">
                    <a:lnL w="9525">
                      <a:solidFill>
                        <a:srgbClr val="D8E2DD"/>
                      </a:solidFill>
                      <a:prstDash val="solid"/>
                    </a:lnL>
                    <a:lnR w="9525">
                      <a:solidFill>
                        <a:srgbClr val="D8E2DD"/>
                      </a:solidFill>
                      <a:prstDash val="solid"/>
                    </a:lnR>
                    <a:lnT w="9525">
                      <a:solidFill>
                        <a:srgbClr val="D8E2DD"/>
                      </a:solidFill>
                      <a:prstDash val="solid"/>
                    </a:lnT>
                    <a:lnB w="9525">
                      <a:solidFill>
                        <a:srgbClr val="D8E2DD"/>
                      </a:solidFill>
                      <a:prstDash val="solid"/>
                    </a:lnB>
                    <a:solidFill>
                      <a:srgbClr val="163B35"/>
                    </a:solidFill>
                  </a:tcPr>
                </a:tc>
                <a:tc>
                  <a:txBody>
                    <a:bodyPr/>
                    <a:lstStyle/>
                    <a:p>
                      <a:r>
                        <a:rPr sz="1725" b="1">
                          <a:solidFill>
                            <a:srgbClr val="FFFFFF"/>
                          </a:solidFill>
                          <a:latin typeface="Arial"/>
                          <a:ea typeface="Arial"/>
                          <a:cs typeface="Arial"/>
                        </a:rPr>
                        <a:t>What it represents</a:t>
                      </a:r>
                    </a:p>
                  </a:txBody>
                  <a:tcPr marL="91440" marR="91440" marT="45720" marB="45720">
                    <a:lnR w="9525">
                      <a:solidFill>
                        <a:srgbClr val="D8E2DD"/>
                      </a:solidFill>
                      <a:prstDash val="solid"/>
                    </a:lnR>
                    <a:lnT w="9525">
                      <a:solidFill>
                        <a:srgbClr val="D8E2DD"/>
                      </a:solidFill>
                      <a:prstDash val="solid"/>
                    </a:lnT>
                    <a:lnB w="9525">
                      <a:solidFill>
                        <a:srgbClr val="D8E2DD"/>
                      </a:solidFill>
                      <a:prstDash val="solid"/>
                    </a:lnB>
                    <a:solidFill>
                      <a:srgbClr val="163B35"/>
                    </a:solidFill>
                  </a:tcPr>
                </a:tc>
                <a:tc>
                  <a:txBody>
                    <a:bodyPr/>
                    <a:lstStyle/>
                    <a:p>
                      <a:r>
                        <a:rPr sz="1725" b="1">
                          <a:solidFill>
                            <a:srgbClr val="FFFFFF"/>
                          </a:solidFill>
                          <a:latin typeface="Arial"/>
                          <a:ea typeface="Arial"/>
                          <a:cs typeface="Arial"/>
                        </a:rPr>
                        <a:t>Dimensions</a:t>
                      </a:r>
                    </a:p>
                  </a:txBody>
                  <a:tcPr marL="91440" marR="91440" marT="45720" marB="45720">
                    <a:lnR w="9525">
                      <a:solidFill>
                        <a:srgbClr val="D8E2DD"/>
                      </a:solidFill>
                      <a:prstDash val="solid"/>
                    </a:lnR>
                    <a:lnT w="9525">
                      <a:solidFill>
                        <a:srgbClr val="D8E2DD"/>
                      </a:solidFill>
                      <a:prstDash val="solid"/>
                    </a:lnT>
                    <a:lnB w="9525">
                      <a:solidFill>
                        <a:srgbClr val="D8E2DD"/>
                      </a:solidFill>
                      <a:prstDash val="solid"/>
                    </a:lnB>
                    <a:solidFill>
                      <a:srgbClr val="163B35"/>
                    </a:solidFill>
                  </a:tcPr>
                </a:tc>
              </a:tr>
              <a:tr h="666750">
                <a:tc>
                  <a:txBody>
                    <a:bodyPr/>
                    <a:lstStyle/>
                    <a:p>
                      <a:r>
                        <a:rPr sz="1725" b="0">
                          <a:solidFill>
                            <a:srgbClr val="163B35"/>
                          </a:solidFill>
                          <a:latin typeface="Arial"/>
                          <a:ea typeface="Arial"/>
                          <a:cs typeface="Arial"/>
                        </a:rPr>
                        <a:t>HSV histograms</a:t>
                      </a:r>
                    </a:p>
                  </a:txBody>
                  <a:tcPr marL="91440" marR="91440" marT="45720" marB="45720">
                    <a:lnL w="9525">
                      <a:solidFill>
                        <a:srgbClr val="D8E2DD"/>
                      </a:solidFill>
                      <a:prstDash val="solid"/>
                    </a:lnL>
                    <a:lnR w="9525">
                      <a:solidFill>
                        <a:srgbClr val="D8E2DD"/>
                      </a:solidFill>
                      <a:prstDash val="solid"/>
                    </a:lnR>
                    <a:lnB w="9525">
                      <a:solidFill>
                        <a:srgbClr val="D8E2DD"/>
                      </a:solidFill>
                      <a:prstDash val="solid"/>
                    </a:lnB>
                    <a:solidFill>
                      <a:srgbClr val="FFFFFF"/>
                    </a:solidFill>
                  </a:tcPr>
                </a:tc>
                <a:tc>
                  <a:txBody>
                    <a:bodyPr/>
                    <a:lstStyle/>
                    <a:p>
                      <a:r>
                        <a:rPr sz="1725" b="0">
                          <a:solidFill>
                            <a:srgbClr val="163B35"/>
                          </a:solidFill>
                          <a:latin typeface="Arial"/>
                          <a:ea typeface="Arial"/>
                          <a:cs typeface="Arial"/>
                        </a:rPr>
                        <a:t>Color distribution</a:t>
                      </a:r>
                    </a:p>
                  </a:txBody>
                  <a:tcPr marL="91440" marR="91440" marT="45720" marB="45720">
                    <a:lnR w="9525">
                      <a:solidFill>
                        <a:srgbClr val="D8E2DD"/>
                      </a:solidFill>
                      <a:prstDash val="solid"/>
                    </a:lnR>
                    <a:lnB w="9525">
                      <a:solidFill>
                        <a:srgbClr val="D8E2DD"/>
                      </a:solidFill>
                      <a:prstDash val="solid"/>
                    </a:lnB>
                    <a:solidFill>
                      <a:srgbClr val="FFFFFF"/>
                    </a:solidFill>
                  </a:tcPr>
                </a:tc>
                <a:tc>
                  <a:txBody>
                    <a:bodyPr/>
                    <a:lstStyle/>
                    <a:p>
                      <a:r>
                        <a:rPr sz="1725" b="0">
                          <a:solidFill>
                            <a:srgbClr val="163B35"/>
                          </a:solidFill>
                          <a:latin typeface="Arial"/>
                          <a:ea typeface="Arial"/>
                          <a:cs typeface="Arial"/>
                        </a:rPr>
                        <a:t>32</a:t>
                      </a:r>
                    </a:p>
                  </a:txBody>
                  <a:tcPr marL="91440" marR="91440" marT="45720" marB="45720">
                    <a:lnR w="9525">
                      <a:solidFill>
                        <a:srgbClr val="D8E2DD"/>
                      </a:solidFill>
                      <a:prstDash val="solid"/>
                    </a:lnR>
                    <a:lnB w="9525">
                      <a:solidFill>
                        <a:srgbClr val="D8E2DD"/>
                      </a:solidFill>
                      <a:prstDash val="solid"/>
                    </a:lnB>
                    <a:solidFill>
                      <a:srgbClr val="FFFFFF"/>
                    </a:solidFill>
                  </a:tcPr>
                </a:tc>
              </a:tr>
              <a:tr h="666750">
                <a:tc>
                  <a:txBody>
                    <a:bodyPr/>
                    <a:lstStyle/>
                    <a:p>
                      <a:r>
                        <a:rPr sz="1725" b="0">
                          <a:solidFill>
                            <a:srgbClr val="163B35"/>
                          </a:solidFill>
                          <a:latin typeface="Arial"/>
                          <a:ea typeface="Arial"/>
                          <a:cs typeface="Arial"/>
                        </a:rPr>
                        <a:t>HOG</a:t>
                      </a:r>
                    </a:p>
                  </a:txBody>
                  <a:tcPr marL="91440" marR="91440" marT="45720" marB="45720">
                    <a:lnL w="9525">
                      <a:solidFill>
                        <a:srgbClr val="D8E2DD"/>
                      </a:solidFill>
                      <a:prstDash val="solid"/>
                    </a:lnL>
                    <a:lnR w="9525">
                      <a:solidFill>
                        <a:srgbClr val="D8E2DD"/>
                      </a:solidFill>
                      <a:prstDash val="solid"/>
                    </a:lnR>
                    <a:lnB w="9525">
                      <a:solidFill>
                        <a:srgbClr val="D8E2DD"/>
                      </a:solidFill>
                      <a:prstDash val="solid"/>
                    </a:lnB>
                    <a:solidFill>
                      <a:srgbClr val="F8FAF7"/>
                    </a:solidFill>
                  </a:tcPr>
                </a:tc>
                <a:tc>
                  <a:txBody>
                    <a:bodyPr/>
                    <a:lstStyle/>
                    <a:p>
                      <a:r>
                        <a:rPr sz="1725" b="0">
                          <a:solidFill>
                            <a:srgbClr val="163B35"/>
                          </a:solidFill>
                          <a:latin typeface="Arial"/>
                          <a:ea typeface="Arial"/>
                          <a:cs typeface="Arial"/>
                        </a:rPr>
                        <a:t>Local edge orientations</a:t>
                      </a:r>
                    </a:p>
                  </a:txBody>
                  <a:tcPr marL="91440" marR="91440" marT="45720" marB="45720">
                    <a:lnR w="9525">
                      <a:solidFill>
                        <a:srgbClr val="D8E2DD"/>
                      </a:solidFill>
                      <a:prstDash val="solid"/>
                    </a:lnR>
                    <a:lnB w="9525">
                      <a:solidFill>
                        <a:srgbClr val="D8E2DD"/>
                      </a:solidFill>
                      <a:prstDash val="solid"/>
                    </a:lnB>
                    <a:solidFill>
                      <a:srgbClr val="F8FAF7"/>
                    </a:solidFill>
                  </a:tcPr>
                </a:tc>
                <a:tc>
                  <a:txBody>
                    <a:bodyPr/>
                    <a:lstStyle/>
                    <a:p>
                      <a:r>
                        <a:rPr sz="1725" b="0">
                          <a:solidFill>
                            <a:srgbClr val="163B35"/>
                          </a:solidFill>
                          <a:latin typeface="Arial"/>
                          <a:ea typeface="Arial"/>
                          <a:cs typeface="Arial"/>
                        </a:rPr>
                        <a:t>1,764</a:t>
                      </a:r>
                    </a:p>
                  </a:txBody>
                  <a:tcPr marL="91440" marR="91440" marT="45720" marB="45720">
                    <a:lnR w="9525">
                      <a:solidFill>
                        <a:srgbClr val="D8E2DD"/>
                      </a:solidFill>
                      <a:prstDash val="solid"/>
                    </a:lnR>
                    <a:lnB w="9525">
                      <a:solidFill>
                        <a:srgbClr val="D8E2DD"/>
                      </a:solidFill>
                      <a:prstDash val="solid"/>
                    </a:lnB>
                    <a:solidFill>
                      <a:srgbClr val="F8FAF7"/>
                    </a:solidFill>
                  </a:tcPr>
                </a:tc>
              </a:tr>
              <a:tr h="666750">
                <a:tc>
                  <a:txBody>
                    <a:bodyPr/>
                    <a:lstStyle/>
                    <a:p>
                      <a:r>
                        <a:rPr sz="1725" b="0">
                          <a:solidFill>
                            <a:srgbClr val="163B35"/>
                          </a:solidFill>
                          <a:latin typeface="Arial"/>
                          <a:ea typeface="Arial"/>
                          <a:cs typeface="Arial"/>
                        </a:rPr>
                        <a:t>Uniform LBP</a:t>
                      </a:r>
                    </a:p>
                  </a:txBody>
                  <a:tcPr marL="91440" marR="91440" marT="45720" marB="45720">
                    <a:lnL w="9525">
                      <a:solidFill>
                        <a:srgbClr val="D8E2DD"/>
                      </a:solidFill>
                      <a:prstDash val="solid"/>
                    </a:lnL>
                    <a:lnR w="9525">
                      <a:solidFill>
                        <a:srgbClr val="D8E2DD"/>
                      </a:solidFill>
                      <a:prstDash val="solid"/>
                    </a:lnR>
                    <a:lnB w="9525">
                      <a:solidFill>
                        <a:srgbClr val="D8E2DD"/>
                      </a:solidFill>
                      <a:prstDash val="solid"/>
                    </a:lnB>
                    <a:solidFill>
                      <a:srgbClr val="FFFFFF"/>
                    </a:solidFill>
                  </a:tcPr>
                </a:tc>
                <a:tc>
                  <a:txBody>
                    <a:bodyPr/>
                    <a:lstStyle/>
                    <a:p>
                      <a:r>
                        <a:rPr sz="1725" b="0">
                          <a:solidFill>
                            <a:srgbClr val="163B35"/>
                          </a:solidFill>
                          <a:latin typeface="Arial"/>
                          <a:ea typeface="Arial"/>
                          <a:cs typeface="Arial"/>
                        </a:rPr>
                        <a:t>Local texture patterns</a:t>
                      </a:r>
                    </a:p>
                  </a:txBody>
                  <a:tcPr marL="91440" marR="91440" marT="45720" marB="45720">
                    <a:lnR w="9525">
                      <a:solidFill>
                        <a:srgbClr val="D8E2DD"/>
                      </a:solidFill>
                      <a:prstDash val="solid"/>
                    </a:lnR>
                    <a:lnB w="9525">
                      <a:solidFill>
                        <a:srgbClr val="D8E2DD"/>
                      </a:solidFill>
                      <a:prstDash val="solid"/>
                    </a:lnB>
                    <a:solidFill>
                      <a:srgbClr val="FFFFFF"/>
                    </a:solidFill>
                  </a:tcPr>
                </a:tc>
                <a:tc>
                  <a:txBody>
                    <a:bodyPr/>
                    <a:lstStyle/>
                    <a:p>
                      <a:r>
                        <a:rPr sz="1725" b="0">
                          <a:solidFill>
                            <a:srgbClr val="163B35"/>
                          </a:solidFill>
                          <a:latin typeface="Arial"/>
                          <a:ea typeface="Arial"/>
                          <a:cs typeface="Arial"/>
                        </a:rPr>
                        <a:t>10</a:t>
                      </a:r>
                    </a:p>
                  </a:txBody>
                  <a:tcPr marL="91440" marR="91440" marT="45720" marB="45720">
                    <a:lnR w="9525">
                      <a:solidFill>
                        <a:srgbClr val="D8E2DD"/>
                      </a:solidFill>
                      <a:prstDash val="solid"/>
                    </a:lnR>
                    <a:lnB w="9525">
                      <a:solidFill>
                        <a:srgbClr val="D8E2DD"/>
                      </a:solidFill>
                      <a:prstDash val="solid"/>
                    </a:lnB>
                    <a:solidFill>
                      <a:srgbClr val="FFFFFF"/>
                    </a:solidFill>
                  </a:tcPr>
                </a:tc>
              </a:tr>
              <a:tr h="666750">
                <a:tc>
                  <a:txBody>
                    <a:bodyPr/>
                    <a:lstStyle/>
                    <a:p>
                      <a:r>
                        <a:rPr sz="1725" b="0">
                          <a:solidFill>
                            <a:srgbClr val="163B35"/>
                          </a:solidFill>
                          <a:latin typeface="Arial"/>
                          <a:ea typeface="Arial"/>
                          <a:cs typeface="Arial"/>
                        </a:rPr>
                        <a:t>Combined vector</a:t>
                      </a:r>
                    </a:p>
                  </a:txBody>
                  <a:tcPr marL="91440" marR="91440" marT="45720" marB="45720">
                    <a:lnL w="9525">
                      <a:solidFill>
                        <a:srgbClr val="D8E2DD"/>
                      </a:solidFill>
                      <a:prstDash val="solid"/>
                    </a:lnL>
                    <a:lnR w="9525">
                      <a:solidFill>
                        <a:srgbClr val="D8E2DD"/>
                      </a:solidFill>
                      <a:prstDash val="solid"/>
                    </a:lnR>
                    <a:lnB w="9525">
                      <a:solidFill>
                        <a:srgbClr val="D8E2DD"/>
                      </a:solidFill>
                      <a:prstDash val="solid"/>
                    </a:lnB>
                    <a:solidFill>
                      <a:srgbClr val="F8FAF7"/>
                    </a:solidFill>
                  </a:tcPr>
                </a:tc>
                <a:tc>
                  <a:txBody>
                    <a:bodyPr/>
                    <a:lstStyle/>
                    <a:p>
                      <a:r>
                        <a:rPr sz="1725" b="0">
                          <a:solidFill>
                            <a:srgbClr val="163B35"/>
                          </a:solidFill>
                          <a:latin typeface="Arial"/>
                          <a:ea typeface="Arial"/>
                          <a:cs typeface="Arial"/>
                        </a:rPr>
                        <a:t>Fixed order, float32</a:t>
                      </a:r>
                    </a:p>
                  </a:txBody>
                  <a:tcPr marL="91440" marR="91440" marT="45720" marB="45720">
                    <a:lnR w="9525">
                      <a:solidFill>
                        <a:srgbClr val="D8E2DD"/>
                      </a:solidFill>
                      <a:prstDash val="solid"/>
                    </a:lnR>
                    <a:lnB w="9525">
                      <a:solidFill>
                        <a:srgbClr val="D8E2DD"/>
                      </a:solidFill>
                      <a:prstDash val="solid"/>
                    </a:lnB>
                    <a:solidFill>
                      <a:srgbClr val="F8FAF7"/>
                    </a:solidFill>
                  </a:tcPr>
                </a:tc>
                <a:tc>
                  <a:txBody>
                    <a:bodyPr/>
                    <a:lstStyle/>
                    <a:p>
                      <a:r>
                        <a:rPr sz="1725" b="0">
                          <a:solidFill>
                            <a:srgbClr val="163B35"/>
                          </a:solidFill>
                          <a:latin typeface="Arial"/>
                          <a:ea typeface="Arial"/>
                          <a:cs typeface="Arial"/>
                        </a:rPr>
                        <a:t>1,806</a:t>
                      </a:r>
                    </a:p>
                  </a:txBody>
                  <a:tcPr marL="91440" marR="91440" marT="45720" marB="45720">
                    <a:lnR w="9525">
                      <a:solidFill>
                        <a:srgbClr val="D8E2DD"/>
                      </a:solidFill>
                      <a:prstDash val="solid"/>
                    </a:lnR>
                    <a:lnB w="9525">
                      <a:solidFill>
                        <a:srgbClr val="D8E2DD"/>
                      </a:solidFill>
                      <a:prstDash val="solid"/>
                    </a:lnB>
                    <a:solidFill>
                      <a:srgbClr val="F8FAF7"/>
                    </a:solidFill>
                  </a:tcPr>
                </a:tc>
              </a:tr>
            </a:tbl>
          </a:graphicData>
        </a:graphic>
      </p:graphicFrame>
      <p:sp>
        <p:nvSpPr>
          <p:cNvPr id="4" name="">
            <a:extLst xmlns:a="http://schemas.openxmlformats.org/drawingml/2006/main">
              <a:ext uri="{FF2B5EF4-FFF2-40B4-BE49-F238E27FC236}">
                <a16:creationId xmlns:a16="http://schemas.microsoft.com/office/drawing/2014/main" id="{FD6FAF1B-DD44-46D2-9223-93840FF7F05E}"/>
              </a:ext>
            </a:extLst>
          </p:cNvPr>
          <p:cNvSpPr>
            <a:spLocks xmlns:a="http://schemas.openxmlformats.org/drawingml/2006/main" noGrp="1"/>
          </p:cNvSpPr>
          <p:nvPr/>
        </p:nvSpPr>
        <p:spPr>
          <a:xfrm xmlns:a="http://schemas.openxmlformats.org/drawingml/2006/main">
            <a:off x="609600" y="559117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36C66"/>
                </a:solidFill>
                <a:latin typeface="Arial"/>
                <a:ea typeface="Arial"/>
                <a:cs typeface="Arial"/>
              </a:defRPr>
            </a:defPPr>
            <a:lvl1pPr>
              <a:defRPr sz="1650" b="0">
                <a:solidFill>
                  <a:srgbClr val="536C66"/>
                </a:solidFill>
                <a:latin typeface="Arial"/>
                <a:ea typeface="Arial"/>
                <a:cs typeface="Arial"/>
              </a:defRPr>
            </a:lvl1pPr>
            <a:lvl2pPr>
              <a:defRPr sz="1650" b="0">
                <a:solidFill>
                  <a:srgbClr val="536C66"/>
                </a:solidFill>
                <a:latin typeface="Arial"/>
                <a:ea typeface="Arial"/>
                <a:cs typeface="Arial"/>
              </a:defRPr>
            </a:lvl2pPr>
            <a:lvl3pPr>
              <a:defRPr sz="1650" b="0">
                <a:solidFill>
                  <a:srgbClr val="536C66"/>
                </a:solidFill>
                <a:latin typeface="Arial"/>
                <a:ea typeface="Arial"/>
                <a:cs typeface="Arial"/>
              </a:defRPr>
            </a:lvl3pPr>
            <a:lvl4pPr>
              <a:defRPr sz="1650" b="0">
                <a:solidFill>
                  <a:srgbClr val="536C66"/>
                </a:solidFill>
                <a:latin typeface="Arial"/>
                <a:ea typeface="Arial"/>
                <a:cs typeface="Arial"/>
              </a:defRPr>
            </a:lvl4pPr>
            <a:lvl5pPr>
              <a:defRPr sz="1650" b="0">
                <a:solidFill>
                  <a:srgbClr val="536C66"/>
                </a:solidFill>
                <a:latin typeface="Arial"/>
                <a:ea typeface="Arial"/>
                <a:cs typeface="Arial"/>
              </a:defRPr>
            </a:lvl5pPr>
            <a:lvl6pPr>
              <a:defRPr sz="1650" b="0">
                <a:solidFill>
                  <a:srgbClr val="536C66"/>
                </a:solidFill>
                <a:latin typeface="Arial"/>
                <a:ea typeface="Arial"/>
                <a:cs typeface="Arial"/>
              </a:defRPr>
            </a:lvl6pPr>
            <a:lvl7pPr>
              <a:defRPr sz="1650" b="0">
                <a:solidFill>
                  <a:srgbClr val="536C66"/>
                </a:solidFill>
                <a:latin typeface="Arial"/>
                <a:ea typeface="Arial"/>
                <a:cs typeface="Arial"/>
              </a:defRPr>
            </a:lvl7pPr>
            <a:lvl8pPr>
              <a:defRPr sz="1650" b="0">
                <a:solidFill>
                  <a:srgbClr val="536C66"/>
                </a:solidFill>
                <a:latin typeface="Arial"/>
                <a:ea typeface="Arial"/>
                <a:cs typeface="Arial"/>
              </a:defRPr>
            </a:lvl8pPr>
            <a:lvl9pPr>
              <a:defRPr sz="1650" b="0">
                <a:solidFill>
                  <a:srgbClr val="536C66"/>
                </a:solidFill>
                <a:latin typeface="Arial"/>
                <a:ea typeface="Arial"/>
                <a:cs typeface="Arial"/>
              </a:defRPr>
            </a:lvl9pPr>
          </a:lstStyle>
          <a:p xmlns:a="http://schemas.openxmlformats.org/drawingml/2006/main">
            <a:pPr>
              <a:defRPr sz="1650" b="0">
                <a:solidFill>
                  <a:srgbClr val="536C66"/>
                </a:solidFill>
                <a:latin typeface="Arial"/>
                <a:ea typeface="Arial"/>
                <a:cs typeface="Arial"/>
              </a:defRPr>
            </a:pPr>
            <a:r>
              <a:rPr sz="1650" b="0">
                <a:solidFill>
                  <a:srgbClr val="536C66"/>
                </a:solidFill>
                <a:latin typeface="Arial"/>
                <a:ea typeface="Arial"/>
                <a:cs typeface="Arial"/>
              </a:rPr>
              <a:t>Shared preprocessing: RGB, preserved aspect ratio, white padding, 128 × 128 canvas.</a:t>
            </a:r>
          </a:p>
        </p:txBody>
      </p:sp>
    </p:spTree>
    <p:extLst>
      <p:ext uri="{BB962C8B-B14F-4D97-AF65-F5344CB8AC3E}">
        <p14:creationId xmlns:p14="http://schemas.microsoft.com/office/powerpoint/2010/main" val="1867058901"/>
      </p:ext>
    </p:extLst>
  </p:cSld>
</p:sld>
</file>

<file path=ppt/slides/slide6.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5AED3C9-CDE3-4051-8898-AFF4D73D8B3C}"/>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63B35"/>
                </a:solidFill>
                <a:latin typeface="Arial"/>
                <a:ea typeface="Arial"/>
                <a:cs typeface="Arial"/>
              </a:defRPr>
            </a:defPPr>
            <a:lvl1pPr>
              <a:defRPr sz="3300" b="1">
                <a:solidFill>
                  <a:srgbClr val="163B35"/>
                </a:solidFill>
                <a:latin typeface="Arial"/>
                <a:ea typeface="Arial"/>
                <a:cs typeface="Arial"/>
              </a:defRPr>
            </a:lvl1pPr>
            <a:lvl2pPr>
              <a:defRPr sz="3300" b="1">
                <a:solidFill>
                  <a:srgbClr val="163B35"/>
                </a:solidFill>
                <a:latin typeface="Arial"/>
                <a:ea typeface="Arial"/>
                <a:cs typeface="Arial"/>
              </a:defRPr>
            </a:lvl2pPr>
            <a:lvl3pPr>
              <a:defRPr sz="3300" b="1">
                <a:solidFill>
                  <a:srgbClr val="163B35"/>
                </a:solidFill>
                <a:latin typeface="Arial"/>
                <a:ea typeface="Arial"/>
                <a:cs typeface="Arial"/>
              </a:defRPr>
            </a:lvl3pPr>
            <a:lvl4pPr>
              <a:defRPr sz="3300" b="1">
                <a:solidFill>
                  <a:srgbClr val="163B35"/>
                </a:solidFill>
                <a:latin typeface="Arial"/>
                <a:ea typeface="Arial"/>
                <a:cs typeface="Arial"/>
              </a:defRPr>
            </a:lvl4pPr>
            <a:lvl5pPr>
              <a:defRPr sz="3300" b="1">
                <a:solidFill>
                  <a:srgbClr val="163B35"/>
                </a:solidFill>
                <a:latin typeface="Arial"/>
                <a:ea typeface="Arial"/>
                <a:cs typeface="Arial"/>
              </a:defRPr>
            </a:lvl5pPr>
            <a:lvl6pPr>
              <a:defRPr sz="3300" b="1">
                <a:solidFill>
                  <a:srgbClr val="163B35"/>
                </a:solidFill>
                <a:latin typeface="Arial"/>
                <a:ea typeface="Arial"/>
                <a:cs typeface="Arial"/>
              </a:defRPr>
            </a:lvl6pPr>
            <a:lvl7pPr>
              <a:defRPr sz="3300" b="1">
                <a:solidFill>
                  <a:srgbClr val="163B35"/>
                </a:solidFill>
                <a:latin typeface="Arial"/>
                <a:ea typeface="Arial"/>
                <a:cs typeface="Arial"/>
              </a:defRPr>
            </a:lvl7pPr>
            <a:lvl8pPr>
              <a:defRPr sz="3300" b="1">
                <a:solidFill>
                  <a:srgbClr val="163B35"/>
                </a:solidFill>
                <a:latin typeface="Arial"/>
                <a:ea typeface="Arial"/>
                <a:cs typeface="Arial"/>
              </a:defRPr>
            </a:lvl8pPr>
            <a:lvl9pPr>
              <a:defRPr sz="3300" b="1">
                <a:solidFill>
                  <a:srgbClr val="163B35"/>
                </a:solidFill>
                <a:latin typeface="Arial"/>
                <a:ea typeface="Arial"/>
                <a:cs typeface="Arial"/>
              </a:defRPr>
            </a:lvl9pPr>
          </a:lstStyle>
          <a:p xmlns:a="http://schemas.openxmlformats.org/drawingml/2006/main">
            <a:pPr>
              <a:defRPr sz="3300" b="1">
                <a:solidFill>
                  <a:srgbClr val="163B35"/>
                </a:solidFill>
                <a:latin typeface="Arial"/>
                <a:ea typeface="Arial"/>
                <a:cs typeface="Arial"/>
              </a:defRPr>
            </a:pPr>
            <a:r>
              <a:rPr sz="3300" b="1">
                <a:solidFill>
                  <a:srgbClr val="163B35"/>
                </a:solidFill>
                <a:latin typeface="Arial"/>
                <a:ea typeface="Arial"/>
                <a:cs typeface="Arial"/>
              </a:rPr>
              <a:t>Spatial texture adds detail to the representation</a:t>
            </a:r>
          </a:p>
        </p:txBody>
      </p:sp>
      <p:sp>
        <p:nvSpPr>
          <p:cNvPr id="2" name="">
            <a:extLst xmlns:a="http://schemas.openxmlformats.org/drawingml/2006/main">
              <a:ext uri="{FF2B5EF4-FFF2-40B4-BE49-F238E27FC236}">
                <a16:creationId xmlns:a16="http://schemas.microsoft.com/office/drawing/2014/main" id="{901685A9-D8E1-4910-9BA7-003636D7EB5F}"/>
              </a:ext>
            </a:extLst>
          </p:cNvPr>
          <p:cNvSpPr>
            <a:spLocks xmlns:a="http://schemas.openxmlformats.org/drawingml/2006/main" noGrp="1"/>
          </p:cNvSpPr>
          <p:nvPr/>
        </p:nvSpPr>
        <p:spPr>
          <a:xfrm xmlns:a="http://schemas.openxmlformats.org/drawingml/2006/main">
            <a:off x="11068050" y="633412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36C66"/>
                </a:solidFill>
                <a:latin typeface="Arial"/>
                <a:ea typeface="Arial"/>
                <a:cs typeface="Arial"/>
              </a:defRPr>
            </a:defPPr>
            <a:lvl1pPr>
              <a:defRPr sz="1350" b="0">
                <a:solidFill>
                  <a:srgbClr val="536C66"/>
                </a:solidFill>
                <a:latin typeface="Arial"/>
                <a:ea typeface="Arial"/>
                <a:cs typeface="Arial"/>
              </a:defRPr>
            </a:lvl1pPr>
            <a:lvl2pPr>
              <a:defRPr sz="1350" b="0">
                <a:solidFill>
                  <a:srgbClr val="536C66"/>
                </a:solidFill>
                <a:latin typeface="Arial"/>
                <a:ea typeface="Arial"/>
                <a:cs typeface="Arial"/>
              </a:defRPr>
            </a:lvl2pPr>
            <a:lvl3pPr>
              <a:defRPr sz="1350" b="0">
                <a:solidFill>
                  <a:srgbClr val="536C66"/>
                </a:solidFill>
                <a:latin typeface="Arial"/>
                <a:ea typeface="Arial"/>
                <a:cs typeface="Arial"/>
              </a:defRPr>
            </a:lvl3pPr>
            <a:lvl4pPr>
              <a:defRPr sz="1350" b="0">
                <a:solidFill>
                  <a:srgbClr val="536C66"/>
                </a:solidFill>
                <a:latin typeface="Arial"/>
                <a:ea typeface="Arial"/>
                <a:cs typeface="Arial"/>
              </a:defRPr>
            </a:lvl4pPr>
            <a:lvl5pPr>
              <a:defRPr sz="1350" b="0">
                <a:solidFill>
                  <a:srgbClr val="536C66"/>
                </a:solidFill>
                <a:latin typeface="Arial"/>
                <a:ea typeface="Arial"/>
                <a:cs typeface="Arial"/>
              </a:defRPr>
            </a:lvl5pPr>
            <a:lvl6pPr>
              <a:defRPr sz="1350" b="0">
                <a:solidFill>
                  <a:srgbClr val="536C66"/>
                </a:solidFill>
                <a:latin typeface="Arial"/>
                <a:ea typeface="Arial"/>
                <a:cs typeface="Arial"/>
              </a:defRPr>
            </a:lvl6pPr>
            <a:lvl7pPr>
              <a:defRPr sz="1350" b="0">
                <a:solidFill>
                  <a:srgbClr val="536C66"/>
                </a:solidFill>
                <a:latin typeface="Arial"/>
                <a:ea typeface="Arial"/>
                <a:cs typeface="Arial"/>
              </a:defRPr>
            </a:lvl7pPr>
            <a:lvl8pPr>
              <a:defRPr sz="1350" b="0">
                <a:solidFill>
                  <a:srgbClr val="536C66"/>
                </a:solidFill>
                <a:latin typeface="Arial"/>
                <a:ea typeface="Arial"/>
                <a:cs typeface="Arial"/>
              </a:defRPr>
            </a:lvl8pPr>
            <a:lvl9pPr>
              <a:defRPr sz="1350" b="0">
                <a:solidFill>
                  <a:srgbClr val="536C66"/>
                </a:solidFill>
                <a:latin typeface="Arial"/>
                <a:ea typeface="Arial"/>
                <a:cs typeface="Arial"/>
              </a:defRPr>
            </a:lvl9pPr>
          </a:lstStyle>
          <a:p xmlns:a="http://schemas.openxmlformats.org/drawingml/2006/main">
            <a:pPr>
              <a:defRPr sz="1350" b="0">
                <a:solidFill>
                  <a:srgbClr val="536C66"/>
                </a:solidFill>
                <a:latin typeface="Arial"/>
                <a:ea typeface="Arial"/>
                <a:cs typeface="Arial"/>
              </a:defRPr>
            </a:pPr>
            <a:r>
              <a:rPr sz="1350" b="0">
                <a:solidFill>
                  <a:srgbClr val="536C66"/>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AD2F5DA1-3549-42B1-8721-9B965ECFE799}"/>
              </a:ext>
            </a:extLst>
          </p:cNvPr>
          <p:cNvSpPr>
            <a:spLocks xmlns:a="http://schemas.openxmlformats.org/drawingml/2006/main" noGrp="1"/>
          </p:cNvSpPr>
          <p:nvPr/>
        </p:nvSpPr>
        <p:spPr>
          <a:xfrm xmlns:a="http://schemas.openxmlformats.org/drawingml/2006/main">
            <a:off x="609600" y="18097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167B62"/>
                </a:solidFill>
                <a:latin typeface="Arial"/>
                <a:ea typeface="Arial"/>
                <a:cs typeface="Arial"/>
              </a:defRPr>
            </a:defPPr>
            <a:lvl1pPr>
              <a:defRPr sz="3225" b="1">
                <a:solidFill>
                  <a:srgbClr val="167B62"/>
                </a:solidFill>
                <a:latin typeface="Arial"/>
                <a:ea typeface="Arial"/>
                <a:cs typeface="Arial"/>
              </a:defRPr>
            </a:lvl1pPr>
            <a:lvl2pPr>
              <a:defRPr sz="3225" b="1">
                <a:solidFill>
                  <a:srgbClr val="167B62"/>
                </a:solidFill>
                <a:latin typeface="Arial"/>
                <a:ea typeface="Arial"/>
                <a:cs typeface="Arial"/>
              </a:defRPr>
            </a:lvl2pPr>
            <a:lvl3pPr>
              <a:defRPr sz="3225" b="1">
                <a:solidFill>
                  <a:srgbClr val="167B62"/>
                </a:solidFill>
                <a:latin typeface="Arial"/>
                <a:ea typeface="Arial"/>
                <a:cs typeface="Arial"/>
              </a:defRPr>
            </a:lvl3pPr>
            <a:lvl4pPr>
              <a:defRPr sz="3225" b="1">
                <a:solidFill>
                  <a:srgbClr val="167B62"/>
                </a:solidFill>
                <a:latin typeface="Arial"/>
                <a:ea typeface="Arial"/>
                <a:cs typeface="Arial"/>
              </a:defRPr>
            </a:lvl4pPr>
            <a:lvl5pPr>
              <a:defRPr sz="3225" b="1">
                <a:solidFill>
                  <a:srgbClr val="167B62"/>
                </a:solidFill>
                <a:latin typeface="Arial"/>
                <a:ea typeface="Arial"/>
                <a:cs typeface="Arial"/>
              </a:defRPr>
            </a:lvl5pPr>
            <a:lvl6pPr>
              <a:defRPr sz="3225" b="1">
                <a:solidFill>
                  <a:srgbClr val="167B62"/>
                </a:solidFill>
                <a:latin typeface="Arial"/>
                <a:ea typeface="Arial"/>
                <a:cs typeface="Arial"/>
              </a:defRPr>
            </a:lvl6pPr>
            <a:lvl7pPr>
              <a:defRPr sz="3225" b="1">
                <a:solidFill>
                  <a:srgbClr val="167B62"/>
                </a:solidFill>
                <a:latin typeface="Arial"/>
                <a:ea typeface="Arial"/>
                <a:cs typeface="Arial"/>
              </a:defRPr>
            </a:lvl7pPr>
            <a:lvl8pPr>
              <a:defRPr sz="3225" b="1">
                <a:solidFill>
                  <a:srgbClr val="167B62"/>
                </a:solidFill>
                <a:latin typeface="Arial"/>
                <a:ea typeface="Arial"/>
                <a:cs typeface="Arial"/>
              </a:defRPr>
            </a:lvl8pPr>
            <a:lvl9pPr>
              <a:defRPr sz="3225" b="1">
                <a:solidFill>
                  <a:srgbClr val="167B62"/>
                </a:solidFill>
                <a:latin typeface="Arial"/>
                <a:ea typeface="Arial"/>
                <a:cs typeface="Arial"/>
              </a:defRPr>
            </a:lvl9pPr>
          </a:lstStyle>
          <a:p xmlns:a="http://schemas.openxmlformats.org/drawingml/2006/main">
            <a:pPr>
              <a:defRPr sz="3225" b="1">
                <a:solidFill>
                  <a:srgbClr val="167B62"/>
                </a:solidFill>
                <a:latin typeface="Arial"/>
                <a:ea typeface="Arial"/>
                <a:cs typeface="Arial"/>
              </a:defRPr>
            </a:pPr>
            <a:r>
              <a:rPr sz="3225" b="1">
                <a:solidFill>
                  <a:srgbClr val="167B62"/>
                </a:solidFill>
                <a:latin typeface="Arial"/>
                <a:ea typeface="Arial"/>
                <a:cs typeface="Arial"/>
              </a:rPr>
              <a:t>6 regions × 460 values = 2,760 inputs</a:t>
            </a:r>
          </a:p>
        </p:txBody>
      </p:sp>
      <p:sp>
        <p:nvSpPr>
          <p:cNvPr id="4" name="">
            <a:extLst xmlns:a="http://schemas.openxmlformats.org/drawingml/2006/main">
              <a:ext uri="{FF2B5EF4-FFF2-40B4-BE49-F238E27FC236}">
                <a16:creationId xmlns:a16="http://schemas.microsoft.com/office/drawing/2014/main" id="{65EB1AB9-04F8-494D-859A-9ADC598231A1}"/>
              </a:ext>
            </a:extLst>
          </p:cNvPr>
          <p:cNvSpPr>
            <a:spLocks xmlns:a="http://schemas.openxmlformats.org/drawingml/2006/main" noGrp="1"/>
          </p:cNvSpPr>
          <p:nvPr/>
        </p:nvSpPr>
        <p:spPr>
          <a:xfrm xmlns:a="http://schemas.openxmlformats.org/drawingml/2006/main">
            <a:off x="609600" y="30003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63B35"/>
                </a:solidFill>
                <a:latin typeface="Arial"/>
                <a:ea typeface="Arial"/>
                <a:cs typeface="Arial"/>
              </a:defRPr>
            </a:defPPr>
            <a:lvl1pPr>
              <a:defRPr sz="2100" b="0">
                <a:solidFill>
                  <a:srgbClr val="163B35"/>
                </a:solidFill>
                <a:latin typeface="Arial"/>
                <a:ea typeface="Arial"/>
                <a:cs typeface="Arial"/>
              </a:defRPr>
            </a:lvl1pPr>
            <a:lvl2pPr>
              <a:defRPr sz="2100" b="0">
                <a:solidFill>
                  <a:srgbClr val="163B35"/>
                </a:solidFill>
                <a:latin typeface="Arial"/>
                <a:ea typeface="Arial"/>
                <a:cs typeface="Arial"/>
              </a:defRPr>
            </a:lvl2pPr>
            <a:lvl3pPr>
              <a:defRPr sz="2100" b="0">
                <a:solidFill>
                  <a:srgbClr val="163B35"/>
                </a:solidFill>
                <a:latin typeface="Arial"/>
                <a:ea typeface="Arial"/>
                <a:cs typeface="Arial"/>
              </a:defRPr>
            </a:lvl3pPr>
            <a:lvl4pPr>
              <a:defRPr sz="2100" b="0">
                <a:solidFill>
                  <a:srgbClr val="163B35"/>
                </a:solidFill>
                <a:latin typeface="Arial"/>
                <a:ea typeface="Arial"/>
                <a:cs typeface="Arial"/>
              </a:defRPr>
            </a:lvl4pPr>
            <a:lvl5pPr>
              <a:defRPr sz="2100" b="0">
                <a:solidFill>
                  <a:srgbClr val="163B35"/>
                </a:solidFill>
                <a:latin typeface="Arial"/>
                <a:ea typeface="Arial"/>
                <a:cs typeface="Arial"/>
              </a:defRPr>
            </a:lvl5pPr>
            <a:lvl6pPr>
              <a:defRPr sz="2100" b="0">
                <a:solidFill>
                  <a:srgbClr val="163B35"/>
                </a:solidFill>
                <a:latin typeface="Arial"/>
                <a:ea typeface="Arial"/>
                <a:cs typeface="Arial"/>
              </a:defRPr>
            </a:lvl6pPr>
            <a:lvl7pPr>
              <a:defRPr sz="2100" b="0">
                <a:solidFill>
                  <a:srgbClr val="163B35"/>
                </a:solidFill>
                <a:latin typeface="Arial"/>
                <a:ea typeface="Arial"/>
                <a:cs typeface="Arial"/>
              </a:defRPr>
            </a:lvl7pPr>
            <a:lvl8pPr>
              <a:defRPr sz="2100" b="0">
                <a:solidFill>
                  <a:srgbClr val="163B35"/>
                </a:solidFill>
                <a:latin typeface="Arial"/>
                <a:ea typeface="Arial"/>
                <a:cs typeface="Arial"/>
              </a:defRPr>
            </a:lvl8pPr>
            <a:lvl9pPr>
              <a:defRPr sz="2100" b="0">
                <a:solidFill>
                  <a:srgbClr val="163B35"/>
                </a:solidFill>
                <a:latin typeface="Arial"/>
                <a:ea typeface="Arial"/>
                <a:cs typeface="Arial"/>
              </a:defRPr>
            </a:lvl9pPr>
          </a:lstStyle>
          <a:p xmlns:a="http://schemas.openxmlformats.org/drawingml/2006/main">
            <a:pPr>
              <a:defRPr sz="2100" b="0">
                <a:solidFill>
                  <a:srgbClr val="163B35"/>
                </a:solidFill>
                <a:latin typeface="Arial"/>
                <a:ea typeface="Arial"/>
                <a:cs typeface="Arial"/>
              </a:defRPr>
            </a:pPr>
            <a:r>
              <a:rPr sz="2100" b="0">
                <a:solidFill>
                  <a:srgbClr val="163B35"/>
                </a:solidFill>
                <a:latin typeface="Arial"/>
                <a:ea typeface="Arial"/>
                <a:cs typeface="Arial"/>
              </a:rPr>
              <a:t>Color: HSV, RGB, Lab and joint hue–saturation</a:t>
            </a:r>
          </a:p>
        </p:txBody>
      </p:sp>
      <p:sp>
        <p:nvSpPr>
          <p:cNvPr id="5" name="">
            <a:extLst xmlns:a="http://schemas.openxmlformats.org/drawingml/2006/main">
              <a:ext uri="{FF2B5EF4-FFF2-40B4-BE49-F238E27FC236}">
                <a16:creationId xmlns:a16="http://schemas.microsoft.com/office/drawing/2014/main" id="{BC08DAA4-11CF-4BB6-B042-FFD7B5A497ED}"/>
              </a:ext>
            </a:extLst>
          </p:cNvPr>
          <p:cNvSpPr>
            <a:spLocks xmlns:a="http://schemas.openxmlformats.org/drawingml/2006/main" noGrp="1"/>
          </p:cNvSpPr>
          <p:nvPr/>
        </p:nvSpPr>
        <p:spPr>
          <a:xfrm xmlns:a="http://schemas.openxmlformats.org/drawingml/2006/main">
            <a:off x="609600" y="38100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63B35"/>
                </a:solidFill>
                <a:latin typeface="Arial"/>
                <a:ea typeface="Arial"/>
                <a:cs typeface="Arial"/>
              </a:defRPr>
            </a:defPPr>
            <a:lvl1pPr>
              <a:defRPr sz="2100" b="0">
                <a:solidFill>
                  <a:srgbClr val="163B35"/>
                </a:solidFill>
                <a:latin typeface="Arial"/>
                <a:ea typeface="Arial"/>
                <a:cs typeface="Arial"/>
              </a:defRPr>
            </a:lvl1pPr>
            <a:lvl2pPr>
              <a:defRPr sz="2100" b="0">
                <a:solidFill>
                  <a:srgbClr val="163B35"/>
                </a:solidFill>
                <a:latin typeface="Arial"/>
                <a:ea typeface="Arial"/>
                <a:cs typeface="Arial"/>
              </a:defRPr>
            </a:lvl2pPr>
            <a:lvl3pPr>
              <a:defRPr sz="2100" b="0">
                <a:solidFill>
                  <a:srgbClr val="163B35"/>
                </a:solidFill>
                <a:latin typeface="Arial"/>
                <a:ea typeface="Arial"/>
                <a:cs typeface="Arial"/>
              </a:defRPr>
            </a:lvl3pPr>
            <a:lvl4pPr>
              <a:defRPr sz="2100" b="0">
                <a:solidFill>
                  <a:srgbClr val="163B35"/>
                </a:solidFill>
                <a:latin typeface="Arial"/>
                <a:ea typeface="Arial"/>
                <a:cs typeface="Arial"/>
              </a:defRPr>
            </a:lvl4pPr>
            <a:lvl5pPr>
              <a:defRPr sz="2100" b="0">
                <a:solidFill>
                  <a:srgbClr val="163B35"/>
                </a:solidFill>
                <a:latin typeface="Arial"/>
                <a:ea typeface="Arial"/>
                <a:cs typeface="Arial"/>
              </a:defRPr>
            </a:lvl5pPr>
            <a:lvl6pPr>
              <a:defRPr sz="2100" b="0">
                <a:solidFill>
                  <a:srgbClr val="163B35"/>
                </a:solidFill>
                <a:latin typeface="Arial"/>
                <a:ea typeface="Arial"/>
                <a:cs typeface="Arial"/>
              </a:defRPr>
            </a:lvl6pPr>
            <a:lvl7pPr>
              <a:defRPr sz="2100" b="0">
                <a:solidFill>
                  <a:srgbClr val="163B35"/>
                </a:solidFill>
                <a:latin typeface="Arial"/>
                <a:ea typeface="Arial"/>
                <a:cs typeface="Arial"/>
              </a:defRPr>
            </a:lvl7pPr>
            <a:lvl8pPr>
              <a:defRPr sz="2100" b="0">
                <a:solidFill>
                  <a:srgbClr val="163B35"/>
                </a:solidFill>
                <a:latin typeface="Arial"/>
                <a:ea typeface="Arial"/>
                <a:cs typeface="Arial"/>
              </a:defRPr>
            </a:lvl8pPr>
            <a:lvl9pPr>
              <a:defRPr sz="2100" b="0">
                <a:solidFill>
                  <a:srgbClr val="163B35"/>
                </a:solidFill>
                <a:latin typeface="Arial"/>
                <a:ea typeface="Arial"/>
                <a:cs typeface="Arial"/>
              </a:defRPr>
            </a:lvl9pPr>
          </a:lstStyle>
          <a:p xmlns:a="http://schemas.openxmlformats.org/drawingml/2006/main">
            <a:pPr>
              <a:defRPr sz="2100" b="0">
                <a:solidFill>
                  <a:srgbClr val="163B35"/>
                </a:solidFill>
                <a:latin typeface="Arial"/>
                <a:ea typeface="Arial"/>
                <a:cs typeface="Arial"/>
              </a:defRPr>
            </a:pPr>
            <a:r>
              <a:rPr sz="2100" b="0">
                <a:solidFill>
                  <a:srgbClr val="163B35"/>
                </a:solidFill>
                <a:latin typeface="Arial"/>
                <a:ea typeface="Arial"/>
                <a:cs typeface="Arial"/>
              </a:rPr>
              <a:t>Texture: multi-scale uniform and rotation-sensitive LBP</a:t>
            </a:r>
          </a:p>
        </p:txBody>
      </p:sp>
      <p:sp>
        <p:nvSpPr>
          <p:cNvPr id="6" name="">
            <a:extLst xmlns:a="http://schemas.openxmlformats.org/drawingml/2006/main">
              <a:ext uri="{FF2B5EF4-FFF2-40B4-BE49-F238E27FC236}">
                <a16:creationId xmlns:a16="http://schemas.microsoft.com/office/drawing/2014/main" id="{83FD4E40-8A78-47E1-BF1A-567753041CCD}"/>
              </a:ext>
            </a:extLst>
          </p:cNvPr>
          <p:cNvSpPr>
            <a:spLocks xmlns:a="http://schemas.openxmlformats.org/drawingml/2006/main" noGrp="1"/>
          </p:cNvSpPr>
          <p:nvPr/>
        </p:nvSpPr>
        <p:spPr>
          <a:xfrm xmlns:a="http://schemas.openxmlformats.org/drawingml/2006/main">
            <a:off x="609600" y="461962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63B35"/>
                </a:solidFill>
                <a:latin typeface="Arial"/>
                <a:ea typeface="Arial"/>
                <a:cs typeface="Arial"/>
              </a:defRPr>
            </a:defPPr>
            <a:lvl1pPr>
              <a:defRPr sz="2100" b="0">
                <a:solidFill>
                  <a:srgbClr val="163B35"/>
                </a:solidFill>
                <a:latin typeface="Arial"/>
                <a:ea typeface="Arial"/>
                <a:cs typeface="Arial"/>
              </a:defRPr>
            </a:lvl1pPr>
            <a:lvl2pPr>
              <a:defRPr sz="2100" b="0">
                <a:solidFill>
                  <a:srgbClr val="163B35"/>
                </a:solidFill>
                <a:latin typeface="Arial"/>
                <a:ea typeface="Arial"/>
                <a:cs typeface="Arial"/>
              </a:defRPr>
            </a:lvl2pPr>
            <a:lvl3pPr>
              <a:defRPr sz="2100" b="0">
                <a:solidFill>
                  <a:srgbClr val="163B35"/>
                </a:solidFill>
                <a:latin typeface="Arial"/>
                <a:ea typeface="Arial"/>
                <a:cs typeface="Arial"/>
              </a:defRPr>
            </a:lvl3pPr>
            <a:lvl4pPr>
              <a:defRPr sz="2100" b="0">
                <a:solidFill>
                  <a:srgbClr val="163B35"/>
                </a:solidFill>
                <a:latin typeface="Arial"/>
                <a:ea typeface="Arial"/>
                <a:cs typeface="Arial"/>
              </a:defRPr>
            </a:lvl4pPr>
            <a:lvl5pPr>
              <a:defRPr sz="2100" b="0">
                <a:solidFill>
                  <a:srgbClr val="163B35"/>
                </a:solidFill>
                <a:latin typeface="Arial"/>
                <a:ea typeface="Arial"/>
                <a:cs typeface="Arial"/>
              </a:defRPr>
            </a:lvl5pPr>
            <a:lvl6pPr>
              <a:defRPr sz="2100" b="0">
                <a:solidFill>
                  <a:srgbClr val="163B35"/>
                </a:solidFill>
                <a:latin typeface="Arial"/>
                <a:ea typeface="Arial"/>
                <a:cs typeface="Arial"/>
              </a:defRPr>
            </a:lvl6pPr>
            <a:lvl7pPr>
              <a:defRPr sz="2100" b="0">
                <a:solidFill>
                  <a:srgbClr val="163B35"/>
                </a:solidFill>
                <a:latin typeface="Arial"/>
                <a:ea typeface="Arial"/>
                <a:cs typeface="Arial"/>
              </a:defRPr>
            </a:lvl7pPr>
            <a:lvl8pPr>
              <a:defRPr sz="2100" b="0">
                <a:solidFill>
                  <a:srgbClr val="163B35"/>
                </a:solidFill>
                <a:latin typeface="Arial"/>
                <a:ea typeface="Arial"/>
                <a:cs typeface="Arial"/>
              </a:defRPr>
            </a:lvl8pPr>
            <a:lvl9pPr>
              <a:defRPr sz="2100" b="0">
                <a:solidFill>
                  <a:srgbClr val="163B35"/>
                </a:solidFill>
                <a:latin typeface="Arial"/>
                <a:ea typeface="Arial"/>
                <a:cs typeface="Arial"/>
              </a:defRPr>
            </a:lvl9pPr>
          </a:lstStyle>
          <a:p xmlns:a="http://schemas.openxmlformats.org/drawingml/2006/main">
            <a:pPr>
              <a:defRPr sz="2100" b="0">
                <a:solidFill>
                  <a:srgbClr val="163B35"/>
                </a:solidFill>
                <a:latin typeface="Arial"/>
                <a:ea typeface="Arial"/>
                <a:cs typeface="Arial"/>
              </a:defRPr>
            </a:pPr>
            <a:r>
              <a:rPr sz="2100" b="0">
                <a:solidFill>
                  <a:srgbClr val="163B35"/>
                </a:solidFill>
                <a:latin typeface="Arial"/>
                <a:ea typeface="Arial"/>
                <a:cs typeface="Arial"/>
              </a:rPr>
              <a:t>Winner: 576 color + 1,032 texture = 1,608 selected features</a:t>
            </a:r>
          </a:p>
        </p:txBody>
      </p:sp>
      <p:sp>
        <p:nvSpPr>
          <p:cNvPr id="7" name="">
            <a:extLst xmlns:a="http://schemas.openxmlformats.org/drawingml/2006/main">
              <a:ext uri="{FF2B5EF4-FFF2-40B4-BE49-F238E27FC236}">
                <a16:creationId xmlns:a16="http://schemas.microsoft.com/office/drawing/2014/main" id="{36C9BD95-308D-443C-8BE2-C9CF6D8B6C35}"/>
              </a:ext>
            </a:extLst>
          </p:cNvPr>
          <p:cNvSpPr>
            <a:spLocks xmlns:a="http://schemas.openxmlformats.org/drawingml/2006/main" noGrp="1"/>
          </p:cNvSpPr>
          <p:nvPr/>
        </p:nvSpPr>
        <p:spPr>
          <a:xfrm xmlns:a="http://schemas.openxmlformats.org/drawingml/2006/main">
            <a:off x="609600" y="57912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36C66"/>
                </a:solidFill>
                <a:latin typeface="Arial"/>
                <a:ea typeface="Arial"/>
                <a:cs typeface="Arial"/>
              </a:defRPr>
            </a:defPPr>
            <a:lvl1pPr>
              <a:defRPr sz="1650" b="0">
                <a:solidFill>
                  <a:srgbClr val="536C66"/>
                </a:solidFill>
                <a:latin typeface="Arial"/>
                <a:ea typeface="Arial"/>
                <a:cs typeface="Arial"/>
              </a:defRPr>
            </a:lvl1pPr>
            <a:lvl2pPr>
              <a:defRPr sz="1650" b="0">
                <a:solidFill>
                  <a:srgbClr val="536C66"/>
                </a:solidFill>
                <a:latin typeface="Arial"/>
                <a:ea typeface="Arial"/>
                <a:cs typeface="Arial"/>
              </a:defRPr>
            </a:lvl2pPr>
            <a:lvl3pPr>
              <a:defRPr sz="1650" b="0">
                <a:solidFill>
                  <a:srgbClr val="536C66"/>
                </a:solidFill>
                <a:latin typeface="Arial"/>
                <a:ea typeface="Arial"/>
                <a:cs typeface="Arial"/>
              </a:defRPr>
            </a:lvl3pPr>
            <a:lvl4pPr>
              <a:defRPr sz="1650" b="0">
                <a:solidFill>
                  <a:srgbClr val="536C66"/>
                </a:solidFill>
                <a:latin typeface="Arial"/>
                <a:ea typeface="Arial"/>
                <a:cs typeface="Arial"/>
              </a:defRPr>
            </a:lvl4pPr>
            <a:lvl5pPr>
              <a:defRPr sz="1650" b="0">
                <a:solidFill>
                  <a:srgbClr val="536C66"/>
                </a:solidFill>
                <a:latin typeface="Arial"/>
                <a:ea typeface="Arial"/>
                <a:cs typeface="Arial"/>
              </a:defRPr>
            </a:lvl5pPr>
            <a:lvl6pPr>
              <a:defRPr sz="1650" b="0">
                <a:solidFill>
                  <a:srgbClr val="536C66"/>
                </a:solidFill>
                <a:latin typeface="Arial"/>
                <a:ea typeface="Arial"/>
                <a:cs typeface="Arial"/>
              </a:defRPr>
            </a:lvl6pPr>
            <a:lvl7pPr>
              <a:defRPr sz="1650" b="0">
                <a:solidFill>
                  <a:srgbClr val="536C66"/>
                </a:solidFill>
                <a:latin typeface="Arial"/>
                <a:ea typeface="Arial"/>
                <a:cs typeface="Arial"/>
              </a:defRPr>
            </a:lvl7pPr>
            <a:lvl8pPr>
              <a:defRPr sz="1650" b="0">
                <a:solidFill>
                  <a:srgbClr val="536C66"/>
                </a:solidFill>
                <a:latin typeface="Arial"/>
                <a:ea typeface="Arial"/>
                <a:cs typeface="Arial"/>
              </a:defRPr>
            </a:lvl8pPr>
            <a:lvl9pPr>
              <a:defRPr sz="1650" b="0">
                <a:solidFill>
                  <a:srgbClr val="536C66"/>
                </a:solidFill>
                <a:latin typeface="Arial"/>
                <a:ea typeface="Arial"/>
                <a:cs typeface="Arial"/>
              </a:defRPr>
            </a:lvl9pPr>
          </a:lstStyle>
          <a:p xmlns:a="http://schemas.openxmlformats.org/drawingml/2006/main">
            <a:pPr>
              <a:defRPr sz="1650" b="0">
                <a:solidFill>
                  <a:srgbClr val="536C66"/>
                </a:solidFill>
                <a:latin typeface="Arial"/>
                <a:ea typeface="Arial"/>
                <a:cs typeface="Arial"/>
              </a:defRPr>
            </a:pPr>
            <a:r>
              <a:rPr sz="1650" b="0">
                <a:solidFill>
                  <a:srgbClr val="536C66"/>
                </a:solidFill>
                <a:latin typeface="Arial"/>
                <a:ea typeface="Arial"/>
                <a:cs typeface="Arial"/>
              </a:rPr>
              <a:t>The extended representation uses color and texture; HOG remains in the baseline study.</a:t>
            </a:r>
          </a:p>
        </p:txBody>
      </p:sp>
    </p:spTree>
    <p:extLst>
      <p:ext uri="{BB962C8B-B14F-4D97-AF65-F5344CB8AC3E}">
        <p14:creationId xmlns:p14="http://schemas.microsoft.com/office/powerpoint/2010/main" val="2098479766"/>
      </p:ext>
    </p:extLst>
  </p:cSld>
</p:sld>
</file>

<file path=ppt/slides/slide7.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ED6BC99-2F03-46DD-BDB4-293C6454D381}"/>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63B35"/>
                </a:solidFill>
                <a:latin typeface="Arial"/>
                <a:ea typeface="Arial"/>
                <a:cs typeface="Arial"/>
              </a:defRPr>
            </a:defPPr>
            <a:lvl1pPr>
              <a:defRPr sz="3300" b="1">
                <a:solidFill>
                  <a:srgbClr val="163B35"/>
                </a:solidFill>
                <a:latin typeface="Arial"/>
                <a:ea typeface="Arial"/>
                <a:cs typeface="Arial"/>
              </a:defRPr>
            </a:lvl1pPr>
            <a:lvl2pPr>
              <a:defRPr sz="3300" b="1">
                <a:solidFill>
                  <a:srgbClr val="163B35"/>
                </a:solidFill>
                <a:latin typeface="Arial"/>
                <a:ea typeface="Arial"/>
                <a:cs typeface="Arial"/>
              </a:defRPr>
            </a:lvl2pPr>
            <a:lvl3pPr>
              <a:defRPr sz="3300" b="1">
                <a:solidFill>
                  <a:srgbClr val="163B35"/>
                </a:solidFill>
                <a:latin typeface="Arial"/>
                <a:ea typeface="Arial"/>
                <a:cs typeface="Arial"/>
              </a:defRPr>
            </a:lvl3pPr>
            <a:lvl4pPr>
              <a:defRPr sz="3300" b="1">
                <a:solidFill>
                  <a:srgbClr val="163B35"/>
                </a:solidFill>
                <a:latin typeface="Arial"/>
                <a:ea typeface="Arial"/>
                <a:cs typeface="Arial"/>
              </a:defRPr>
            </a:lvl4pPr>
            <a:lvl5pPr>
              <a:defRPr sz="3300" b="1">
                <a:solidFill>
                  <a:srgbClr val="163B35"/>
                </a:solidFill>
                <a:latin typeface="Arial"/>
                <a:ea typeface="Arial"/>
                <a:cs typeface="Arial"/>
              </a:defRPr>
            </a:lvl5pPr>
            <a:lvl6pPr>
              <a:defRPr sz="3300" b="1">
                <a:solidFill>
                  <a:srgbClr val="163B35"/>
                </a:solidFill>
                <a:latin typeface="Arial"/>
                <a:ea typeface="Arial"/>
                <a:cs typeface="Arial"/>
              </a:defRPr>
            </a:lvl6pPr>
            <a:lvl7pPr>
              <a:defRPr sz="3300" b="1">
                <a:solidFill>
                  <a:srgbClr val="163B35"/>
                </a:solidFill>
                <a:latin typeface="Arial"/>
                <a:ea typeface="Arial"/>
                <a:cs typeface="Arial"/>
              </a:defRPr>
            </a:lvl7pPr>
            <a:lvl8pPr>
              <a:defRPr sz="3300" b="1">
                <a:solidFill>
                  <a:srgbClr val="163B35"/>
                </a:solidFill>
                <a:latin typeface="Arial"/>
                <a:ea typeface="Arial"/>
                <a:cs typeface="Arial"/>
              </a:defRPr>
            </a:lvl8pPr>
            <a:lvl9pPr>
              <a:defRPr sz="3300" b="1">
                <a:solidFill>
                  <a:srgbClr val="163B35"/>
                </a:solidFill>
                <a:latin typeface="Arial"/>
                <a:ea typeface="Arial"/>
                <a:cs typeface="Arial"/>
              </a:defRPr>
            </a:lvl9pPr>
          </a:lstStyle>
          <a:p xmlns:a="http://schemas.openxmlformats.org/drawingml/2006/main">
            <a:pPr>
              <a:defRPr sz="3300" b="1">
                <a:solidFill>
                  <a:srgbClr val="163B35"/>
                </a:solidFill>
                <a:latin typeface="Arial"/>
                <a:ea typeface="Arial"/>
                <a:cs typeface="Arial"/>
              </a:defRPr>
            </a:pPr>
            <a:r>
              <a:rPr sz="3300" b="1">
                <a:solidFill>
                  <a:srgbClr val="163B35"/>
                </a:solidFill>
                <a:latin typeface="Arial"/>
                <a:ea typeface="Arial"/>
                <a:cs typeface="Arial"/>
              </a:rPr>
              <a:t>The extended SVM reaches 0.8803 mean CV F1</a:t>
            </a:r>
          </a:p>
        </p:txBody>
      </p:sp>
      <p:sp>
        <p:nvSpPr>
          <p:cNvPr id="2" name="">
            <a:extLst xmlns:a="http://schemas.openxmlformats.org/drawingml/2006/main">
              <a:ext uri="{FF2B5EF4-FFF2-40B4-BE49-F238E27FC236}">
                <a16:creationId xmlns:a16="http://schemas.microsoft.com/office/drawing/2014/main" id="{669B5433-FC96-4F2D-B46A-5FF873097DEF}"/>
              </a:ext>
            </a:extLst>
          </p:cNvPr>
          <p:cNvSpPr>
            <a:spLocks xmlns:a="http://schemas.openxmlformats.org/drawingml/2006/main" noGrp="1"/>
          </p:cNvSpPr>
          <p:nvPr/>
        </p:nvSpPr>
        <p:spPr>
          <a:xfrm xmlns:a="http://schemas.openxmlformats.org/drawingml/2006/main">
            <a:off x="11068050" y="633412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36C66"/>
                </a:solidFill>
                <a:latin typeface="Arial"/>
                <a:ea typeface="Arial"/>
                <a:cs typeface="Arial"/>
              </a:defRPr>
            </a:defPPr>
            <a:lvl1pPr>
              <a:defRPr sz="1350" b="0">
                <a:solidFill>
                  <a:srgbClr val="536C66"/>
                </a:solidFill>
                <a:latin typeface="Arial"/>
                <a:ea typeface="Arial"/>
                <a:cs typeface="Arial"/>
              </a:defRPr>
            </a:lvl1pPr>
            <a:lvl2pPr>
              <a:defRPr sz="1350" b="0">
                <a:solidFill>
                  <a:srgbClr val="536C66"/>
                </a:solidFill>
                <a:latin typeface="Arial"/>
                <a:ea typeface="Arial"/>
                <a:cs typeface="Arial"/>
              </a:defRPr>
            </a:lvl2pPr>
            <a:lvl3pPr>
              <a:defRPr sz="1350" b="0">
                <a:solidFill>
                  <a:srgbClr val="536C66"/>
                </a:solidFill>
                <a:latin typeface="Arial"/>
                <a:ea typeface="Arial"/>
                <a:cs typeface="Arial"/>
              </a:defRPr>
            </a:lvl3pPr>
            <a:lvl4pPr>
              <a:defRPr sz="1350" b="0">
                <a:solidFill>
                  <a:srgbClr val="536C66"/>
                </a:solidFill>
                <a:latin typeface="Arial"/>
                <a:ea typeface="Arial"/>
                <a:cs typeface="Arial"/>
              </a:defRPr>
            </a:lvl4pPr>
            <a:lvl5pPr>
              <a:defRPr sz="1350" b="0">
                <a:solidFill>
                  <a:srgbClr val="536C66"/>
                </a:solidFill>
                <a:latin typeface="Arial"/>
                <a:ea typeface="Arial"/>
                <a:cs typeface="Arial"/>
              </a:defRPr>
            </a:lvl5pPr>
            <a:lvl6pPr>
              <a:defRPr sz="1350" b="0">
                <a:solidFill>
                  <a:srgbClr val="536C66"/>
                </a:solidFill>
                <a:latin typeface="Arial"/>
                <a:ea typeface="Arial"/>
                <a:cs typeface="Arial"/>
              </a:defRPr>
            </a:lvl6pPr>
            <a:lvl7pPr>
              <a:defRPr sz="1350" b="0">
                <a:solidFill>
                  <a:srgbClr val="536C66"/>
                </a:solidFill>
                <a:latin typeface="Arial"/>
                <a:ea typeface="Arial"/>
                <a:cs typeface="Arial"/>
              </a:defRPr>
            </a:lvl7pPr>
            <a:lvl8pPr>
              <a:defRPr sz="1350" b="0">
                <a:solidFill>
                  <a:srgbClr val="536C66"/>
                </a:solidFill>
                <a:latin typeface="Arial"/>
                <a:ea typeface="Arial"/>
                <a:cs typeface="Arial"/>
              </a:defRPr>
            </a:lvl8pPr>
            <a:lvl9pPr>
              <a:defRPr sz="1350" b="0">
                <a:solidFill>
                  <a:srgbClr val="536C66"/>
                </a:solidFill>
                <a:latin typeface="Arial"/>
                <a:ea typeface="Arial"/>
                <a:cs typeface="Arial"/>
              </a:defRPr>
            </a:lvl9pPr>
          </a:lstStyle>
          <a:p xmlns:a="http://schemas.openxmlformats.org/drawingml/2006/main">
            <a:pPr>
              <a:defRPr sz="1350" b="0">
                <a:solidFill>
                  <a:srgbClr val="536C66"/>
                </a:solidFill>
                <a:latin typeface="Arial"/>
                <a:ea typeface="Arial"/>
                <a:cs typeface="Arial"/>
              </a:defRPr>
            </a:pPr>
            <a:r>
              <a:rPr sz="1350" b="0">
                <a:solidFill>
                  <a:srgbClr val="536C66"/>
                </a:solidFill>
                <a:latin typeface="Arial"/>
                <a:ea typeface="Arial"/>
                <a:cs typeface="Arial"/>
              </a:rPr>
              <a:t>07</a:t>
            </a:r>
          </a:p>
        </p:txBody>
      </p:sp>
      <p:graphicFrame>
        <p:nvGraphicFramePr>
          <p:cNvPr id="3" name="Chart">
            <a:extLst xmlns:a="http://schemas.openxmlformats.org/drawingml/2006/main">
              <a:ext uri="{FF2B5EF4-FFF2-40B4-BE49-F238E27FC236}">
                <a16:creationId xmlns:a16="http://schemas.microsoft.com/office/drawing/2014/main" id="{AF1F6BB4-9BE7-484B-8DED-1E9766F954EE}"/>
              </a:ext>
            </a:extLst>
          </p:cNvPr>
          <p:cNvGraphicFramePr/>
          <p:nvPr/>
        </p:nvGraphicFramePr>
        <p:xfrm>
          <a:off xmlns:a="http://schemas.openxmlformats.org/drawingml/2006/main" x="609600" y="1666875"/>
          <a:ext xmlns:a="http://schemas.openxmlformats.org/drawingml/2006/main" cx="10477500" cy="3381375"/>
        </p:xfrm>
        <a:graphic xmlns:a="http://schemas.openxmlformats.org/drawingml/2006/main">
          <a:graphicData uri="http://schemas.openxmlformats.org/drawingml/2006/chart">
            <c:chart xmlns:r="http://schemas.openxmlformats.org/officeDocument/2006/relationships" xmlns:c="http://schemas.openxmlformats.org/drawingml/2006/chart" r:id="Rbc173b06a52f4e4a"/>
          </a:graphicData>
        </a:graphic>
      </p:graphicFrame>
      <p:sp>
        <p:nvSpPr>
          <p:cNvPr id="4" name="">
            <a:extLst xmlns:a="http://schemas.openxmlformats.org/drawingml/2006/main">
              <a:ext uri="{FF2B5EF4-FFF2-40B4-BE49-F238E27FC236}">
                <a16:creationId xmlns:a16="http://schemas.microsoft.com/office/drawing/2014/main" id="{0FCA737D-63D1-4EA3-94F7-696B0F7194C4}"/>
              </a:ext>
            </a:extLst>
          </p:cNvPr>
          <p:cNvSpPr>
            <a:spLocks xmlns:a="http://schemas.openxmlformats.org/drawingml/2006/main" noGrp="1"/>
          </p:cNvSpPr>
          <p:nvPr/>
        </p:nvSpPr>
        <p:spPr>
          <a:xfrm xmlns:a="http://schemas.openxmlformats.org/drawingml/2006/main">
            <a:off x="609600" y="53816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63B35"/>
                </a:solidFill>
                <a:latin typeface="Arial"/>
                <a:ea typeface="Arial"/>
                <a:cs typeface="Arial"/>
              </a:defRPr>
            </a:defPPr>
            <a:lvl1pPr>
              <a:defRPr sz="1950" b="0">
                <a:solidFill>
                  <a:srgbClr val="163B35"/>
                </a:solidFill>
                <a:latin typeface="Arial"/>
                <a:ea typeface="Arial"/>
                <a:cs typeface="Arial"/>
              </a:defRPr>
            </a:lvl1pPr>
            <a:lvl2pPr>
              <a:defRPr sz="1950" b="0">
                <a:solidFill>
                  <a:srgbClr val="163B35"/>
                </a:solidFill>
                <a:latin typeface="Arial"/>
                <a:ea typeface="Arial"/>
                <a:cs typeface="Arial"/>
              </a:defRPr>
            </a:lvl2pPr>
            <a:lvl3pPr>
              <a:defRPr sz="1950" b="0">
                <a:solidFill>
                  <a:srgbClr val="163B35"/>
                </a:solidFill>
                <a:latin typeface="Arial"/>
                <a:ea typeface="Arial"/>
                <a:cs typeface="Arial"/>
              </a:defRPr>
            </a:lvl3pPr>
            <a:lvl4pPr>
              <a:defRPr sz="1950" b="0">
                <a:solidFill>
                  <a:srgbClr val="163B35"/>
                </a:solidFill>
                <a:latin typeface="Arial"/>
                <a:ea typeface="Arial"/>
                <a:cs typeface="Arial"/>
              </a:defRPr>
            </a:lvl4pPr>
            <a:lvl5pPr>
              <a:defRPr sz="1950" b="0">
                <a:solidFill>
                  <a:srgbClr val="163B35"/>
                </a:solidFill>
                <a:latin typeface="Arial"/>
                <a:ea typeface="Arial"/>
                <a:cs typeface="Arial"/>
              </a:defRPr>
            </a:lvl5pPr>
            <a:lvl6pPr>
              <a:defRPr sz="1950" b="0">
                <a:solidFill>
                  <a:srgbClr val="163B35"/>
                </a:solidFill>
                <a:latin typeface="Arial"/>
                <a:ea typeface="Arial"/>
                <a:cs typeface="Arial"/>
              </a:defRPr>
            </a:lvl6pPr>
            <a:lvl7pPr>
              <a:defRPr sz="1950" b="0">
                <a:solidFill>
                  <a:srgbClr val="163B35"/>
                </a:solidFill>
                <a:latin typeface="Arial"/>
                <a:ea typeface="Arial"/>
                <a:cs typeface="Arial"/>
              </a:defRPr>
            </a:lvl7pPr>
            <a:lvl8pPr>
              <a:defRPr sz="1950" b="0">
                <a:solidFill>
                  <a:srgbClr val="163B35"/>
                </a:solidFill>
                <a:latin typeface="Arial"/>
                <a:ea typeface="Arial"/>
                <a:cs typeface="Arial"/>
              </a:defRPr>
            </a:lvl8pPr>
            <a:lvl9pPr>
              <a:defRPr sz="1950" b="0">
                <a:solidFill>
                  <a:srgbClr val="163B35"/>
                </a:solidFill>
                <a:latin typeface="Arial"/>
                <a:ea typeface="Arial"/>
                <a:cs typeface="Arial"/>
              </a:defRPr>
            </a:lvl9pPr>
          </a:lstStyle>
          <a:p xmlns:a="http://schemas.openxmlformats.org/drawingml/2006/main">
            <a:pPr>
              <a:defRPr sz="1950" b="0">
                <a:solidFill>
                  <a:srgbClr val="163B35"/>
                </a:solidFill>
                <a:latin typeface="Arial"/>
                <a:ea typeface="Arial"/>
                <a:cs typeface="Arial"/>
              </a:defRPr>
            </a:pPr>
            <a:r>
              <a:rPr sz="1950" b="0">
                <a:solidFill>
                  <a:srgbClr val="163B35"/>
                </a:solidFill>
                <a:latin typeface="Arial"/>
                <a:ea typeface="Arial"/>
                <a:cs typeface="Arial"/>
              </a:rPr>
              <a:t>Square root + per-image L2 normalization</a:t>
            </a:r>
          </a:p>
        </p:txBody>
      </p:sp>
      <p:sp>
        <p:nvSpPr>
          <p:cNvPr id="5" name="">
            <a:extLst xmlns:a="http://schemas.openxmlformats.org/drawingml/2006/main">
              <a:ext uri="{FF2B5EF4-FFF2-40B4-BE49-F238E27FC236}">
                <a16:creationId xmlns:a16="http://schemas.microsoft.com/office/drawing/2014/main" id="{206E663A-00C3-4000-A728-CB734FEB6147}"/>
              </a:ext>
            </a:extLst>
          </p:cNvPr>
          <p:cNvSpPr>
            <a:spLocks xmlns:a="http://schemas.openxmlformats.org/drawingml/2006/main" noGrp="1"/>
          </p:cNvSpPr>
          <p:nvPr/>
        </p:nvSpPr>
        <p:spPr>
          <a:xfrm xmlns:a="http://schemas.openxmlformats.org/drawingml/2006/main">
            <a:off x="609600" y="58102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63B35"/>
                </a:solidFill>
                <a:latin typeface="Arial"/>
                <a:ea typeface="Arial"/>
                <a:cs typeface="Arial"/>
              </a:defRPr>
            </a:defPPr>
            <a:lvl1pPr>
              <a:defRPr sz="1950" b="0">
                <a:solidFill>
                  <a:srgbClr val="163B35"/>
                </a:solidFill>
                <a:latin typeface="Arial"/>
                <a:ea typeface="Arial"/>
                <a:cs typeface="Arial"/>
              </a:defRPr>
            </a:lvl1pPr>
            <a:lvl2pPr>
              <a:defRPr sz="1950" b="0">
                <a:solidFill>
                  <a:srgbClr val="163B35"/>
                </a:solidFill>
                <a:latin typeface="Arial"/>
                <a:ea typeface="Arial"/>
                <a:cs typeface="Arial"/>
              </a:defRPr>
            </a:lvl2pPr>
            <a:lvl3pPr>
              <a:defRPr sz="1950" b="0">
                <a:solidFill>
                  <a:srgbClr val="163B35"/>
                </a:solidFill>
                <a:latin typeface="Arial"/>
                <a:ea typeface="Arial"/>
                <a:cs typeface="Arial"/>
              </a:defRPr>
            </a:lvl3pPr>
            <a:lvl4pPr>
              <a:defRPr sz="1950" b="0">
                <a:solidFill>
                  <a:srgbClr val="163B35"/>
                </a:solidFill>
                <a:latin typeface="Arial"/>
                <a:ea typeface="Arial"/>
                <a:cs typeface="Arial"/>
              </a:defRPr>
            </a:lvl4pPr>
            <a:lvl5pPr>
              <a:defRPr sz="1950" b="0">
                <a:solidFill>
                  <a:srgbClr val="163B35"/>
                </a:solidFill>
                <a:latin typeface="Arial"/>
                <a:ea typeface="Arial"/>
                <a:cs typeface="Arial"/>
              </a:defRPr>
            </a:lvl5pPr>
            <a:lvl6pPr>
              <a:defRPr sz="1950" b="0">
                <a:solidFill>
                  <a:srgbClr val="163B35"/>
                </a:solidFill>
                <a:latin typeface="Arial"/>
                <a:ea typeface="Arial"/>
                <a:cs typeface="Arial"/>
              </a:defRPr>
            </a:lvl6pPr>
            <a:lvl7pPr>
              <a:defRPr sz="1950" b="0">
                <a:solidFill>
                  <a:srgbClr val="163B35"/>
                </a:solidFill>
                <a:latin typeface="Arial"/>
                <a:ea typeface="Arial"/>
                <a:cs typeface="Arial"/>
              </a:defRPr>
            </a:lvl7pPr>
            <a:lvl8pPr>
              <a:defRPr sz="1950" b="0">
                <a:solidFill>
                  <a:srgbClr val="163B35"/>
                </a:solidFill>
                <a:latin typeface="Arial"/>
                <a:ea typeface="Arial"/>
                <a:cs typeface="Arial"/>
              </a:defRPr>
            </a:lvl8pPr>
            <a:lvl9pPr>
              <a:defRPr sz="1950" b="0">
                <a:solidFill>
                  <a:srgbClr val="163B35"/>
                </a:solidFill>
                <a:latin typeface="Arial"/>
                <a:ea typeface="Arial"/>
                <a:cs typeface="Arial"/>
              </a:defRPr>
            </a:lvl9pPr>
          </a:lstStyle>
          <a:p xmlns:a="http://schemas.openxmlformats.org/drawingml/2006/main">
            <a:pPr>
              <a:defRPr sz="1950" b="0">
                <a:solidFill>
                  <a:srgbClr val="163B35"/>
                </a:solidFill>
                <a:latin typeface="Arial"/>
                <a:ea typeface="Arial"/>
                <a:cs typeface="Arial"/>
              </a:defRPr>
            </a:pPr>
            <a:r>
              <a:rPr sz="1950" b="0">
                <a:solidFill>
                  <a:srgbClr val="163B35"/>
                </a:solidFill>
                <a:latin typeface="Arial"/>
                <a:ea typeface="Arial"/>
                <a:cs typeface="Arial"/>
              </a:rPr>
              <a:t>RBF SVM: C = 10, γ = 10, no class weighting</a:t>
            </a:r>
          </a:p>
        </p:txBody>
      </p:sp>
    </p:spTree>
    <p:extLst>
      <p:ext uri="{BB962C8B-B14F-4D97-AF65-F5344CB8AC3E}">
        <p14:creationId xmlns:p14="http://schemas.microsoft.com/office/powerpoint/2010/main" val="1753930996"/>
      </p:ext>
    </p:extLst>
  </p:cSld>
</p:sld>
</file>

<file path=ppt/slides/slide8.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5548A98-CA98-4656-AC8F-02049D85733B}"/>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63B35"/>
                </a:solidFill>
                <a:latin typeface="Arial"/>
                <a:ea typeface="Arial"/>
                <a:cs typeface="Arial"/>
              </a:defRPr>
            </a:defPPr>
            <a:lvl1pPr>
              <a:defRPr sz="3300" b="1">
                <a:solidFill>
                  <a:srgbClr val="163B35"/>
                </a:solidFill>
                <a:latin typeface="Arial"/>
                <a:ea typeface="Arial"/>
                <a:cs typeface="Arial"/>
              </a:defRPr>
            </a:lvl1pPr>
            <a:lvl2pPr>
              <a:defRPr sz="3300" b="1">
                <a:solidFill>
                  <a:srgbClr val="163B35"/>
                </a:solidFill>
                <a:latin typeface="Arial"/>
                <a:ea typeface="Arial"/>
                <a:cs typeface="Arial"/>
              </a:defRPr>
            </a:lvl2pPr>
            <a:lvl3pPr>
              <a:defRPr sz="3300" b="1">
                <a:solidFill>
                  <a:srgbClr val="163B35"/>
                </a:solidFill>
                <a:latin typeface="Arial"/>
                <a:ea typeface="Arial"/>
                <a:cs typeface="Arial"/>
              </a:defRPr>
            </a:lvl3pPr>
            <a:lvl4pPr>
              <a:defRPr sz="3300" b="1">
                <a:solidFill>
                  <a:srgbClr val="163B35"/>
                </a:solidFill>
                <a:latin typeface="Arial"/>
                <a:ea typeface="Arial"/>
                <a:cs typeface="Arial"/>
              </a:defRPr>
            </a:lvl4pPr>
            <a:lvl5pPr>
              <a:defRPr sz="3300" b="1">
                <a:solidFill>
                  <a:srgbClr val="163B35"/>
                </a:solidFill>
                <a:latin typeface="Arial"/>
                <a:ea typeface="Arial"/>
                <a:cs typeface="Arial"/>
              </a:defRPr>
            </a:lvl5pPr>
            <a:lvl6pPr>
              <a:defRPr sz="3300" b="1">
                <a:solidFill>
                  <a:srgbClr val="163B35"/>
                </a:solidFill>
                <a:latin typeface="Arial"/>
                <a:ea typeface="Arial"/>
                <a:cs typeface="Arial"/>
              </a:defRPr>
            </a:lvl6pPr>
            <a:lvl7pPr>
              <a:defRPr sz="3300" b="1">
                <a:solidFill>
                  <a:srgbClr val="163B35"/>
                </a:solidFill>
                <a:latin typeface="Arial"/>
                <a:ea typeface="Arial"/>
                <a:cs typeface="Arial"/>
              </a:defRPr>
            </a:lvl7pPr>
            <a:lvl8pPr>
              <a:defRPr sz="3300" b="1">
                <a:solidFill>
                  <a:srgbClr val="163B35"/>
                </a:solidFill>
                <a:latin typeface="Arial"/>
                <a:ea typeface="Arial"/>
                <a:cs typeface="Arial"/>
              </a:defRPr>
            </a:lvl8pPr>
            <a:lvl9pPr>
              <a:defRPr sz="3300" b="1">
                <a:solidFill>
                  <a:srgbClr val="163B35"/>
                </a:solidFill>
                <a:latin typeface="Arial"/>
                <a:ea typeface="Arial"/>
                <a:cs typeface="Arial"/>
              </a:defRPr>
            </a:lvl9pPr>
          </a:lstStyle>
          <a:p xmlns:a="http://schemas.openxmlformats.org/drawingml/2006/main">
            <a:pPr>
              <a:defRPr sz="3300" b="1">
                <a:solidFill>
                  <a:srgbClr val="163B35"/>
                </a:solidFill>
                <a:latin typeface="Arial"/>
                <a:ea typeface="Arial"/>
                <a:cs typeface="Arial"/>
              </a:defRPr>
            </a:pPr>
            <a:r>
              <a:rPr sz="3300" b="1">
                <a:solidFill>
                  <a:srgbClr val="163B35"/>
                </a:solidFill>
                <a:latin typeface="Arial"/>
                <a:ea typeface="Arial"/>
                <a:cs typeface="Arial"/>
              </a:rPr>
              <a:t>Random Forest improves with richer descriptors</a:t>
            </a:r>
          </a:p>
        </p:txBody>
      </p:sp>
      <p:sp>
        <p:nvSpPr>
          <p:cNvPr id="2" name="">
            <a:extLst xmlns:a="http://schemas.openxmlformats.org/drawingml/2006/main">
              <a:ext uri="{FF2B5EF4-FFF2-40B4-BE49-F238E27FC236}">
                <a16:creationId xmlns:a16="http://schemas.microsoft.com/office/drawing/2014/main" id="{619EFEED-A6B2-4CF1-B33D-E9CD6A7F2272}"/>
              </a:ext>
            </a:extLst>
          </p:cNvPr>
          <p:cNvSpPr>
            <a:spLocks xmlns:a="http://schemas.openxmlformats.org/drawingml/2006/main" noGrp="1"/>
          </p:cNvSpPr>
          <p:nvPr/>
        </p:nvSpPr>
        <p:spPr>
          <a:xfrm xmlns:a="http://schemas.openxmlformats.org/drawingml/2006/main">
            <a:off x="11068050" y="633412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36C66"/>
                </a:solidFill>
                <a:latin typeface="Arial"/>
                <a:ea typeface="Arial"/>
                <a:cs typeface="Arial"/>
              </a:defRPr>
            </a:defPPr>
            <a:lvl1pPr>
              <a:defRPr sz="1350" b="0">
                <a:solidFill>
                  <a:srgbClr val="536C66"/>
                </a:solidFill>
                <a:latin typeface="Arial"/>
                <a:ea typeface="Arial"/>
                <a:cs typeface="Arial"/>
              </a:defRPr>
            </a:lvl1pPr>
            <a:lvl2pPr>
              <a:defRPr sz="1350" b="0">
                <a:solidFill>
                  <a:srgbClr val="536C66"/>
                </a:solidFill>
                <a:latin typeface="Arial"/>
                <a:ea typeface="Arial"/>
                <a:cs typeface="Arial"/>
              </a:defRPr>
            </a:lvl2pPr>
            <a:lvl3pPr>
              <a:defRPr sz="1350" b="0">
                <a:solidFill>
                  <a:srgbClr val="536C66"/>
                </a:solidFill>
                <a:latin typeface="Arial"/>
                <a:ea typeface="Arial"/>
                <a:cs typeface="Arial"/>
              </a:defRPr>
            </a:lvl3pPr>
            <a:lvl4pPr>
              <a:defRPr sz="1350" b="0">
                <a:solidFill>
                  <a:srgbClr val="536C66"/>
                </a:solidFill>
                <a:latin typeface="Arial"/>
                <a:ea typeface="Arial"/>
                <a:cs typeface="Arial"/>
              </a:defRPr>
            </a:lvl4pPr>
            <a:lvl5pPr>
              <a:defRPr sz="1350" b="0">
                <a:solidFill>
                  <a:srgbClr val="536C66"/>
                </a:solidFill>
                <a:latin typeface="Arial"/>
                <a:ea typeface="Arial"/>
                <a:cs typeface="Arial"/>
              </a:defRPr>
            </a:lvl5pPr>
            <a:lvl6pPr>
              <a:defRPr sz="1350" b="0">
                <a:solidFill>
                  <a:srgbClr val="536C66"/>
                </a:solidFill>
                <a:latin typeface="Arial"/>
                <a:ea typeface="Arial"/>
                <a:cs typeface="Arial"/>
              </a:defRPr>
            </a:lvl6pPr>
            <a:lvl7pPr>
              <a:defRPr sz="1350" b="0">
                <a:solidFill>
                  <a:srgbClr val="536C66"/>
                </a:solidFill>
                <a:latin typeface="Arial"/>
                <a:ea typeface="Arial"/>
                <a:cs typeface="Arial"/>
              </a:defRPr>
            </a:lvl7pPr>
            <a:lvl8pPr>
              <a:defRPr sz="1350" b="0">
                <a:solidFill>
                  <a:srgbClr val="536C66"/>
                </a:solidFill>
                <a:latin typeface="Arial"/>
                <a:ea typeface="Arial"/>
                <a:cs typeface="Arial"/>
              </a:defRPr>
            </a:lvl8pPr>
            <a:lvl9pPr>
              <a:defRPr sz="1350" b="0">
                <a:solidFill>
                  <a:srgbClr val="536C66"/>
                </a:solidFill>
                <a:latin typeface="Arial"/>
                <a:ea typeface="Arial"/>
                <a:cs typeface="Arial"/>
              </a:defRPr>
            </a:lvl9pPr>
          </a:lstStyle>
          <a:p xmlns:a="http://schemas.openxmlformats.org/drawingml/2006/main">
            <a:pPr>
              <a:defRPr sz="1350" b="0">
                <a:solidFill>
                  <a:srgbClr val="536C66"/>
                </a:solidFill>
                <a:latin typeface="Arial"/>
                <a:ea typeface="Arial"/>
                <a:cs typeface="Arial"/>
              </a:defRPr>
            </a:pPr>
            <a:r>
              <a:rPr sz="1350" b="0">
                <a:solidFill>
                  <a:srgbClr val="536C66"/>
                </a:solidFill>
                <a:latin typeface="Arial"/>
                <a:ea typeface="Arial"/>
                <a:cs typeface="Arial"/>
              </a:rPr>
              <a:t>08</a:t>
            </a:r>
          </a:p>
        </p:txBody>
      </p:sp>
      <p:graphicFrame>
        <p:nvGraphicFramePr>
          <p:cNvPr id="3" name="Chart">
            <a:extLst xmlns:a="http://schemas.openxmlformats.org/drawingml/2006/main">
              <a:ext uri="{FF2B5EF4-FFF2-40B4-BE49-F238E27FC236}">
                <a16:creationId xmlns:a16="http://schemas.microsoft.com/office/drawing/2014/main" id="{4DA607E2-27AB-4176-99DE-62CB21A03CF9}"/>
              </a:ext>
            </a:extLst>
          </p:cNvPr>
          <p:cNvGraphicFramePr/>
          <p:nvPr/>
        </p:nvGraphicFramePr>
        <p:xfrm>
          <a:off xmlns:a="http://schemas.openxmlformats.org/drawingml/2006/main" x="609600" y="1666875"/>
          <a:ext xmlns:a="http://schemas.openxmlformats.org/drawingml/2006/main" cx="10477500" cy="3429000"/>
        </p:xfrm>
        <a:graphic xmlns:a="http://schemas.openxmlformats.org/drawingml/2006/main">
          <a:graphicData uri="http://schemas.openxmlformats.org/drawingml/2006/chart">
            <c:chart xmlns:r="http://schemas.openxmlformats.org/officeDocument/2006/relationships" xmlns:c="http://schemas.openxmlformats.org/drawingml/2006/chart" r:id="Rf0582dbf9a174ce1"/>
          </a:graphicData>
        </a:graphic>
      </p:graphicFrame>
      <p:sp>
        <p:nvSpPr>
          <p:cNvPr id="4" name="">
            <a:extLst xmlns:a="http://schemas.openxmlformats.org/drawingml/2006/main">
              <a:ext uri="{FF2B5EF4-FFF2-40B4-BE49-F238E27FC236}">
                <a16:creationId xmlns:a16="http://schemas.microsoft.com/office/drawing/2014/main" id="{744954E1-109E-45C8-A9FC-1E5313D1A97D}"/>
              </a:ext>
            </a:extLst>
          </p:cNvPr>
          <p:cNvSpPr>
            <a:spLocks xmlns:a="http://schemas.openxmlformats.org/drawingml/2006/main" noGrp="1"/>
          </p:cNvSpPr>
          <p:nvPr/>
        </p:nvSpPr>
        <p:spPr>
          <a:xfrm xmlns:a="http://schemas.openxmlformats.org/drawingml/2006/main">
            <a:off x="609600" y="566737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36C66"/>
                </a:solidFill>
                <a:latin typeface="Arial"/>
                <a:ea typeface="Arial"/>
                <a:cs typeface="Arial"/>
              </a:defRPr>
            </a:defPPr>
            <a:lvl1pPr>
              <a:defRPr sz="1650" b="0">
                <a:solidFill>
                  <a:srgbClr val="536C66"/>
                </a:solidFill>
                <a:latin typeface="Arial"/>
                <a:ea typeface="Arial"/>
                <a:cs typeface="Arial"/>
              </a:defRPr>
            </a:lvl1pPr>
            <a:lvl2pPr>
              <a:defRPr sz="1650" b="0">
                <a:solidFill>
                  <a:srgbClr val="536C66"/>
                </a:solidFill>
                <a:latin typeface="Arial"/>
                <a:ea typeface="Arial"/>
                <a:cs typeface="Arial"/>
              </a:defRPr>
            </a:lvl2pPr>
            <a:lvl3pPr>
              <a:defRPr sz="1650" b="0">
                <a:solidFill>
                  <a:srgbClr val="536C66"/>
                </a:solidFill>
                <a:latin typeface="Arial"/>
                <a:ea typeface="Arial"/>
                <a:cs typeface="Arial"/>
              </a:defRPr>
            </a:lvl3pPr>
            <a:lvl4pPr>
              <a:defRPr sz="1650" b="0">
                <a:solidFill>
                  <a:srgbClr val="536C66"/>
                </a:solidFill>
                <a:latin typeface="Arial"/>
                <a:ea typeface="Arial"/>
                <a:cs typeface="Arial"/>
              </a:defRPr>
            </a:lvl4pPr>
            <a:lvl5pPr>
              <a:defRPr sz="1650" b="0">
                <a:solidFill>
                  <a:srgbClr val="536C66"/>
                </a:solidFill>
                <a:latin typeface="Arial"/>
                <a:ea typeface="Arial"/>
                <a:cs typeface="Arial"/>
              </a:defRPr>
            </a:lvl5pPr>
            <a:lvl6pPr>
              <a:defRPr sz="1650" b="0">
                <a:solidFill>
                  <a:srgbClr val="536C66"/>
                </a:solidFill>
                <a:latin typeface="Arial"/>
                <a:ea typeface="Arial"/>
                <a:cs typeface="Arial"/>
              </a:defRPr>
            </a:lvl6pPr>
            <a:lvl7pPr>
              <a:defRPr sz="1650" b="0">
                <a:solidFill>
                  <a:srgbClr val="536C66"/>
                </a:solidFill>
                <a:latin typeface="Arial"/>
                <a:ea typeface="Arial"/>
                <a:cs typeface="Arial"/>
              </a:defRPr>
            </a:lvl7pPr>
            <a:lvl8pPr>
              <a:defRPr sz="1650" b="0">
                <a:solidFill>
                  <a:srgbClr val="536C66"/>
                </a:solidFill>
                <a:latin typeface="Arial"/>
                <a:ea typeface="Arial"/>
                <a:cs typeface="Arial"/>
              </a:defRPr>
            </a:lvl8pPr>
            <a:lvl9pPr>
              <a:defRPr sz="1650" b="0">
                <a:solidFill>
                  <a:srgbClr val="536C66"/>
                </a:solidFill>
                <a:latin typeface="Arial"/>
                <a:ea typeface="Arial"/>
                <a:cs typeface="Arial"/>
              </a:defRPr>
            </a:lvl9pPr>
          </a:lstStyle>
          <a:p xmlns:a="http://schemas.openxmlformats.org/drawingml/2006/main">
            <a:pPr>
              <a:defRPr sz="1650" b="0">
                <a:solidFill>
                  <a:srgbClr val="536C66"/>
                </a:solidFill>
                <a:latin typeface="Arial"/>
                <a:ea typeface="Arial"/>
                <a:cs typeface="Arial"/>
              </a:defRPr>
            </a:pPr>
            <a:r>
              <a:rPr sz="1650" b="0">
                <a:solidFill>
                  <a:srgbClr val="536C66"/>
                </a:solidFill>
                <a:latin typeface="Arial"/>
                <a:ea typeface="Arial"/>
                <a:cs typeface="Arial"/>
              </a:rPr>
              <a:t>C = color, T = texture. Same 24 configurations per family, 480 fold fits overall.</a:t>
            </a:r>
          </a:p>
        </p:txBody>
      </p:sp>
    </p:spTree>
    <p:extLst>
      <p:ext uri="{BB962C8B-B14F-4D97-AF65-F5344CB8AC3E}">
        <p14:creationId xmlns:p14="http://schemas.microsoft.com/office/powerpoint/2010/main" val="725402748"/>
      </p:ext>
    </p:extLst>
  </p:cSld>
</p:sld>
</file>

<file path=ppt/slides/slide9.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40A42AE-05D7-4793-BCCF-8519A2D9B962}"/>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63B35"/>
                </a:solidFill>
                <a:latin typeface="Arial"/>
                <a:ea typeface="Arial"/>
                <a:cs typeface="Arial"/>
              </a:defRPr>
            </a:defPPr>
            <a:lvl1pPr>
              <a:defRPr sz="3300" b="1">
                <a:solidFill>
                  <a:srgbClr val="163B35"/>
                </a:solidFill>
                <a:latin typeface="Arial"/>
                <a:ea typeface="Arial"/>
                <a:cs typeface="Arial"/>
              </a:defRPr>
            </a:lvl1pPr>
            <a:lvl2pPr>
              <a:defRPr sz="3300" b="1">
                <a:solidFill>
                  <a:srgbClr val="163B35"/>
                </a:solidFill>
                <a:latin typeface="Arial"/>
                <a:ea typeface="Arial"/>
                <a:cs typeface="Arial"/>
              </a:defRPr>
            </a:lvl2pPr>
            <a:lvl3pPr>
              <a:defRPr sz="3300" b="1">
                <a:solidFill>
                  <a:srgbClr val="163B35"/>
                </a:solidFill>
                <a:latin typeface="Arial"/>
                <a:ea typeface="Arial"/>
                <a:cs typeface="Arial"/>
              </a:defRPr>
            </a:lvl3pPr>
            <a:lvl4pPr>
              <a:defRPr sz="3300" b="1">
                <a:solidFill>
                  <a:srgbClr val="163B35"/>
                </a:solidFill>
                <a:latin typeface="Arial"/>
                <a:ea typeface="Arial"/>
                <a:cs typeface="Arial"/>
              </a:defRPr>
            </a:lvl4pPr>
            <a:lvl5pPr>
              <a:defRPr sz="3300" b="1">
                <a:solidFill>
                  <a:srgbClr val="163B35"/>
                </a:solidFill>
                <a:latin typeface="Arial"/>
                <a:ea typeface="Arial"/>
                <a:cs typeface="Arial"/>
              </a:defRPr>
            </a:lvl5pPr>
            <a:lvl6pPr>
              <a:defRPr sz="3300" b="1">
                <a:solidFill>
                  <a:srgbClr val="163B35"/>
                </a:solidFill>
                <a:latin typeface="Arial"/>
                <a:ea typeface="Arial"/>
                <a:cs typeface="Arial"/>
              </a:defRPr>
            </a:lvl6pPr>
            <a:lvl7pPr>
              <a:defRPr sz="3300" b="1">
                <a:solidFill>
                  <a:srgbClr val="163B35"/>
                </a:solidFill>
                <a:latin typeface="Arial"/>
                <a:ea typeface="Arial"/>
                <a:cs typeface="Arial"/>
              </a:defRPr>
            </a:lvl7pPr>
            <a:lvl8pPr>
              <a:defRPr sz="3300" b="1">
                <a:solidFill>
                  <a:srgbClr val="163B35"/>
                </a:solidFill>
                <a:latin typeface="Arial"/>
                <a:ea typeface="Arial"/>
                <a:cs typeface="Arial"/>
              </a:defRPr>
            </a:lvl8pPr>
            <a:lvl9pPr>
              <a:defRPr sz="3300" b="1">
                <a:solidFill>
                  <a:srgbClr val="163B35"/>
                </a:solidFill>
                <a:latin typeface="Arial"/>
                <a:ea typeface="Arial"/>
                <a:cs typeface="Arial"/>
              </a:defRPr>
            </a:lvl9pPr>
          </a:lstStyle>
          <a:p xmlns:a="http://schemas.openxmlformats.org/drawingml/2006/main">
            <a:pPr>
              <a:defRPr sz="3300" b="1">
                <a:solidFill>
                  <a:srgbClr val="163B35"/>
                </a:solidFill>
                <a:latin typeface="Arial"/>
                <a:ea typeface="Arial"/>
                <a:cs typeface="Arial"/>
              </a:defRPr>
            </a:pPr>
            <a:r>
              <a:rPr sz="3300" b="1">
                <a:solidFill>
                  <a:srgbClr val="163B35"/>
                </a:solidFill>
                <a:latin typeface="Arial"/>
                <a:ea typeface="Arial"/>
                <a:cs typeface="Arial"/>
              </a:rPr>
              <a:t>More features do not always improve the model</a:t>
            </a:r>
          </a:p>
        </p:txBody>
      </p:sp>
      <p:sp>
        <p:nvSpPr>
          <p:cNvPr id="2" name="">
            <a:extLst xmlns:a="http://schemas.openxmlformats.org/drawingml/2006/main">
              <a:ext uri="{FF2B5EF4-FFF2-40B4-BE49-F238E27FC236}">
                <a16:creationId xmlns:a16="http://schemas.microsoft.com/office/drawing/2014/main" id="{19243A06-AB37-4EEA-A106-15AF649D69CB}"/>
              </a:ext>
            </a:extLst>
          </p:cNvPr>
          <p:cNvSpPr>
            <a:spLocks xmlns:a="http://schemas.openxmlformats.org/drawingml/2006/main" noGrp="1"/>
          </p:cNvSpPr>
          <p:nvPr/>
        </p:nvSpPr>
        <p:spPr>
          <a:xfrm xmlns:a="http://schemas.openxmlformats.org/drawingml/2006/main">
            <a:off x="11068050" y="633412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36C66"/>
                </a:solidFill>
                <a:latin typeface="Arial"/>
                <a:ea typeface="Arial"/>
                <a:cs typeface="Arial"/>
              </a:defRPr>
            </a:defPPr>
            <a:lvl1pPr>
              <a:defRPr sz="1350" b="0">
                <a:solidFill>
                  <a:srgbClr val="536C66"/>
                </a:solidFill>
                <a:latin typeface="Arial"/>
                <a:ea typeface="Arial"/>
                <a:cs typeface="Arial"/>
              </a:defRPr>
            </a:lvl1pPr>
            <a:lvl2pPr>
              <a:defRPr sz="1350" b="0">
                <a:solidFill>
                  <a:srgbClr val="536C66"/>
                </a:solidFill>
                <a:latin typeface="Arial"/>
                <a:ea typeface="Arial"/>
                <a:cs typeface="Arial"/>
              </a:defRPr>
            </a:lvl2pPr>
            <a:lvl3pPr>
              <a:defRPr sz="1350" b="0">
                <a:solidFill>
                  <a:srgbClr val="536C66"/>
                </a:solidFill>
                <a:latin typeface="Arial"/>
                <a:ea typeface="Arial"/>
                <a:cs typeface="Arial"/>
              </a:defRPr>
            </a:lvl3pPr>
            <a:lvl4pPr>
              <a:defRPr sz="1350" b="0">
                <a:solidFill>
                  <a:srgbClr val="536C66"/>
                </a:solidFill>
                <a:latin typeface="Arial"/>
                <a:ea typeface="Arial"/>
                <a:cs typeface="Arial"/>
              </a:defRPr>
            </a:lvl4pPr>
            <a:lvl5pPr>
              <a:defRPr sz="1350" b="0">
                <a:solidFill>
                  <a:srgbClr val="536C66"/>
                </a:solidFill>
                <a:latin typeface="Arial"/>
                <a:ea typeface="Arial"/>
                <a:cs typeface="Arial"/>
              </a:defRPr>
            </a:lvl5pPr>
            <a:lvl6pPr>
              <a:defRPr sz="1350" b="0">
                <a:solidFill>
                  <a:srgbClr val="536C66"/>
                </a:solidFill>
                <a:latin typeface="Arial"/>
                <a:ea typeface="Arial"/>
                <a:cs typeface="Arial"/>
              </a:defRPr>
            </a:lvl6pPr>
            <a:lvl7pPr>
              <a:defRPr sz="1350" b="0">
                <a:solidFill>
                  <a:srgbClr val="536C66"/>
                </a:solidFill>
                <a:latin typeface="Arial"/>
                <a:ea typeface="Arial"/>
                <a:cs typeface="Arial"/>
              </a:defRPr>
            </a:lvl7pPr>
            <a:lvl8pPr>
              <a:defRPr sz="1350" b="0">
                <a:solidFill>
                  <a:srgbClr val="536C66"/>
                </a:solidFill>
                <a:latin typeface="Arial"/>
                <a:ea typeface="Arial"/>
                <a:cs typeface="Arial"/>
              </a:defRPr>
            </a:lvl8pPr>
            <a:lvl9pPr>
              <a:defRPr sz="1350" b="0">
                <a:solidFill>
                  <a:srgbClr val="536C66"/>
                </a:solidFill>
                <a:latin typeface="Arial"/>
                <a:ea typeface="Arial"/>
                <a:cs typeface="Arial"/>
              </a:defRPr>
            </a:lvl9pPr>
          </a:lstStyle>
          <a:p xmlns:a="http://schemas.openxmlformats.org/drawingml/2006/main">
            <a:pPr>
              <a:defRPr sz="1350" b="0">
                <a:solidFill>
                  <a:srgbClr val="536C66"/>
                </a:solidFill>
                <a:latin typeface="Arial"/>
                <a:ea typeface="Arial"/>
                <a:cs typeface="Arial"/>
              </a:defRPr>
            </a:pPr>
            <a:r>
              <a:rPr sz="1350" b="0">
                <a:solidFill>
                  <a:srgbClr val="536C66"/>
                </a:solidFill>
                <a:latin typeface="Arial"/>
                <a:ea typeface="Arial"/>
                <a:cs typeface="Arial"/>
              </a:rPr>
              <a:t>09</a:t>
            </a:r>
          </a:p>
        </p:txBody>
      </p:sp>
      <p:graphicFrame>
        <p:nvGraphicFramePr>
          <p:cNvPr id="3" name="">
            <a:extLst xmlns:a="http://schemas.openxmlformats.org/drawingml/2006/main">
              <a:ext uri="{FF2B5EF4-FFF2-40B4-BE49-F238E27FC236}">
                <a16:creationId xmlns:a16="http://schemas.microsoft.com/office/drawing/2014/main" id="{36886C74-5C10-407E-B543-E948E95C9C64}"/>
              </a:ext>
            </a:extLst>
          </p:cNvPr>
          <p:cNvGraphicFramePr/>
          <p:nvPr/>
        </p:nvGraphicFramePr>
        <p:xfrm>
          <a:off xmlns:a="http://schemas.openxmlformats.org/drawingml/2006/main" x="609600" y="1838325"/>
          <a:ext xmlns:a="http://schemas.openxmlformats.org/drawingml/2006/main" cx="10972800" cy="2476500"/>
        </p:xfrm>
        <a:graphic xmlns:a="http://schemas.openxmlformats.org/drawingml/2006/main">
          <a:graphicData uri="http://schemas.openxmlformats.org/drawingml/2006/table">
            <a:tbl>
              <a:tblPr/>
              <a:tblGrid>
                <a:gridCol w="3333750"/>
                <a:gridCol w="3819525"/>
                <a:gridCol w="3819525"/>
              </a:tblGrid>
              <a:tr h="825500">
                <a:tc>
                  <a:txBody>
                    <a:bodyPr/>
                    <a:lstStyle/>
                    <a:p>
                      <a:r>
                        <a:rPr sz="1725" b="1">
                          <a:solidFill>
                            <a:srgbClr val="FFFFFF"/>
                          </a:solidFill>
                          <a:latin typeface="Arial"/>
                          <a:ea typeface="Arial"/>
                          <a:cs typeface="Arial"/>
                        </a:rPr>
                        <a:t>Comparison</a:t>
                      </a:r>
                    </a:p>
                  </a:txBody>
                  <a:tcPr marL="91440" marR="91440" marT="45720" marB="45720">
                    <a:lnL w="9525">
                      <a:solidFill>
                        <a:srgbClr val="D8E2DD"/>
                      </a:solidFill>
                      <a:prstDash val="solid"/>
                    </a:lnL>
                    <a:lnR w="9525">
                      <a:solidFill>
                        <a:srgbClr val="D8E2DD"/>
                      </a:solidFill>
                      <a:prstDash val="solid"/>
                    </a:lnR>
                    <a:lnT w="9525">
                      <a:solidFill>
                        <a:srgbClr val="D8E2DD"/>
                      </a:solidFill>
                      <a:prstDash val="solid"/>
                    </a:lnT>
                    <a:lnB w="9525">
                      <a:solidFill>
                        <a:srgbClr val="D8E2DD"/>
                      </a:solidFill>
                      <a:prstDash val="solid"/>
                    </a:lnB>
                    <a:solidFill>
                      <a:srgbClr val="163B35"/>
                    </a:solidFill>
                  </a:tcPr>
                </a:tc>
                <a:tc>
                  <a:txBody>
                    <a:bodyPr/>
                    <a:lstStyle/>
                    <a:p>
                      <a:r>
                        <a:rPr sz="1725" b="1">
                          <a:solidFill>
                            <a:srgbClr val="FFFFFF"/>
                          </a:solidFill>
                          <a:latin typeface="Arial"/>
                          <a:ea typeface="Arial"/>
                          <a:cs typeface="Arial"/>
                        </a:rPr>
                        <a:t>Smaller representation</a:t>
                      </a:r>
                    </a:p>
                  </a:txBody>
                  <a:tcPr marL="91440" marR="91440" marT="45720" marB="45720">
                    <a:lnR w="9525">
                      <a:solidFill>
                        <a:srgbClr val="D8E2DD"/>
                      </a:solidFill>
                      <a:prstDash val="solid"/>
                    </a:lnR>
                    <a:lnT w="9525">
                      <a:solidFill>
                        <a:srgbClr val="D8E2DD"/>
                      </a:solidFill>
                      <a:prstDash val="solid"/>
                    </a:lnT>
                    <a:lnB w="9525">
                      <a:solidFill>
                        <a:srgbClr val="D8E2DD"/>
                      </a:solidFill>
                      <a:prstDash val="solid"/>
                    </a:lnB>
                    <a:solidFill>
                      <a:srgbClr val="163B35"/>
                    </a:solidFill>
                  </a:tcPr>
                </a:tc>
                <a:tc>
                  <a:txBody>
                    <a:bodyPr/>
                    <a:lstStyle/>
                    <a:p>
                      <a:r>
                        <a:rPr sz="1725" b="1">
                          <a:solidFill>
                            <a:srgbClr val="FFFFFF"/>
                          </a:solidFill>
                          <a:latin typeface="Arial"/>
                          <a:ea typeface="Arial"/>
                          <a:cs typeface="Arial"/>
                        </a:rPr>
                        <a:t>Larger representation</a:t>
                      </a:r>
                    </a:p>
                  </a:txBody>
                  <a:tcPr marL="91440" marR="91440" marT="45720" marB="45720">
                    <a:lnR w="9525">
                      <a:solidFill>
                        <a:srgbClr val="D8E2DD"/>
                      </a:solidFill>
                      <a:prstDash val="solid"/>
                    </a:lnR>
                    <a:lnT w="9525">
                      <a:solidFill>
                        <a:srgbClr val="D8E2DD"/>
                      </a:solidFill>
                      <a:prstDash val="solid"/>
                    </a:lnT>
                    <a:lnB w="9525">
                      <a:solidFill>
                        <a:srgbClr val="D8E2DD"/>
                      </a:solidFill>
                      <a:prstDash val="solid"/>
                    </a:lnB>
                    <a:solidFill>
                      <a:srgbClr val="163B35"/>
                    </a:solidFill>
                  </a:tcPr>
                </a:tc>
              </a:tr>
              <a:tr h="825500">
                <a:tc>
                  <a:txBody>
                    <a:bodyPr/>
                    <a:lstStyle/>
                    <a:p>
                      <a:r>
                        <a:rPr sz="1725" b="0">
                          <a:solidFill>
                            <a:srgbClr val="163B35"/>
                          </a:solidFill>
                          <a:latin typeface="Arial"/>
                          <a:ea typeface="Arial"/>
                          <a:cs typeface="Arial"/>
                        </a:rPr>
                        <a:t>Initial Random Forest</a:t>
                      </a:r>
                    </a:p>
                  </a:txBody>
                  <a:tcPr marL="91440" marR="91440" marT="45720" marB="45720">
                    <a:lnL w="9525">
                      <a:solidFill>
                        <a:srgbClr val="D8E2DD"/>
                      </a:solidFill>
                      <a:prstDash val="solid"/>
                    </a:lnL>
                    <a:lnR w="9525">
                      <a:solidFill>
                        <a:srgbClr val="D8E2DD"/>
                      </a:solidFill>
                      <a:prstDash val="solid"/>
                    </a:lnR>
                    <a:lnB w="9525">
                      <a:solidFill>
                        <a:srgbClr val="D8E2DD"/>
                      </a:solidFill>
                      <a:prstDash val="solid"/>
                    </a:lnB>
                    <a:solidFill>
                      <a:srgbClr val="FFFFFF"/>
                    </a:solidFill>
                  </a:tcPr>
                </a:tc>
                <a:tc>
                  <a:txBody>
                    <a:bodyPr/>
                    <a:lstStyle/>
                    <a:p>
                      <a:r>
                        <a:rPr sz="1725" b="0">
                          <a:solidFill>
                            <a:srgbClr val="163B35"/>
                          </a:solidFill>
                          <a:latin typeface="Arial"/>
                          <a:ea typeface="Arial"/>
                          <a:cs typeface="Arial"/>
                        </a:rPr>
                        <a:t>32 HSV: 0.7366</a:t>
                      </a:r>
                    </a:p>
                  </a:txBody>
                  <a:tcPr marL="91440" marR="91440" marT="45720" marB="45720">
                    <a:lnR w="9525">
                      <a:solidFill>
                        <a:srgbClr val="D8E2DD"/>
                      </a:solidFill>
                      <a:prstDash val="solid"/>
                    </a:lnR>
                    <a:lnB w="9525">
                      <a:solidFill>
                        <a:srgbClr val="D8E2DD"/>
                      </a:solidFill>
                      <a:prstDash val="solid"/>
                    </a:lnB>
                    <a:solidFill>
                      <a:srgbClr val="FFFFFF"/>
                    </a:solidFill>
                  </a:tcPr>
                </a:tc>
                <a:tc>
                  <a:txBody>
                    <a:bodyPr/>
                    <a:lstStyle/>
                    <a:p>
                      <a:r>
                        <a:rPr sz="1725" b="0">
                          <a:solidFill>
                            <a:srgbClr val="163B35"/>
                          </a:solidFill>
                          <a:latin typeface="Arial"/>
                          <a:ea typeface="Arial"/>
                          <a:cs typeface="Arial"/>
                        </a:rPr>
                        <a:t>1,806 combined: 0.7090</a:t>
                      </a:r>
                    </a:p>
                  </a:txBody>
                  <a:tcPr marL="91440" marR="91440" marT="45720" marB="45720">
                    <a:lnR w="9525">
                      <a:solidFill>
                        <a:srgbClr val="D8E2DD"/>
                      </a:solidFill>
                      <a:prstDash val="solid"/>
                    </a:lnR>
                    <a:lnB w="9525">
                      <a:solidFill>
                        <a:srgbClr val="D8E2DD"/>
                      </a:solidFill>
                      <a:prstDash val="solid"/>
                    </a:lnB>
                    <a:solidFill>
                      <a:srgbClr val="FFFFFF"/>
                    </a:solidFill>
                  </a:tcPr>
                </a:tc>
              </a:tr>
              <a:tr h="825500">
                <a:tc>
                  <a:txBody>
                    <a:bodyPr/>
                    <a:lstStyle/>
                    <a:p>
                      <a:r>
                        <a:rPr sz="1725" b="0">
                          <a:solidFill>
                            <a:srgbClr val="163B35"/>
                          </a:solidFill>
                          <a:latin typeface="Arial"/>
                          <a:ea typeface="Arial"/>
                          <a:cs typeface="Arial"/>
                        </a:rPr>
                        <a:t>Extended RBF SVM</a:t>
                      </a:r>
                    </a:p>
                  </a:txBody>
                  <a:tcPr marL="91440" marR="91440" marT="45720" marB="45720">
                    <a:lnL w="9525">
                      <a:solidFill>
                        <a:srgbClr val="D8E2DD"/>
                      </a:solidFill>
                      <a:prstDash val="solid"/>
                    </a:lnL>
                    <a:lnR w="9525">
                      <a:solidFill>
                        <a:srgbClr val="D8E2DD"/>
                      </a:solidFill>
                      <a:prstDash val="solid"/>
                    </a:lnR>
                    <a:lnB w="9525">
                      <a:solidFill>
                        <a:srgbClr val="D8E2DD"/>
                      </a:solidFill>
                      <a:prstDash val="solid"/>
                    </a:lnB>
                    <a:solidFill>
                      <a:srgbClr val="F8FAF7"/>
                    </a:solidFill>
                  </a:tcPr>
                </a:tc>
                <a:tc>
                  <a:txBody>
                    <a:bodyPr/>
                    <a:lstStyle/>
                    <a:p>
                      <a:r>
                        <a:rPr sz="1725" b="0">
                          <a:solidFill>
                            <a:srgbClr val="163B35"/>
                          </a:solidFill>
                          <a:latin typeface="Arial"/>
                          <a:ea typeface="Arial"/>
                          <a:cs typeface="Arial"/>
                        </a:rPr>
                        <a:t>1,608 selected: 0.8803</a:t>
                      </a:r>
                    </a:p>
                  </a:txBody>
                  <a:tcPr marL="91440" marR="91440" marT="45720" marB="45720">
                    <a:lnR w="9525">
                      <a:solidFill>
                        <a:srgbClr val="D8E2DD"/>
                      </a:solidFill>
                      <a:prstDash val="solid"/>
                    </a:lnR>
                    <a:lnB w="9525">
                      <a:solidFill>
                        <a:srgbClr val="D8E2DD"/>
                      </a:solidFill>
                      <a:prstDash val="solid"/>
                    </a:lnB>
                    <a:solidFill>
                      <a:srgbClr val="F8FAF7"/>
                    </a:solidFill>
                  </a:tcPr>
                </a:tc>
                <a:tc>
                  <a:txBody>
                    <a:bodyPr/>
                    <a:lstStyle/>
                    <a:p>
                      <a:r>
                        <a:rPr sz="1725" b="0">
                          <a:solidFill>
                            <a:srgbClr val="163B35"/>
                          </a:solidFill>
                          <a:latin typeface="Arial"/>
                          <a:ea typeface="Arial"/>
                          <a:cs typeface="Arial"/>
                        </a:rPr>
                        <a:t>2,760 full: 0.8696</a:t>
                      </a:r>
                    </a:p>
                  </a:txBody>
                  <a:tcPr marL="91440" marR="91440" marT="45720" marB="45720">
                    <a:lnR w="9525">
                      <a:solidFill>
                        <a:srgbClr val="D8E2DD"/>
                      </a:solidFill>
                      <a:prstDash val="solid"/>
                    </a:lnR>
                    <a:lnB w="9525">
                      <a:solidFill>
                        <a:srgbClr val="D8E2DD"/>
                      </a:solidFill>
                      <a:prstDash val="solid"/>
                    </a:lnB>
                    <a:solidFill>
                      <a:srgbClr val="F8FAF7"/>
                    </a:solidFill>
                  </a:tcPr>
                </a:tc>
              </a:tr>
            </a:tbl>
          </a:graphicData>
        </a:graphic>
      </p:graphicFrame>
      <p:sp>
        <p:nvSpPr>
          <p:cNvPr id="4" name="">
            <a:extLst xmlns:a="http://schemas.openxmlformats.org/drawingml/2006/main">
              <a:ext uri="{FF2B5EF4-FFF2-40B4-BE49-F238E27FC236}">
                <a16:creationId xmlns:a16="http://schemas.microsoft.com/office/drawing/2014/main" id="{250A2A72-3DB1-49A9-A75E-5EC9F4CD412F}"/>
              </a:ext>
            </a:extLst>
          </p:cNvPr>
          <p:cNvSpPr>
            <a:spLocks xmlns:a="http://schemas.openxmlformats.org/drawingml/2006/main" noGrp="1"/>
          </p:cNvSpPr>
          <p:nvPr/>
        </p:nvSpPr>
        <p:spPr>
          <a:xfrm xmlns:a="http://schemas.openxmlformats.org/drawingml/2006/main">
            <a:off x="609600" y="4876800"/>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167B62"/>
                </a:solidFill>
                <a:latin typeface="Arial"/>
                <a:ea typeface="Arial"/>
                <a:cs typeface="Arial"/>
              </a:defRPr>
            </a:defPPr>
            <a:lvl1pPr>
              <a:defRPr sz="2625" b="1">
                <a:solidFill>
                  <a:srgbClr val="167B62"/>
                </a:solidFill>
                <a:latin typeface="Arial"/>
                <a:ea typeface="Arial"/>
                <a:cs typeface="Arial"/>
              </a:defRPr>
            </a:lvl1pPr>
            <a:lvl2pPr>
              <a:defRPr sz="2625" b="1">
                <a:solidFill>
                  <a:srgbClr val="167B62"/>
                </a:solidFill>
                <a:latin typeface="Arial"/>
                <a:ea typeface="Arial"/>
                <a:cs typeface="Arial"/>
              </a:defRPr>
            </a:lvl2pPr>
            <a:lvl3pPr>
              <a:defRPr sz="2625" b="1">
                <a:solidFill>
                  <a:srgbClr val="167B62"/>
                </a:solidFill>
                <a:latin typeface="Arial"/>
                <a:ea typeface="Arial"/>
                <a:cs typeface="Arial"/>
              </a:defRPr>
            </a:lvl3pPr>
            <a:lvl4pPr>
              <a:defRPr sz="2625" b="1">
                <a:solidFill>
                  <a:srgbClr val="167B62"/>
                </a:solidFill>
                <a:latin typeface="Arial"/>
                <a:ea typeface="Arial"/>
                <a:cs typeface="Arial"/>
              </a:defRPr>
            </a:lvl4pPr>
            <a:lvl5pPr>
              <a:defRPr sz="2625" b="1">
                <a:solidFill>
                  <a:srgbClr val="167B62"/>
                </a:solidFill>
                <a:latin typeface="Arial"/>
                <a:ea typeface="Arial"/>
                <a:cs typeface="Arial"/>
              </a:defRPr>
            </a:lvl5pPr>
            <a:lvl6pPr>
              <a:defRPr sz="2625" b="1">
                <a:solidFill>
                  <a:srgbClr val="167B62"/>
                </a:solidFill>
                <a:latin typeface="Arial"/>
                <a:ea typeface="Arial"/>
                <a:cs typeface="Arial"/>
              </a:defRPr>
            </a:lvl6pPr>
            <a:lvl7pPr>
              <a:defRPr sz="2625" b="1">
                <a:solidFill>
                  <a:srgbClr val="167B62"/>
                </a:solidFill>
                <a:latin typeface="Arial"/>
                <a:ea typeface="Arial"/>
                <a:cs typeface="Arial"/>
              </a:defRPr>
            </a:lvl7pPr>
            <a:lvl8pPr>
              <a:defRPr sz="2625" b="1">
                <a:solidFill>
                  <a:srgbClr val="167B62"/>
                </a:solidFill>
                <a:latin typeface="Arial"/>
                <a:ea typeface="Arial"/>
                <a:cs typeface="Arial"/>
              </a:defRPr>
            </a:lvl8pPr>
            <a:lvl9pPr>
              <a:defRPr sz="2625" b="1">
                <a:solidFill>
                  <a:srgbClr val="167B62"/>
                </a:solidFill>
                <a:latin typeface="Arial"/>
                <a:ea typeface="Arial"/>
                <a:cs typeface="Arial"/>
              </a:defRPr>
            </a:lvl9pPr>
          </a:lstStyle>
          <a:p xmlns:a="http://schemas.openxmlformats.org/drawingml/2006/main">
            <a:pPr>
              <a:defRPr sz="2625" b="1">
                <a:solidFill>
                  <a:srgbClr val="167B62"/>
                </a:solidFill>
                <a:latin typeface="Arial"/>
                <a:ea typeface="Arial"/>
                <a:cs typeface="Arial"/>
              </a:defRPr>
            </a:pPr>
            <a:r>
              <a:rPr sz="2625" b="1">
                <a:solidFill>
                  <a:srgbClr val="167B62"/>
                </a:solidFill>
                <a:latin typeface="Arial"/>
                <a:ea typeface="Arial"/>
                <a:cs typeface="Arial"/>
              </a:rPr>
              <a:t>We selected the extended RBF SVM using mean training-fold macro F1.</a:t>
            </a:r>
          </a:p>
        </p:txBody>
      </p:sp>
    </p:spTree>
    <p:extLst>
      <p:ext uri="{BB962C8B-B14F-4D97-AF65-F5344CB8AC3E}">
        <p14:creationId xmlns:p14="http://schemas.microsoft.com/office/powerpoint/2010/main" val="675356375"/>
      </p:ext>
    </p:extLst>
  </p:cSld>
</p:sld>
</file>

<file path=ppt/slides/slide10.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3541E29-A7B0-4296-8B9F-1A30956EF672}"/>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63B35"/>
                </a:solidFill>
                <a:latin typeface="Arial"/>
                <a:ea typeface="Arial"/>
                <a:cs typeface="Arial"/>
              </a:defRPr>
            </a:defPPr>
            <a:lvl1pPr>
              <a:defRPr sz="3300" b="1">
                <a:solidFill>
                  <a:srgbClr val="163B35"/>
                </a:solidFill>
                <a:latin typeface="Arial"/>
                <a:ea typeface="Arial"/>
                <a:cs typeface="Arial"/>
              </a:defRPr>
            </a:lvl1pPr>
            <a:lvl2pPr>
              <a:defRPr sz="3300" b="1">
                <a:solidFill>
                  <a:srgbClr val="163B35"/>
                </a:solidFill>
                <a:latin typeface="Arial"/>
                <a:ea typeface="Arial"/>
                <a:cs typeface="Arial"/>
              </a:defRPr>
            </a:lvl2pPr>
            <a:lvl3pPr>
              <a:defRPr sz="3300" b="1">
                <a:solidFill>
                  <a:srgbClr val="163B35"/>
                </a:solidFill>
                <a:latin typeface="Arial"/>
                <a:ea typeface="Arial"/>
                <a:cs typeface="Arial"/>
              </a:defRPr>
            </a:lvl3pPr>
            <a:lvl4pPr>
              <a:defRPr sz="3300" b="1">
                <a:solidFill>
                  <a:srgbClr val="163B35"/>
                </a:solidFill>
                <a:latin typeface="Arial"/>
                <a:ea typeface="Arial"/>
                <a:cs typeface="Arial"/>
              </a:defRPr>
            </a:lvl4pPr>
            <a:lvl5pPr>
              <a:defRPr sz="3300" b="1">
                <a:solidFill>
                  <a:srgbClr val="163B35"/>
                </a:solidFill>
                <a:latin typeface="Arial"/>
                <a:ea typeface="Arial"/>
                <a:cs typeface="Arial"/>
              </a:defRPr>
            </a:lvl5pPr>
            <a:lvl6pPr>
              <a:defRPr sz="3300" b="1">
                <a:solidFill>
                  <a:srgbClr val="163B35"/>
                </a:solidFill>
                <a:latin typeface="Arial"/>
                <a:ea typeface="Arial"/>
                <a:cs typeface="Arial"/>
              </a:defRPr>
            </a:lvl6pPr>
            <a:lvl7pPr>
              <a:defRPr sz="3300" b="1">
                <a:solidFill>
                  <a:srgbClr val="163B35"/>
                </a:solidFill>
                <a:latin typeface="Arial"/>
                <a:ea typeface="Arial"/>
                <a:cs typeface="Arial"/>
              </a:defRPr>
            </a:lvl7pPr>
            <a:lvl8pPr>
              <a:defRPr sz="3300" b="1">
                <a:solidFill>
                  <a:srgbClr val="163B35"/>
                </a:solidFill>
                <a:latin typeface="Arial"/>
                <a:ea typeface="Arial"/>
                <a:cs typeface="Arial"/>
              </a:defRPr>
            </a:lvl8pPr>
            <a:lvl9pPr>
              <a:defRPr sz="3300" b="1">
                <a:solidFill>
                  <a:srgbClr val="163B35"/>
                </a:solidFill>
                <a:latin typeface="Arial"/>
                <a:ea typeface="Arial"/>
                <a:cs typeface="Arial"/>
              </a:defRPr>
            </a:lvl9pPr>
          </a:lstStyle>
          <a:p xmlns:a="http://schemas.openxmlformats.org/drawingml/2006/main">
            <a:pPr>
              <a:defRPr sz="3300" b="1">
                <a:solidFill>
                  <a:srgbClr val="163B35"/>
                </a:solidFill>
                <a:latin typeface="Arial"/>
                <a:ea typeface="Arial"/>
                <a:cs typeface="Arial"/>
              </a:defRPr>
            </a:pPr>
            <a:r>
              <a:rPr sz="3300" b="1">
                <a:solidFill>
                  <a:srgbClr val="163B35"/>
                </a:solidFill>
                <a:latin typeface="Arial"/>
                <a:ea typeface="Arial"/>
                <a:cs typeface="Arial"/>
              </a:rPr>
              <a:t>Calibration and the abstention rule</a:t>
            </a:r>
          </a:p>
        </p:txBody>
      </p:sp>
      <p:sp>
        <p:nvSpPr>
          <p:cNvPr id="2" name="">
            <a:extLst xmlns:a="http://schemas.openxmlformats.org/drawingml/2006/main">
              <a:ext uri="{FF2B5EF4-FFF2-40B4-BE49-F238E27FC236}">
                <a16:creationId xmlns:a16="http://schemas.microsoft.com/office/drawing/2014/main" id="{4DE371A5-1F72-4431-ADDF-75DEAD09B8B0}"/>
              </a:ext>
            </a:extLst>
          </p:cNvPr>
          <p:cNvSpPr>
            <a:spLocks xmlns:a="http://schemas.openxmlformats.org/drawingml/2006/main" noGrp="1"/>
          </p:cNvSpPr>
          <p:nvPr/>
        </p:nvSpPr>
        <p:spPr>
          <a:xfrm xmlns:a="http://schemas.openxmlformats.org/drawingml/2006/main">
            <a:off x="11068050" y="633412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36C66"/>
                </a:solidFill>
                <a:latin typeface="Arial"/>
                <a:ea typeface="Arial"/>
                <a:cs typeface="Arial"/>
              </a:defRPr>
            </a:defPPr>
            <a:lvl1pPr>
              <a:defRPr sz="1350" b="0">
                <a:solidFill>
                  <a:srgbClr val="536C66"/>
                </a:solidFill>
                <a:latin typeface="Arial"/>
                <a:ea typeface="Arial"/>
                <a:cs typeface="Arial"/>
              </a:defRPr>
            </a:lvl1pPr>
            <a:lvl2pPr>
              <a:defRPr sz="1350" b="0">
                <a:solidFill>
                  <a:srgbClr val="536C66"/>
                </a:solidFill>
                <a:latin typeface="Arial"/>
                <a:ea typeface="Arial"/>
                <a:cs typeface="Arial"/>
              </a:defRPr>
            </a:lvl2pPr>
            <a:lvl3pPr>
              <a:defRPr sz="1350" b="0">
                <a:solidFill>
                  <a:srgbClr val="536C66"/>
                </a:solidFill>
                <a:latin typeface="Arial"/>
                <a:ea typeface="Arial"/>
                <a:cs typeface="Arial"/>
              </a:defRPr>
            </a:lvl3pPr>
            <a:lvl4pPr>
              <a:defRPr sz="1350" b="0">
                <a:solidFill>
                  <a:srgbClr val="536C66"/>
                </a:solidFill>
                <a:latin typeface="Arial"/>
                <a:ea typeface="Arial"/>
                <a:cs typeface="Arial"/>
              </a:defRPr>
            </a:lvl4pPr>
            <a:lvl5pPr>
              <a:defRPr sz="1350" b="0">
                <a:solidFill>
                  <a:srgbClr val="536C66"/>
                </a:solidFill>
                <a:latin typeface="Arial"/>
                <a:ea typeface="Arial"/>
                <a:cs typeface="Arial"/>
              </a:defRPr>
            </a:lvl5pPr>
            <a:lvl6pPr>
              <a:defRPr sz="1350" b="0">
                <a:solidFill>
                  <a:srgbClr val="536C66"/>
                </a:solidFill>
                <a:latin typeface="Arial"/>
                <a:ea typeface="Arial"/>
                <a:cs typeface="Arial"/>
              </a:defRPr>
            </a:lvl6pPr>
            <a:lvl7pPr>
              <a:defRPr sz="1350" b="0">
                <a:solidFill>
                  <a:srgbClr val="536C66"/>
                </a:solidFill>
                <a:latin typeface="Arial"/>
                <a:ea typeface="Arial"/>
                <a:cs typeface="Arial"/>
              </a:defRPr>
            </a:lvl7pPr>
            <a:lvl8pPr>
              <a:defRPr sz="1350" b="0">
                <a:solidFill>
                  <a:srgbClr val="536C66"/>
                </a:solidFill>
                <a:latin typeface="Arial"/>
                <a:ea typeface="Arial"/>
                <a:cs typeface="Arial"/>
              </a:defRPr>
            </a:lvl8pPr>
            <a:lvl9pPr>
              <a:defRPr sz="1350" b="0">
                <a:solidFill>
                  <a:srgbClr val="536C66"/>
                </a:solidFill>
                <a:latin typeface="Arial"/>
                <a:ea typeface="Arial"/>
                <a:cs typeface="Arial"/>
              </a:defRPr>
            </a:lvl9pPr>
          </a:lstStyle>
          <a:p xmlns:a="http://schemas.openxmlformats.org/drawingml/2006/main">
            <a:pPr>
              <a:defRPr sz="1350" b="0">
                <a:solidFill>
                  <a:srgbClr val="536C66"/>
                </a:solidFill>
                <a:latin typeface="Arial"/>
                <a:ea typeface="Arial"/>
                <a:cs typeface="Arial"/>
              </a:defRPr>
            </a:pPr>
            <a:r>
              <a:rPr sz="1350" b="0">
                <a:solidFill>
                  <a:srgbClr val="536C66"/>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55E1C421-6EF8-4893-854E-49D0D9D03957}"/>
              </a:ext>
            </a:extLst>
          </p:cNvPr>
          <p:cNvSpPr>
            <a:spLocks xmlns:a="http://schemas.openxmlformats.org/drawingml/2006/main" noGrp="1"/>
          </p:cNvSpPr>
          <p:nvPr/>
        </p:nvSpPr>
        <p:spPr>
          <a:xfrm xmlns:a="http://schemas.openxmlformats.org/drawingml/2006/main">
            <a:off x="609600" y="182880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67B62"/>
                </a:solidFill>
                <a:latin typeface="Arial"/>
                <a:ea typeface="Arial"/>
                <a:cs typeface="Arial"/>
              </a:defRPr>
            </a:defPPr>
            <a:lvl1pPr>
              <a:defRPr sz="3300" b="1">
                <a:solidFill>
                  <a:srgbClr val="167B62"/>
                </a:solidFill>
                <a:latin typeface="Arial"/>
                <a:ea typeface="Arial"/>
                <a:cs typeface="Arial"/>
              </a:defRPr>
            </a:lvl1pPr>
            <a:lvl2pPr>
              <a:defRPr sz="3300" b="1">
                <a:solidFill>
                  <a:srgbClr val="167B62"/>
                </a:solidFill>
                <a:latin typeface="Arial"/>
                <a:ea typeface="Arial"/>
                <a:cs typeface="Arial"/>
              </a:defRPr>
            </a:lvl2pPr>
            <a:lvl3pPr>
              <a:defRPr sz="3300" b="1">
                <a:solidFill>
                  <a:srgbClr val="167B62"/>
                </a:solidFill>
                <a:latin typeface="Arial"/>
                <a:ea typeface="Arial"/>
                <a:cs typeface="Arial"/>
              </a:defRPr>
            </a:lvl3pPr>
            <a:lvl4pPr>
              <a:defRPr sz="3300" b="1">
                <a:solidFill>
                  <a:srgbClr val="167B62"/>
                </a:solidFill>
                <a:latin typeface="Arial"/>
                <a:ea typeface="Arial"/>
                <a:cs typeface="Arial"/>
              </a:defRPr>
            </a:lvl4pPr>
            <a:lvl5pPr>
              <a:defRPr sz="3300" b="1">
                <a:solidFill>
                  <a:srgbClr val="167B62"/>
                </a:solidFill>
                <a:latin typeface="Arial"/>
                <a:ea typeface="Arial"/>
                <a:cs typeface="Arial"/>
              </a:defRPr>
            </a:lvl5pPr>
            <a:lvl6pPr>
              <a:defRPr sz="3300" b="1">
                <a:solidFill>
                  <a:srgbClr val="167B62"/>
                </a:solidFill>
                <a:latin typeface="Arial"/>
                <a:ea typeface="Arial"/>
                <a:cs typeface="Arial"/>
              </a:defRPr>
            </a:lvl6pPr>
            <a:lvl7pPr>
              <a:defRPr sz="3300" b="1">
                <a:solidFill>
                  <a:srgbClr val="167B62"/>
                </a:solidFill>
                <a:latin typeface="Arial"/>
                <a:ea typeface="Arial"/>
                <a:cs typeface="Arial"/>
              </a:defRPr>
            </a:lvl7pPr>
            <a:lvl8pPr>
              <a:defRPr sz="3300" b="1">
                <a:solidFill>
                  <a:srgbClr val="167B62"/>
                </a:solidFill>
                <a:latin typeface="Arial"/>
                <a:ea typeface="Arial"/>
                <a:cs typeface="Arial"/>
              </a:defRPr>
            </a:lvl8pPr>
            <a:lvl9pPr>
              <a:defRPr sz="3300" b="1">
                <a:solidFill>
                  <a:srgbClr val="167B62"/>
                </a:solidFill>
                <a:latin typeface="Arial"/>
                <a:ea typeface="Arial"/>
                <a:cs typeface="Arial"/>
              </a:defRPr>
            </a:lvl9pPr>
          </a:lstStyle>
          <a:p xmlns:a="http://schemas.openxmlformats.org/drawingml/2006/main">
            <a:pPr>
              <a:defRPr sz="3300" b="1">
                <a:solidFill>
                  <a:srgbClr val="167B62"/>
                </a:solidFill>
                <a:latin typeface="Arial"/>
                <a:ea typeface="Arial"/>
                <a:cs typeface="Arial"/>
              </a:defRPr>
            </a:pPr>
            <a:r>
              <a:rPr sz="3300" b="1">
                <a:solidFill>
                  <a:srgbClr val="167B62"/>
                </a:solidFill>
                <a:latin typeface="Arial"/>
                <a:ea typeface="Arial"/>
                <a:cs typeface="Arial"/>
              </a:rPr>
              <a:t>Accept when max probability ≥ 0.52</a:t>
            </a:r>
          </a:p>
        </p:txBody>
      </p:sp>
      <p:sp>
        <p:nvSpPr>
          <p:cNvPr id="4" name="">
            <a:extLst xmlns:a="http://schemas.openxmlformats.org/drawingml/2006/main">
              <a:ext uri="{FF2B5EF4-FFF2-40B4-BE49-F238E27FC236}">
                <a16:creationId xmlns:a16="http://schemas.microsoft.com/office/drawing/2014/main" id="{9468C29F-C6D3-4FB6-AA0A-D98784738A99}"/>
              </a:ext>
            </a:extLst>
          </p:cNvPr>
          <p:cNvSpPr>
            <a:spLocks xmlns:a="http://schemas.openxmlformats.org/drawingml/2006/main" noGrp="1"/>
          </p:cNvSpPr>
          <p:nvPr/>
        </p:nvSpPr>
        <p:spPr>
          <a:xfrm xmlns:a="http://schemas.openxmlformats.org/drawingml/2006/main">
            <a:off x="609600" y="3076575"/>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B35"/>
                </a:solidFill>
                <a:latin typeface="Arial"/>
                <a:ea typeface="Arial"/>
                <a:cs typeface="Arial"/>
              </a:defRPr>
            </a:defPPr>
            <a:lvl1pPr>
              <a:defRPr sz="2175" b="0">
                <a:solidFill>
                  <a:srgbClr val="163B35"/>
                </a:solidFill>
                <a:latin typeface="Arial"/>
                <a:ea typeface="Arial"/>
                <a:cs typeface="Arial"/>
              </a:defRPr>
            </a:lvl1pPr>
            <a:lvl2pPr>
              <a:defRPr sz="2175" b="0">
                <a:solidFill>
                  <a:srgbClr val="163B35"/>
                </a:solidFill>
                <a:latin typeface="Arial"/>
                <a:ea typeface="Arial"/>
                <a:cs typeface="Arial"/>
              </a:defRPr>
            </a:lvl2pPr>
            <a:lvl3pPr>
              <a:defRPr sz="2175" b="0">
                <a:solidFill>
                  <a:srgbClr val="163B35"/>
                </a:solidFill>
                <a:latin typeface="Arial"/>
                <a:ea typeface="Arial"/>
                <a:cs typeface="Arial"/>
              </a:defRPr>
            </a:lvl3pPr>
            <a:lvl4pPr>
              <a:defRPr sz="2175" b="0">
                <a:solidFill>
                  <a:srgbClr val="163B35"/>
                </a:solidFill>
                <a:latin typeface="Arial"/>
                <a:ea typeface="Arial"/>
                <a:cs typeface="Arial"/>
              </a:defRPr>
            </a:lvl4pPr>
            <a:lvl5pPr>
              <a:defRPr sz="2175" b="0">
                <a:solidFill>
                  <a:srgbClr val="163B35"/>
                </a:solidFill>
                <a:latin typeface="Arial"/>
                <a:ea typeface="Arial"/>
                <a:cs typeface="Arial"/>
              </a:defRPr>
            </a:lvl5pPr>
            <a:lvl6pPr>
              <a:defRPr sz="2175" b="0">
                <a:solidFill>
                  <a:srgbClr val="163B35"/>
                </a:solidFill>
                <a:latin typeface="Arial"/>
                <a:ea typeface="Arial"/>
                <a:cs typeface="Arial"/>
              </a:defRPr>
            </a:lvl6pPr>
            <a:lvl7pPr>
              <a:defRPr sz="2175" b="0">
                <a:solidFill>
                  <a:srgbClr val="163B35"/>
                </a:solidFill>
                <a:latin typeface="Arial"/>
                <a:ea typeface="Arial"/>
                <a:cs typeface="Arial"/>
              </a:defRPr>
            </a:lvl7pPr>
            <a:lvl8pPr>
              <a:defRPr sz="2175" b="0">
                <a:solidFill>
                  <a:srgbClr val="163B35"/>
                </a:solidFill>
                <a:latin typeface="Arial"/>
                <a:ea typeface="Arial"/>
                <a:cs typeface="Arial"/>
              </a:defRPr>
            </a:lvl8pPr>
            <a:lvl9pPr>
              <a:defRPr sz="2175" b="0">
                <a:solidFill>
                  <a:srgbClr val="163B35"/>
                </a:solidFill>
                <a:latin typeface="Arial"/>
                <a:ea typeface="Arial"/>
                <a:cs typeface="Arial"/>
              </a:defRPr>
            </a:lvl9pPr>
          </a:lstStyle>
          <a:p xmlns:a="http://schemas.openxmlformats.org/drawingml/2006/main">
            <a:pPr>
              <a:defRPr sz="2175" b="0">
                <a:solidFill>
                  <a:srgbClr val="163B35"/>
                </a:solidFill>
                <a:latin typeface="Arial"/>
                <a:ea typeface="Arial"/>
                <a:cs typeface="Arial"/>
              </a:defRPr>
            </a:pPr>
            <a:r>
              <a:rPr sz="2175" b="0">
                <a:solidFill>
                  <a:srgbClr val="163B35"/>
                </a:solidFill>
                <a:latin typeface="Arial"/>
                <a:ea typeface="Arial"/>
                <a:cs typeface="Arial"/>
              </a:rPr>
              <a:t>Five base models, each paired with a held-out-fold sigmoid calibrator</a:t>
            </a:r>
          </a:p>
        </p:txBody>
      </p:sp>
      <p:sp>
        <p:nvSpPr>
          <p:cNvPr id="5" name="">
            <a:extLst xmlns:a="http://schemas.openxmlformats.org/drawingml/2006/main">
              <a:ext uri="{FF2B5EF4-FFF2-40B4-BE49-F238E27FC236}">
                <a16:creationId xmlns:a16="http://schemas.microsoft.com/office/drawing/2014/main" id="{F72AF0B0-BD51-42A8-829B-96DC46FB0D69}"/>
              </a:ext>
            </a:extLst>
          </p:cNvPr>
          <p:cNvSpPr>
            <a:spLocks xmlns:a="http://schemas.openxmlformats.org/drawingml/2006/main" noGrp="1"/>
          </p:cNvSpPr>
          <p:nvPr/>
        </p:nvSpPr>
        <p:spPr>
          <a:xfrm xmlns:a="http://schemas.openxmlformats.org/drawingml/2006/main">
            <a:off x="609600" y="39052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B35"/>
                </a:solidFill>
                <a:latin typeface="Arial"/>
                <a:ea typeface="Arial"/>
                <a:cs typeface="Arial"/>
              </a:defRPr>
            </a:defPPr>
            <a:lvl1pPr>
              <a:defRPr sz="2175" b="0">
                <a:solidFill>
                  <a:srgbClr val="163B35"/>
                </a:solidFill>
                <a:latin typeface="Arial"/>
                <a:ea typeface="Arial"/>
                <a:cs typeface="Arial"/>
              </a:defRPr>
            </a:lvl1pPr>
            <a:lvl2pPr>
              <a:defRPr sz="2175" b="0">
                <a:solidFill>
                  <a:srgbClr val="163B35"/>
                </a:solidFill>
                <a:latin typeface="Arial"/>
                <a:ea typeface="Arial"/>
                <a:cs typeface="Arial"/>
              </a:defRPr>
            </a:lvl2pPr>
            <a:lvl3pPr>
              <a:defRPr sz="2175" b="0">
                <a:solidFill>
                  <a:srgbClr val="163B35"/>
                </a:solidFill>
                <a:latin typeface="Arial"/>
                <a:ea typeface="Arial"/>
                <a:cs typeface="Arial"/>
              </a:defRPr>
            </a:lvl3pPr>
            <a:lvl4pPr>
              <a:defRPr sz="2175" b="0">
                <a:solidFill>
                  <a:srgbClr val="163B35"/>
                </a:solidFill>
                <a:latin typeface="Arial"/>
                <a:ea typeface="Arial"/>
                <a:cs typeface="Arial"/>
              </a:defRPr>
            </a:lvl4pPr>
            <a:lvl5pPr>
              <a:defRPr sz="2175" b="0">
                <a:solidFill>
                  <a:srgbClr val="163B35"/>
                </a:solidFill>
                <a:latin typeface="Arial"/>
                <a:ea typeface="Arial"/>
                <a:cs typeface="Arial"/>
              </a:defRPr>
            </a:lvl5pPr>
            <a:lvl6pPr>
              <a:defRPr sz="2175" b="0">
                <a:solidFill>
                  <a:srgbClr val="163B35"/>
                </a:solidFill>
                <a:latin typeface="Arial"/>
                <a:ea typeface="Arial"/>
                <a:cs typeface="Arial"/>
              </a:defRPr>
            </a:lvl6pPr>
            <a:lvl7pPr>
              <a:defRPr sz="2175" b="0">
                <a:solidFill>
                  <a:srgbClr val="163B35"/>
                </a:solidFill>
                <a:latin typeface="Arial"/>
                <a:ea typeface="Arial"/>
                <a:cs typeface="Arial"/>
              </a:defRPr>
            </a:lvl7pPr>
            <a:lvl8pPr>
              <a:defRPr sz="2175" b="0">
                <a:solidFill>
                  <a:srgbClr val="163B35"/>
                </a:solidFill>
                <a:latin typeface="Arial"/>
                <a:ea typeface="Arial"/>
                <a:cs typeface="Arial"/>
              </a:defRPr>
            </a:lvl8pPr>
            <a:lvl9pPr>
              <a:defRPr sz="2175" b="0">
                <a:solidFill>
                  <a:srgbClr val="163B35"/>
                </a:solidFill>
                <a:latin typeface="Arial"/>
                <a:ea typeface="Arial"/>
                <a:cs typeface="Arial"/>
              </a:defRPr>
            </a:lvl9pPr>
          </a:lstStyle>
          <a:p xmlns:a="http://schemas.openxmlformats.org/drawingml/2006/main">
            <a:pPr>
              <a:defRPr sz="2175" b="0">
                <a:solidFill>
                  <a:srgbClr val="163B35"/>
                </a:solidFill>
                <a:latin typeface="Arial"/>
                <a:ea typeface="Arial"/>
                <a:cs typeface="Arial"/>
              </a:defRPr>
            </a:pPr>
            <a:r>
              <a:rPr sz="2175" b="0">
                <a:solidFill>
                  <a:srgbClr val="163B35"/>
                </a:solidFill>
                <a:latin typeface="Arial"/>
                <a:ea typeface="Arial"/>
                <a:cs typeface="Arial"/>
              </a:rPr>
              <a:t>Validation coverage: 373 / 380 = 98.16%</a:t>
            </a:r>
          </a:p>
        </p:txBody>
      </p:sp>
      <p:sp>
        <p:nvSpPr>
          <p:cNvPr id="6" name="">
            <a:extLst xmlns:a="http://schemas.openxmlformats.org/drawingml/2006/main">
              <a:ext uri="{FF2B5EF4-FFF2-40B4-BE49-F238E27FC236}">
                <a16:creationId xmlns:a16="http://schemas.microsoft.com/office/drawing/2014/main" id="{2039FD20-22E5-47B5-859D-B2FADC122BD3}"/>
              </a:ext>
            </a:extLst>
          </p:cNvPr>
          <p:cNvSpPr>
            <a:spLocks xmlns:a="http://schemas.openxmlformats.org/drawingml/2006/main" noGrp="1"/>
          </p:cNvSpPr>
          <p:nvPr/>
        </p:nvSpPr>
        <p:spPr>
          <a:xfrm xmlns:a="http://schemas.openxmlformats.org/drawingml/2006/main">
            <a:off x="609600" y="4733925"/>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63B35"/>
                </a:solidFill>
                <a:latin typeface="Arial"/>
                <a:ea typeface="Arial"/>
                <a:cs typeface="Arial"/>
              </a:defRPr>
            </a:defPPr>
            <a:lvl1pPr>
              <a:defRPr sz="2175" b="0">
                <a:solidFill>
                  <a:srgbClr val="163B35"/>
                </a:solidFill>
                <a:latin typeface="Arial"/>
                <a:ea typeface="Arial"/>
                <a:cs typeface="Arial"/>
              </a:defRPr>
            </a:lvl1pPr>
            <a:lvl2pPr>
              <a:defRPr sz="2175" b="0">
                <a:solidFill>
                  <a:srgbClr val="163B35"/>
                </a:solidFill>
                <a:latin typeface="Arial"/>
                <a:ea typeface="Arial"/>
                <a:cs typeface="Arial"/>
              </a:defRPr>
            </a:lvl2pPr>
            <a:lvl3pPr>
              <a:defRPr sz="2175" b="0">
                <a:solidFill>
                  <a:srgbClr val="163B35"/>
                </a:solidFill>
                <a:latin typeface="Arial"/>
                <a:ea typeface="Arial"/>
                <a:cs typeface="Arial"/>
              </a:defRPr>
            </a:lvl3pPr>
            <a:lvl4pPr>
              <a:defRPr sz="2175" b="0">
                <a:solidFill>
                  <a:srgbClr val="163B35"/>
                </a:solidFill>
                <a:latin typeface="Arial"/>
                <a:ea typeface="Arial"/>
                <a:cs typeface="Arial"/>
              </a:defRPr>
            </a:lvl4pPr>
            <a:lvl5pPr>
              <a:defRPr sz="2175" b="0">
                <a:solidFill>
                  <a:srgbClr val="163B35"/>
                </a:solidFill>
                <a:latin typeface="Arial"/>
                <a:ea typeface="Arial"/>
                <a:cs typeface="Arial"/>
              </a:defRPr>
            </a:lvl5pPr>
            <a:lvl6pPr>
              <a:defRPr sz="2175" b="0">
                <a:solidFill>
                  <a:srgbClr val="163B35"/>
                </a:solidFill>
                <a:latin typeface="Arial"/>
                <a:ea typeface="Arial"/>
                <a:cs typeface="Arial"/>
              </a:defRPr>
            </a:lvl6pPr>
            <a:lvl7pPr>
              <a:defRPr sz="2175" b="0">
                <a:solidFill>
                  <a:srgbClr val="163B35"/>
                </a:solidFill>
                <a:latin typeface="Arial"/>
                <a:ea typeface="Arial"/>
                <a:cs typeface="Arial"/>
              </a:defRPr>
            </a:lvl7pPr>
            <a:lvl8pPr>
              <a:defRPr sz="2175" b="0">
                <a:solidFill>
                  <a:srgbClr val="163B35"/>
                </a:solidFill>
                <a:latin typeface="Arial"/>
                <a:ea typeface="Arial"/>
                <a:cs typeface="Arial"/>
              </a:defRPr>
            </a:lvl8pPr>
            <a:lvl9pPr>
              <a:defRPr sz="2175" b="0">
                <a:solidFill>
                  <a:srgbClr val="163B35"/>
                </a:solidFill>
                <a:latin typeface="Arial"/>
                <a:ea typeface="Arial"/>
                <a:cs typeface="Arial"/>
              </a:defRPr>
            </a:lvl9pPr>
          </a:lstStyle>
          <a:p xmlns:a="http://schemas.openxmlformats.org/drawingml/2006/main">
            <a:pPr>
              <a:defRPr sz="2175" b="0">
                <a:solidFill>
                  <a:srgbClr val="163B35"/>
                </a:solidFill>
                <a:latin typeface="Arial"/>
                <a:ea typeface="Arial"/>
                <a:cs typeface="Arial"/>
              </a:defRPr>
            </a:pPr>
            <a:r>
              <a:rPr sz="2175" b="0">
                <a:solidFill>
                  <a:srgbClr val="163B35"/>
                </a:solidFill>
                <a:latin typeface="Arial"/>
                <a:ea typeface="Arial"/>
                <a:cs typeface="Arial"/>
              </a:rPr>
              <a:t>Validation accepted accuracy: 336 / 373 = 90.08%</a:t>
            </a:r>
          </a:p>
        </p:txBody>
      </p:sp>
      <p:sp>
        <p:nvSpPr>
          <p:cNvPr id="7" name="">
            <a:extLst xmlns:a="http://schemas.openxmlformats.org/drawingml/2006/main">
              <a:ext uri="{FF2B5EF4-FFF2-40B4-BE49-F238E27FC236}">
                <a16:creationId xmlns:a16="http://schemas.microsoft.com/office/drawing/2014/main" id="{84DAFD55-A4FF-4E94-9A73-55BE0C97695F}"/>
              </a:ext>
            </a:extLst>
          </p:cNvPr>
          <p:cNvSpPr>
            <a:spLocks xmlns:a="http://schemas.openxmlformats.org/drawingml/2006/main" noGrp="1"/>
          </p:cNvSpPr>
          <p:nvPr/>
        </p:nvSpPr>
        <p:spPr>
          <a:xfrm xmlns:a="http://schemas.openxmlformats.org/drawingml/2006/main">
            <a:off x="609600" y="59055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36C66"/>
                </a:solidFill>
                <a:latin typeface="Arial"/>
                <a:ea typeface="Arial"/>
                <a:cs typeface="Arial"/>
              </a:defRPr>
            </a:defPPr>
            <a:lvl1pPr>
              <a:defRPr sz="1650" b="0">
                <a:solidFill>
                  <a:srgbClr val="536C66"/>
                </a:solidFill>
                <a:latin typeface="Arial"/>
                <a:ea typeface="Arial"/>
                <a:cs typeface="Arial"/>
              </a:defRPr>
            </a:lvl1pPr>
            <a:lvl2pPr>
              <a:defRPr sz="1650" b="0">
                <a:solidFill>
                  <a:srgbClr val="536C66"/>
                </a:solidFill>
                <a:latin typeface="Arial"/>
                <a:ea typeface="Arial"/>
                <a:cs typeface="Arial"/>
              </a:defRPr>
            </a:lvl2pPr>
            <a:lvl3pPr>
              <a:defRPr sz="1650" b="0">
                <a:solidFill>
                  <a:srgbClr val="536C66"/>
                </a:solidFill>
                <a:latin typeface="Arial"/>
                <a:ea typeface="Arial"/>
                <a:cs typeface="Arial"/>
              </a:defRPr>
            </a:lvl3pPr>
            <a:lvl4pPr>
              <a:defRPr sz="1650" b="0">
                <a:solidFill>
                  <a:srgbClr val="536C66"/>
                </a:solidFill>
                <a:latin typeface="Arial"/>
                <a:ea typeface="Arial"/>
                <a:cs typeface="Arial"/>
              </a:defRPr>
            </a:lvl4pPr>
            <a:lvl5pPr>
              <a:defRPr sz="1650" b="0">
                <a:solidFill>
                  <a:srgbClr val="536C66"/>
                </a:solidFill>
                <a:latin typeface="Arial"/>
                <a:ea typeface="Arial"/>
                <a:cs typeface="Arial"/>
              </a:defRPr>
            </a:lvl5pPr>
            <a:lvl6pPr>
              <a:defRPr sz="1650" b="0">
                <a:solidFill>
                  <a:srgbClr val="536C66"/>
                </a:solidFill>
                <a:latin typeface="Arial"/>
                <a:ea typeface="Arial"/>
                <a:cs typeface="Arial"/>
              </a:defRPr>
            </a:lvl6pPr>
            <a:lvl7pPr>
              <a:defRPr sz="1650" b="0">
                <a:solidFill>
                  <a:srgbClr val="536C66"/>
                </a:solidFill>
                <a:latin typeface="Arial"/>
                <a:ea typeface="Arial"/>
                <a:cs typeface="Arial"/>
              </a:defRPr>
            </a:lvl7pPr>
            <a:lvl8pPr>
              <a:defRPr sz="1650" b="0">
                <a:solidFill>
                  <a:srgbClr val="536C66"/>
                </a:solidFill>
                <a:latin typeface="Arial"/>
                <a:ea typeface="Arial"/>
                <a:cs typeface="Arial"/>
              </a:defRPr>
            </a:lvl8pPr>
            <a:lvl9pPr>
              <a:defRPr sz="1650" b="0">
                <a:solidFill>
                  <a:srgbClr val="536C66"/>
                </a:solidFill>
                <a:latin typeface="Arial"/>
                <a:ea typeface="Arial"/>
                <a:cs typeface="Arial"/>
              </a:defRPr>
            </a:lvl9pPr>
          </a:lstStyle>
          <a:p xmlns:a="http://schemas.openxmlformats.org/drawingml/2006/main">
            <a:pPr>
              <a:defRPr sz="1650" b="0">
                <a:solidFill>
                  <a:srgbClr val="536C66"/>
                </a:solidFill>
                <a:latin typeface="Arial"/>
                <a:ea typeface="Arial"/>
                <a:cs typeface="Arial"/>
              </a:defRPr>
            </a:pPr>
            <a:r>
              <a:rPr sz="1650" b="0">
                <a:solidFill>
                  <a:srgbClr val="536C66"/>
                </a:solidFill>
                <a:latin typeface="Arial"/>
                <a:ea typeface="Arial"/>
                <a:cs typeface="Arial"/>
              </a:rPr>
              <a:t>Threshold selection uses validation only. Test predictions never tune the threshold.</a:t>
            </a:r>
          </a:p>
        </p:txBody>
      </p:sp>
    </p:spTree>
    <p:extLst>
      <p:ext uri="{BB962C8B-B14F-4D97-AF65-F5344CB8AC3E}">
        <p14:creationId xmlns:p14="http://schemas.microsoft.com/office/powerpoint/2010/main" val="165521429"/>
      </p:ext>
    </p:extLst>
  </p:cSld>
</p:sld>
</file>

<file path=ppt/slides/slide11.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4D20DB9-E01F-4E5B-94A9-13B9BDD66179}"/>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63B35"/>
                </a:solidFill>
                <a:latin typeface="Arial"/>
                <a:ea typeface="Arial"/>
                <a:cs typeface="Arial"/>
              </a:defRPr>
            </a:defPPr>
            <a:lvl1pPr>
              <a:defRPr sz="3300" b="1">
                <a:solidFill>
                  <a:srgbClr val="163B35"/>
                </a:solidFill>
                <a:latin typeface="Arial"/>
                <a:ea typeface="Arial"/>
                <a:cs typeface="Arial"/>
              </a:defRPr>
            </a:lvl1pPr>
            <a:lvl2pPr>
              <a:defRPr sz="3300" b="1">
                <a:solidFill>
                  <a:srgbClr val="163B35"/>
                </a:solidFill>
                <a:latin typeface="Arial"/>
                <a:ea typeface="Arial"/>
                <a:cs typeface="Arial"/>
              </a:defRPr>
            </a:lvl2pPr>
            <a:lvl3pPr>
              <a:defRPr sz="3300" b="1">
                <a:solidFill>
                  <a:srgbClr val="163B35"/>
                </a:solidFill>
                <a:latin typeface="Arial"/>
                <a:ea typeface="Arial"/>
                <a:cs typeface="Arial"/>
              </a:defRPr>
            </a:lvl3pPr>
            <a:lvl4pPr>
              <a:defRPr sz="3300" b="1">
                <a:solidFill>
                  <a:srgbClr val="163B35"/>
                </a:solidFill>
                <a:latin typeface="Arial"/>
                <a:ea typeface="Arial"/>
                <a:cs typeface="Arial"/>
              </a:defRPr>
            </a:lvl4pPr>
            <a:lvl5pPr>
              <a:defRPr sz="3300" b="1">
                <a:solidFill>
                  <a:srgbClr val="163B35"/>
                </a:solidFill>
                <a:latin typeface="Arial"/>
                <a:ea typeface="Arial"/>
                <a:cs typeface="Arial"/>
              </a:defRPr>
            </a:lvl5pPr>
            <a:lvl6pPr>
              <a:defRPr sz="3300" b="1">
                <a:solidFill>
                  <a:srgbClr val="163B35"/>
                </a:solidFill>
                <a:latin typeface="Arial"/>
                <a:ea typeface="Arial"/>
                <a:cs typeface="Arial"/>
              </a:defRPr>
            </a:lvl6pPr>
            <a:lvl7pPr>
              <a:defRPr sz="3300" b="1">
                <a:solidFill>
                  <a:srgbClr val="163B35"/>
                </a:solidFill>
                <a:latin typeface="Arial"/>
                <a:ea typeface="Arial"/>
                <a:cs typeface="Arial"/>
              </a:defRPr>
            </a:lvl7pPr>
            <a:lvl8pPr>
              <a:defRPr sz="3300" b="1">
                <a:solidFill>
                  <a:srgbClr val="163B35"/>
                </a:solidFill>
                <a:latin typeface="Arial"/>
                <a:ea typeface="Arial"/>
                <a:cs typeface="Arial"/>
              </a:defRPr>
            </a:lvl8pPr>
            <a:lvl9pPr>
              <a:defRPr sz="3300" b="1">
                <a:solidFill>
                  <a:srgbClr val="163B35"/>
                </a:solidFill>
                <a:latin typeface="Arial"/>
                <a:ea typeface="Arial"/>
                <a:cs typeface="Arial"/>
              </a:defRPr>
            </a:lvl9pPr>
          </a:lstStyle>
          <a:p xmlns:a="http://schemas.openxmlformats.org/drawingml/2006/main">
            <a:pPr>
              <a:defRPr sz="3300" b="1">
                <a:solidFill>
                  <a:srgbClr val="163B35"/>
                </a:solidFill>
                <a:latin typeface="Arial"/>
                <a:ea typeface="Arial"/>
                <a:cs typeface="Arial"/>
              </a:defRPr>
            </a:pPr>
            <a:r>
              <a:rPr sz="3300" b="1">
                <a:solidFill>
                  <a:srgbClr val="163B35"/>
                </a:solidFill>
                <a:latin typeface="Arial"/>
                <a:ea typeface="Arial"/>
                <a:cs typeface="Arial"/>
              </a:rPr>
              <a:t>Frozen test result: 0.8999 macro F1</a:t>
            </a:r>
          </a:p>
        </p:txBody>
      </p:sp>
      <p:sp>
        <p:nvSpPr>
          <p:cNvPr id="2" name="">
            <a:extLst xmlns:a="http://schemas.openxmlformats.org/drawingml/2006/main">
              <a:ext uri="{FF2B5EF4-FFF2-40B4-BE49-F238E27FC236}">
                <a16:creationId xmlns:a16="http://schemas.microsoft.com/office/drawing/2014/main" id="{E7E529CF-DE6E-43F5-A3D4-29BA51D3206B}"/>
              </a:ext>
            </a:extLst>
          </p:cNvPr>
          <p:cNvSpPr>
            <a:spLocks xmlns:a="http://schemas.openxmlformats.org/drawingml/2006/main" noGrp="1"/>
          </p:cNvSpPr>
          <p:nvPr/>
        </p:nvSpPr>
        <p:spPr>
          <a:xfrm xmlns:a="http://schemas.openxmlformats.org/drawingml/2006/main">
            <a:off x="11068050" y="633412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36C66"/>
                </a:solidFill>
                <a:latin typeface="Arial"/>
                <a:ea typeface="Arial"/>
                <a:cs typeface="Arial"/>
              </a:defRPr>
            </a:defPPr>
            <a:lvl1pPr>
              <a:defRPr sz="1350" b="0">
                <a:solidFill>
                  <a:srgbClr val="536C66"/>
                </a:solidFill>
                <a:latin typeface="Arial"/>
                <a:ea typeface="Arial"/>
                <a:cs typeface="Arial"/>
              </a:defRPr>
            </a:lvl1pPr>
            <a:lvl2pPr>
              <a:defRPr sz="1350" b="0">
                <a:solidFill>
                  <a:srgbClr val="536C66"/>
                </a:solidFill>
                <a:latin typeface="Arial"/>
                <a:ea typeface="Arial"/>
                <a:cs typeface="Arial"/>
              </a:defRPr>
            </a:lvl2pPr>
            <a:lvl3pPr>
              <a:defRPr sz="1350" b="0">
                <a:solidFill>
                  <a:srgbClr val="536C66"/>
                </a:solidFill>
                <a:latin typeface="Arial"/>
                <a:ea typeface="Arial"/>
                <a:cs typeface="Arial"/>
              </a:defRPr>
            </a:lvl3pPr>
            <a:lvl4pPr>
              <a:defRPr sz="1350" b="0">
                <a:solidFill>
                  <a:srgbClr val="536C66"/>
                </a:solidFill>
                <a:latin typeface="Arial"/>
                <a:ea typeface="Arial"/>
                <a:cs typeface="Arial"/>
              </a:defRPr>
            </a:lvl4pPr>
            <a:lvl5pPr>
              <a:defRPr sz="1350" b="0">
                <a:solidFill>
                  <a:srgbClr val="536C66"/>
                </a:solidFill>
                <a:latin typeface="Arial"/>
                <a:ea typeface="Arial"/>
                <a:cs typeface="Arial"/>
              </a:defRPr>
            </a:lvl5pPr>
            <a:lvl6pPr>
              <a:defRPr sz="1350" b="0">
                <a:solidFill>
                  <a:srgbClr val="536C66"/>
                </a:solidFill>
                <a:latin typeface="Arial"/>
                <a:ea typeface="Arial"/>
                <a:cs typeface="Arial"/>
              </a:defRPr>
            </a:lvl6pPr>
            <a:lvl7pPr>
              <a:defRPr sz="1350" b="0">
                <a:solidFill>
                  <a:srgbClr val="536C66"/>
                </a:solidFill>
                <a:latin typeface="Arial"/>
                <a:ea typeface="Arial"/>
                <a:cs typeface="Arial"/>
              </a:defRPr>
            </a:lvl7pPr>
            <a:lvl8pPr>
              <a:defRPr sz="1350" b="0">
                <a:solidFill>
                  <a:srgbClr val="536C66"/>
                </a:solidFill>
                <a:latin typeface="Arial"/>
                <a:ea typeface="Arial"/>
                <a:cs typeface="Arial"/>
              </a:defRPr>
            </a:lvl8pPr>
            <a:lvl9pPr>
              <a:defRPr sz="1350" b="0">
                <a:solidFill>
                  <a:srgbClr val="536C66"/>
                </a:solidFill>
                <a:latin typeface="Arial"/>
                <a:ea typeface="Arial"/>
                <a:cs typeface="Arial"/>
              </a:defRPr>
            </a:lvl9pPr>
          </a:lstStyle>
          <a:p xmlns:a="http://schemas.openxmlformats.org/drawingml/2006/main">
            <a:pPr>
              <a:defRPr sz="1350" b="0">
                <a:solidFill>
                  <a:srgbClr val="536C66"/>
                </a:solidFill>
                <a:latin typeface="Arial"/>
                <a:ea typeface="Arial"/>
                <a:cs typeface="Arial"/>
              </a:defRPr>
            </a:pPr>
            <a:r>
              <a:rPr sz="1350" b="0">
                <a:solidFill>
                  <a:srgbClr val="536C66"/>
                </a:solidFill>
                <a:latin typeface="Arial"/>
                <a:ea typeface="Arial"/>
                <a:cs typeface="Arial"/>
              </a:rPr>
              <a:t>11</a:t>
            </a:r>
          </a:p>
        </p:txBody>
      </p:sp>
      <p:graphicFrame>
        <p:nvGraphicFramePr>
          <p:cNvPr id="3" name="">
            <a:extLst xmlns:a="http://schemas.openxmlformats.org/drawingml/2006/main">
              <a:ext uri="{FF2B5EF4-FFF2-40B4-BE49-F238E27FC236}">
                <a16:creationId xmlns:a16="http://schemas.microsoft.com/office/drawing/2014/main" id="{C409B056-AC13-4173-8394-FBC2A03129CF}"/>
              </a:ext>
            </a:extLst>
          </p:cNvPr>
          <p:cNvGraphicFramePr/>
          <p:nvPr/>
        </p:nvGraphicFramePr>
        <p:xfrm>
          <a:off xmlns:a="http://schemas.openxmlformats.org/drawingml/2006/main" x="609600" y="1714500"/>
          <a:ext xmlns:a="http://schemas.openxmlformats.org/drawingml/2006/main" cx="10972800" cy="3429000"/>
        </p:xfrm>
        <a:graphic xmlns:a="http://schemas.openxmlformats.org/drawingml/2006/main">
          <a:graphicData uri="http://schemas.openxmlformats.org/drawingml/2006/table">
            <a:tbl>
              <a:tblPr/>
              <a:tblGrid>
                <a:gridCol w="3810000"/>
                <a:gridCol w="3581400"/>
                <a:gridCol w="3581400"/>
              </a:tblGrid>
              <a:tr h="685800">
                <a:tc>
                  <a:txBody>
                    <a:bodyPr/>
                    <a:lstStyle/>
                    <a:p>
                      <a:r>
                        <a:rPr sz="1725" b="1">
                          <a:solidFill>
                            <a:srgbClr val="FFFFFF"/>
                          </a:solidFill>
                          <a:latin typeface="Arial"/>
                          <a:ea typeface="Arial"/>
                          <a:cs typeface="Arial"/>
                        </a:rPr>
                        <a:t>Metric</a:t>
                      </a:r>
                    </a:p>
                  </a:txBody>
                  <a:tcPr marL="91440" marR="91440" marT="45720" marB="45720">
                    <a:lnL w="9525">
                      <a:solidFill>
                        <a:srgbClr val="D8E2DD"/>
                      </a:solidFill>
                      <a:prstDash val="solid"/>
                    </a:lnL>
                    <a:lnR w="9525">
                      <a:solidFill>
                        <a:srgbClr val="D8E2DD"/>
                      </a:solidFill>
                      <a:prstDash val="solid"/>
                    </a:lnR>
                    <a:lnT w="9525">
                      <a:solidFill>
                        <a:srgbClr val="D8E2DD"/>
                      </a:solidFill>
                      <a:prstDash val="solid"/>
                    </a:lnT>
                    <a:lnB w="9525">
                      <a:solidFill>
                        <a:srgbClr val="D8E2DD"/>
                      </a:solidFill>
                      <a:prstDash val="solid"/>
                    </a:lnB>
                    <a:solidFill>
                      <a:srgbClr val="163B35"/>
                    </a:solidFill>
                  </a:tcPr>
                </a:tc>
                <a:tc>
                  <a:txBody>
                    <a:bodyPr/>
                    <a:lstStyle/>
                    <a:p>
                      <a:r>
                        <a:rPr sz="1725" b="1">
                          <a:solidFill>
                            <a:srgbClr val="FFFFFF"/>
                          </a:solidFill>
                          <a:latin typeface="Arial"/>
                          <a:ea typeface="Arial"/>
                          <a:cs typeface="Arial"/>
                        </a:rPr>
                        <a:t>All test images</a:t>
                      </a:r>
                    </a:p>
                  </a:txBody>
                  <a:tcPr marL="91440" marR="91440" marT="45720" marB="45720">
                    <a:lnR w="9525">
                      <a:solidFill>
                        <a:srgbClr val="D8E2DD"/>
                      </a:solidFill>
                      <a:prstDash val="solid"/>
                    </a:lnR>
                    <a:lnT w="9525">
                      <a:solidFill>
                        <a:srgbClr val="D8E2DD"/>
                      </a:solidFill>
                      <a:prstDash val="solid"/>
                    </a:lnT>
                    <a:lnB w="9525">
                      <a:solidFill>
                        <a:srgbClr val="D8E2DD"/>
                      </a:solidFill>
                      <a:prstDash val="solid"/>
                    </a:lnB>
                    <a:solidFill>
                      <a:srgbClr val="163B35"/>
                    </a:solidFill>
                  </a:tcPr>
                </a:tc>
                <a:tc>
                  <a:txBody>
                    <a:bodyPr/>
                    <a:lstStyle/>
                    <a:p>
                      <a:r>
                        <a:rPr sz="1725" b="1">
                          <a:solidFill>
                            <a:srgbClr val="FFFFFF"/>
                          </a:solidFill>
                          <a:latin typeface="Arial"/>
                          <a:ea typeface="Arial"/>
                          <a:cs typeface="Arial"/>
                        </a:rPr>
                        <a:t>Accepted at 0.52</a:t>
                      </a:r>
                    </a:p>
                  </a:txBody>
                  <a:tcPr marL="91440" marR="91440" marT="45720" marB="45720">
                    <a:lnR w="9525">
                      <a:solidFill>
                        <a:srgbClr val="D8E2DD"/>
                      </a:solidFill>
                      <a:prstDash val="solid"/>
                    </a:lnR>
                    <a:lnT w="9525">
                      <a:solidFill>
                        <a:srgbClr val="D8E2DD"/>
                      </a:solidFill>
                      <a:prstDash val="solid"/>
                    </a:lnT>
                    <a:lnB w="9525">
                      <a:solidFill>
                        <a:srgbClr val="D8E2DD"/>
                      </a:solidFill>
                      <a:prstDash val="solid"/>
                    </a:lnB>
                    <a:solidFill>
                      <a:srgbClr val="163B35"/>
                    </a:solidFill>
                  </a:tcPr>
                </a:tc>
              </a:tr>
              <a:tr h="685800">
                <a:tc>
                  <a:txBody>
                    <a:bodyPr/>
                    <a:lstStyle/>
                    <a:p>
                      <a:r>
                        <a:rPr sz="1725" b="0">
                          <a:solidFill>
                            <a:srgbClr val="163B35"/>
                          </a:solidFill>
                          <a:latin typeface="Arial"/>
                          <a:ea typeface="Arial"/>
                          <a:cs typeface="Arial"/>
                        </a:rPr>
                        <a:t>Images</a:t>
                      </a:r>
                    </a:p>
                  </a:txBody>
                  <a:tcPr marL="91440" marR="91440" marT="45720" marB="45720">
                    <a:lnL w="9525">
                      <a:solidFill>
                        <a:srgbClr val="D8E2DD"/>
                      </a:solidFill>
                      <a:prstDash val="solid"/>
                    </a:lnL>
                    <a:lnR w="9525">
                      <a:solidFill>
                        <a:srgbClr val="D8E2DD"/>
                      </a:solidFill>
                      <a:prstDash val="solid"/>
                    </a:lnR>
                    <a:lnB w="9525">
                      <a:solidFill>
                        <a:srgbClr val="D8E2DD"/>
                      </a:solidFill>
                      <a:prstDash val="solid"/>
                    </a:lnB>
                    <a:solidFill>
                      <a:srgbClr val="FFFFFF"/>
                    </a:solidFill>
                  </a:tcPr>
                </a:tc>
                <a:tc>
                  <a:txBody>
                    <a:bodyPr/>
                    <a:lstStyle/>
                    <a:p>
                      <a:r>
                        <a:rPr sz="1725" b="0">
                          <a:solidFill>
                            <a:srgbClr val="163B35"/>
                          </a:solidFill>
                          <a:latin typeface="Arial"/>
                          <a:ea typeface="Arial"/>
                          <a:cs typeface="Arial"/>
                        </a:rPr>
                        <a:t>377</a:t>
                      </a:r>
                    </a:p>
                  </a:txBody>
                  <a:tcPr marL="91440" marR="91440" marT="45720" marB="45720">
                    <a:lnR w="9525">
                      <a:solidFill>
                        <a:srgbClr val="D8E2DD"/>
                      </a:solidFill>
                      <a:prstDash val="solid"/>
                    </a:lnR>
                    <a:lnB w="9525">
                      <a:solidFill>
                        <a:srgbClr val="D8E2DD"/>
                      </a:solidFill>
                      <a:prstDash val="solid"/>
                    </a:lnB>
                    <a:solidFill>
                      <a:srgbClr val="FFFFFF"/>
                    </a:solidFill>
                  </a:tcPr>
                </a:tc>
                <a:tc>
                  <a:txBody>
                    <a:bodyPr/>
                    <a:lstStyle/>
                    <a:p>
                      <a:r>
                        <a:rPr sz="1725" b="0">
                          <a:solidFill>
                            <a:srgbClr val="163B35"/>
                          </a:solidFill>
                          <a:latin typeface="Arial"/>
                          <a:ea typeface="Arial"/>
                          <a:cs typeface="Arial"/>
                        </a:rPr>
                        <a:t>371</a:t>
                      </a:r>
                    </a:p>
                  </a:txBody>
                  <a:tcPr marL="91440" marR="91440" marT="45720" marB="45720">
                    <a:lnR w="9525">
                      <a:solidFill>
                        <a:srgbClr val="D8E2DD"/>
                      </a:solidFill>
                      <a:prstDash val="solid"/>
                    </a:lnR>
                    <a:lnB w="9525">
                      <a:solidFill>
                        <a:srgbClr val="D8E2DD"/>
                      </a:solidFill>
                      <a:prstDash val="solid"/>
                    </a:lnB>
                    <a:solidFill>
                      <a:srgbClr val="FFFFFF"/>
                    </a:solidFill>
                  </a:tcPr>
                </a:tc>
              </a:tr>
              <a:tr h="685800">
                <a:tc>
                  <a:txBody>
                    <a:bodyPr/>
                    <a:lstStyle/>
                    <a:p>
                      <a:r>
                        <a:rPr sz="1725" b="0">
                          <a:solidFill>
                            <a:srgbClr val="163B35"/>
                          </a:solidFill>
                          <a:latin typeface="Arial"/>
                          <a:ea typeface="Arial"/>
                          <a:cs typeface="Arial"/>
                        </a:rPr>
                        <a:t>Accuracy</a:t>
                      </a:r>
                    </a:p>
                  </a:txBody>
                  <a:tcPr marL="91440" marR="91440" marT="45720" marB="45720">
                    <a:lnL w="9525">
                      <a:solidFill>
                        <a:srgbClr val="D8E2DD"/>
                      </a:solidFill>
                      <a:prstDash val="solid"/>
                    </a:lnL>
                    <a:lnR w="9525">
                      <a:solidFill>
                        <a:srgbClr val="D8E2DD"/>
                      </a:solidFill>
                      <a:prstDash val="solid"/>
                    </a:lnR>
                    <a:lnB w="9525">
                      <a:solidFill>
                        <a:srgbClr val="D8E2DD"/>
                      </a:solidFill>
                      <a:prstDash val="solid"/>
                    </a:lnB>
                    <a:solidFill>
                      <a:srgbClr val="F8FAF7"/>
                    </a:solidFill>
                  </a:tcPr>
                </a:tc>
                <a:tc>
                  <a:txBody>
                    <a:bodyPr/>
                    <a:lstStyle/>
                    <a:p>
                      <a:r>
                        <a:rPr sz="1725" b="0">
                          <a:solidFill>
                            <a:srgbClr val="163B35"/>
                          </a:solidFill>
                          <a:latin typeface="Arial"/>
                          <a:ea typeface="Arial"/>
                          <a:cs typeface="Arial"/>
                        </a:rPr>
                        <a:t>90.19%</a:t>
                      </a:r>
                    </a:p>
                  </a:txBody>
                  <a:tcPr marL="91440" marR="91440" marT="45720" marB="45720">
                    <a:lnR w="9525">
                      <a:solidFill>
                        <a:srgbClr val="D8E2DD"/>
                      </a:solidFill>
                      <a:prstDash val="solid"/>
                    </a:lnR>
                    <a:lnB w="9525">
                      <a:solidFill>
                        <a:srgbClr val="D8E2DD"/>
                      </a:solidFill>
                      <a:prstDash val="solid"/>
                    </a:lnB>
                    <a:solidFill>
                      <a:srgbClr val="F8FAF7"/>
                    </a:solidFill>
                  </a:tcPr>
                </a:tc>
                <a:tc>
                  <a:txBody>
                    <a:bodyPr/>
                    <a:lstStyle/>
                    <a:p>
                      <a:r>
                        <a:rPr sz="1725" b="0">
                          <a:solidFill>
                            <a:srgbClr val="163B35"/>
                          </a:solidFill>
                          <a:latin typeface="Arial"/>
                          <a:ea typeface="Arial"/>
                          <a:cs typeface="Arial"/>
                        </a:rPr>
                        <a:t>91.37%</a:t>
                      </a:r>
                    </a:p>
                  </a:txBody>
                  <a:tcPr marL="91440" marR="91440" marT="45720" marB="45720">
                    <a:lnR w="9525">
                      <a:solidFill>
                        <a:srgbClr val="D8E2DD"/>
                      </a:solidFill>
                      <a:prstDash val="solid"/>
                    </a:lnR>
                    <a:lnB w="9525">
                      <a:solidFill>
                        <a:srgbClr val="D8E2DD"/>
                      </a:solidFill>
                      <a:prstDash val="solid"/>
                    </a:lnB>
                    <a:solidFill>
                      <a:srgbClr val="F8FAF7"/>
                    </a:solidFill>
                  </a:tcPr>
                </a:tc>
              </a:tr>
              <a:tr h="685800">
                <a:tc>
                  <a:txBody>
                    <a:bodyPr/>
                    <a:lstStyle/>
                    <a:p>
                      <a:r>
                        <a:rPr sz="1725" b="0">
                          <a:solidFill>
                            <a:srgbClr val="163B35"/>
                          </a:solidFill>
                          <a:latin typeface="Arial"/>
                          <a:ea typeface="Arial"/>
                          <a:cs typeface="Arial"/>
                        </a:rPr>
                        <a:t>Macro F1</a:t>
                      </a:r>
                    </a:p>
                  </a:txBody>
                  <a:tcPr marL="91440" marR="91440" marT="45720" marB="45720">
                    <a:lnL w="9525">
                      <a:solidFill>
                        <a:srgbClr val="D8E2DD"/>
                      </a:solidFill>
                      <a:prstDash val="solid"/>
                    </a:lnL>
                    <a:lnR w="9525">
                      <a:solidFill>
                        <a:srgbClr val="D8E2DD"/>
                      </a:solidFill>
                      <a:prstDash val="solid"/>
                    </a:lnR>
                    <a:lnB w="9525">
                      <a:solidFill>
                        <a:srgbClr val="D8E2DD"/>
                      </a:solidFill>
                      <a:prstDash val="solid"/>
                    </a:lnB>
                    <a:solidFill>
                      <a:srgbClr val="FFFFFF"/>
                    </a:solidFill>
                  </a:tcPr>
                </a:tc>
                <a:tc>
                  <a:txBody>
                    <a:bodyPr/>
                    <a:lstStyle/>
                    <a:p>
                      <a:r>
                        <a:rPr sz="1725" b="0">
                          <a:solidFill>
                            <a:srgbClr val="163B35"/>
                          </a:solidFill>
                          <a:latin typeface="Arial"/>
                          <a:ea typeface="Arial"/>
                          <a:cs typeface="Arial"/>
                        </a:rPr>
                        <a:t>0.8999</a:t>
                      </a:r>
                    </a:p>
                  </a:txBody>
                  <a:tcPr marL="91440" marR="91440" marT="45720" marB="45720">
                    <a:lnR w="9525">
                      <a:solidFill>
                        <a:srgbClr val="D8E2DD"/>
                      </a:solidFill>
                      <a:prstDash val="solid"/>
                    </a:lnR>
                    <a:lnB w="9525">
                      <a:solidFill>
                        <a:srgbClr val="D8E2DD"/>
                      </a:solidFill>
                      <a:prstDash val="solid"/>
                    </a:lnB>
                    <a:solidFill>
                      <a:srgbClr val="FFFFFF"/>
                    </a:solidFill>
                  </a:tcPr>
                </a:tc>
                <a:tc>
                  <a:txBody>
                    <a:bodyPr/>
                    <a:lstStyle/>
                    <a:p>
                      <a:r>
                        <a:rPr sz="1725" b="0">
                          <a:solidFill>
                            <a:srgbClr val="163B35"/>
                          </a:solidFill>
                          <a:latin typeface="Arial"/>
                          <a:ea typeface="Arial"/>
                          <a:cs typeface="Arial"/>
                        </a:rPr>
                        <a:t>0.9129</a:t>
                      </a:r>
                    </a:p>
                  </a:txBody>
                  <a:tcPr marL="91440" marR="91440" marT="45720" marB="45720">
                    <a:lnR w="9525">
                      <a:solidFill>
                        <a:srgbClr val="D8E2DD"/>
                      </a:solidFill>
                      <a:prstDash val="solid"/>
                    </a:lnR>
                    <a:lnB w="9525">
                      <a:solidFill>
                        <a:srgbClr val="D8E2DD"/>
                      </a:solidFill>
                      <a:prstDash val="solid"/>
                    </a:lnB>
                    <a:solidFill>
                      <a:srgbClr val="FFFFFF"/>
                    </a:solidFill>
                  </a:tcPr>
                </a:tc>
              </a:tr>
              <a:tr h="685800">
                <a:tc>
                  <a:txBody>
                    <a:bodyPr/>
                    <a:lstStyle/>
                    <a:p>
                      <a:r>
                        <a:rPr sz="1725" b="0">
                          <a:solidFill>
                            <a:srgbClr val="163B35"/>
                          </a:solidFill>
                          <a:latin typeface="Arial"/>
                          <a:ea typeface="Arial"/>
                          <a:cs typeface="Arial"/>
                        </a:rPr>
                        <a:t>Coverage</a:t>
                      </a:r>
                    </a:p>
                  </a:txBody>
                  <a:tcPr marL="91440" marR="91440" marT="45720" marB="45720">
                    <a:lnL w="9525">
                      <a:solidFill>
                        <a:srgbClr val="D8E2DD"/>
                      </a:solidFill>
                      <a:prstDash val="solid"/>
                    </a:lnL>
                    <a:lnR w="9525">
                      <a:solidFill>
                        <a:srgbClr val="D8E2DD"/>
                      </a:solidFill>
                      <a:prstDash val="solid"/>
                    </a:lnR>
                    <a:lnB w="9525">
                      <a:solidFill>
                        <a:srgbClr val="D8E2DD"/>
                      </a:solidFill>
                      <a:prstDash val="solid"/>
                    </a:lnB>
                    <a:solidFill>
                      <a:srgbClr val="F8FAF7"/>
                    </a:solidFill>
                  </a:tcPr>
                </a:tc>
                <a:tc>
                  <a:txBody>
                    <a:bodyPr/>
                    <a:lstStyle/>
                    <a:p>
                      <a:r>
                        <a:rPr sz="1725" b="0">
                          <a:solidFill>
                            <a:srgbClr val="163B35"/>
                          </a:solidFill>
                          <a:latin typeface="Arial"/>
                          <a:ea typeface="Arial"/>
                          <a:cs typeface="Arial"/>
                        </a:rPr>
                        <a:t>100%</a:t>
                      </a:r>
                    </a:p>
                  </a:txBody>
                  <a:tcPr marL="91440" marR="91440" marT="45720" marB="45720">
                    <a:lnR w="9525">
                      <a:solidFill>
                        <a:srgbClr val="D8E2DD"/>
                      </a:solidFill>
                      <a:prstDash val="solid"/>
                    </a:lnR>
                    <a:lnB w="9525">
                      <a:solidFill>
                        <a:srgbClr val="D8E2DD"/>
                      </a:solidFill>
                      <a:prstDash val="solid"/>
                    </a:lnB>
                    <a:solidFill>
                      <a:srgbClr val="F8FAF7"/>
                    </a:solidFill>
                  </a:tcPr>
                </a:tc>
                <a:tc>
                  <a:txBody>
                    <a:bodyPr/>
                    <a:lstStyle/>
                    <a:p>
                      <a:r>
                        <a:rPr sz="1725" b="0">
                          <a:solidFill>
                            <a:srgbClr val="163B35"/>
                          </a:solidFill>
                          <a:latin typeface="Arial"/>
                          <a:ea typeface="Arial"/>
                          <a:cs typeface="Arial"/>
                        </a:rPr>
                        <a:t>98.41%</a:t>
                      </a:r>
                    </a:p>
                  </a:txBody>
                  <a:tcPr marL="91440" marR="91440" marT="45720" marB="45720">
                    <a:lnR w="9525">
                      <a:solidFill>
                        <a:srgbClr val="D8E2DD"/>
                      </a:solidFill>
                      <a:prstDash val="solid"/>
                    </a:lnR>
                    <a:lnB w="9525">
                      <a:solidFill>
                        <a:srgbClr val="D8E2DD"/>
                      </a:solidFill>
                      <a:prstDash val="solid"/>
                    </a:lnB>
                    <a:solidFill>
                      <a:srgbClr val="F8FAF7"/>
                    </a:solidFill>
                  </a:tcPr>
                </a:tc>
              </a:tr>
            </a:tbl>
          </a:graphicData>
        </a:graphic>
      </p:graphicFrame>
      <p:sp>
        <p:nvSpPr>
          <p:cNvPr id="4" name="">
            <a:extLst xmlns:a="http://schemas.openxmlformats.org/drawingml/2006/main">
              <a:ext uri="{FF2B5EF4-FFF2-40B4-BE49-F238E27FC236}">
                <a16:creationId xmlns:a16="http://schemas.microsoft.com/office/drawing/2014/main" id="{A2E8EC8F-9147-465F-9812-1DF7AB47F0E6}"/>
              </a:ext>
            </a:extLst>
          </p:cNvPr>
          <p:cNvSpPr>
            <a:spLocks xmlns:a="http://schemas.openxmlformats.org/drawingml/2006/main" noGrp="1"/>
          </p:cNvSpPr>
          <p:nvPr/>
        </p:nvSpPr>
        <p:spPr>
          <a:xfrm xmlns:a="http://schemas.openxmlformats.org/drawingml/2006/main">
            <a:off x="609600" y="558165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67B62"/>
                </a:solidFill>
                <a:latin typeface="Arial"/>
                <a:ea typeface="Arial"/>
                <a:cs typeface="Arial"/>
              </a:defRPr>
            </a:defPPr>
            <a:lvl1pPr>
              <a:defRPr sz="2100" b="1">
                <a:solidFill>
                  <a:srgbClr val="167B62"/>
                </a:solidFill>
                <a:latin typeface="Arial"/>
                <a:ea typeface="Arial"/>
                <a:cs typeface="Arial"/>
              </a:defRPr>
            </a:lvl1pPr>
            <a:lvl2pPr>
              <a:defRPr sz="2100" b="1">
                <a:solidFill>
                  <a:srgbClr val="167B62"/>
                </a:solidFill>
                <a:latin typeface="Arial"/>
                <a:ea typeface="Arial"/>
                <a:cs typeface="Arial"/>
              </a:defRPr>
            </a:lvl2pPr>
            <a:lvl3pPr>
              <a:defRPr sz="2100" b="1">
                <a:solidFill>
                  <a:srgbClr val="167B62"/>
                </a:solidFill>
                <a:latin typeface="Arial"/>
                <a:ea typeface="Arial"/>
                <a:cs typeface="Arial"/>
              </a:defRPr>
            </a:lvl3pPr>
            <a:lvl4pPr>
              <a:defRPr sz="2100" b="1">
                <a:solidFill>
                  <a:srgbClr val="167B62"/>
                </a:solidFill>
                <a:latin typeface="Arial"/>
                <a:ea typeface="Arial"/>
                <a:cs typeface="Arial"/>
              </a:defRPr>
            </a:lvl4pPr>
            <a:lvl5pPr>
              <a:defRPr sz="2100" b="1">
                <a:solidFill>
                  <a:srgbClr val="167B62"/>
                </a:solidFill>
                <a:latin typeface="Arial"/>
                <a:ea typeface="Arial"/>
                <a:cs typeface="Arial"/>
              </a:defRPr>
            </a:lvl5pPr>
            <a:lvl6pPr>
              <a:defRPr sz="2100" b="1">
                <a:solidFill>
                  <a:srgbClr val="167B62"/>
                </a:solidFill>
                <a:latin typeface="Arial"/>
                <a:ea typeface="Arial"/>
                <a:cs typeface="Arial"/>
              </a:defRPr>
            </a:lvl6pPr>
            <a:lvl7pPr>
              <a:defRPr sz="2100" b="1">
                <a:solidFill>
                  <a:srgbClr val="167B62"/>
                </a:solidFill>
                <a:latin typeface="Arial"/>
                <a:ea typeface="Arial"/>
                <a:cs typeface="Arial"/>
              </a:defRPr>
            </a:lvl7pPr>
            <a:lvl8pPr>
              <a:defRPr sz="2100" b="1">
                <a:solidFill>
                  <a:srgbClr val="167B62"/>
                </a:solidFill>
                <a:latin typeface="Arial"/>
                <a:ea typeface="Arial"/>
                <a:cs typeface="Arial"/>
              </a:defRPr>
            </a:lvl8pPr>
            <a:lvl9pPr>
              <a:defRPr sz="2100" b="1">
                <a:solidFill>
                  <a:srgbClr val="167B62"/>
                </a:solidFill>
                <a:latin typeface="Arial"/>
                <a:ea typeface="Arial"/>
                <a:cs typeface="Arial"/>
              </a:defRPr>
            </a:lvl9pPr>
          </a:lstStyle>
          <a:p xmlns:a="http://schemas.openxmlformats.org/drawingml/2006/main">
            <a:pPr>
              <a:defRPr sz="2100" b="1">
                <a:solidFill>
                  <a:srgbClr val="167B62"/>
                </a:solidFill>
                <a:latin typeface="Arial"/>
                <a:ea typeface="Arial"/>
                <a:cs typeface="Arial"/>
              </a:defRPr>
            </a:pPr>
            <a:r>
              <a:rPr sz="2100" b="1">
                <a:solidFill>
                  <a:srgbClr val="167B62"/>
                </a:solidFill>
                <a:latin typeface="Arial"/>
                <a:ea typeface="Arial"/>
                <a:cs typeface="Arial"/>
              </a:rPr>
              <a:t>6 abstentions: 5 incorrect predictions and 1 correct prediction withheld</a:t>
            </a:r>
          </a:p>
        </p:txBody>
      </p:sp>
    </p:spTree>
    <p:extLst>
      <p:ext uri="{BB962C8B-B14F-4D97-AF65-F5344CB8AC3E}">
        <p14:creationId xmlns:p14="http://schemas.microsoft.com/office/powerpoint/2010/main" val="875922474"/>
      </p:ext>
    </p:extLst>
  </p:cSld>
</p:sld>
</file>

<file path=ppt/slides/slide12.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E29BB0F-4A16-41D2-BCAC-06F5AFE0C11A}"/>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63B35"/>
                </a:solidFill>
                <a:latin typeface="Arial"/>
                <a:ea typeface="Arial"/>
                <a:cs typeface="Arial"/>
              </a:defRPr>
            </a:defPPr>
            <a:lvl1pPr>
              <a:defRPr sz="3300" b="1">
                <a:solidFill>
                  <a:srgbClr val="163B35"/>
                </a:solidFill>
                <a:latin typeface="Arial"/>
                <a:ea typeface="Arial"/>
                <a:cs typeface="Arial"/>
              </a:defRPr>
            </a:lvl1pPr>
            <a:lvl2pPr>
              <a:defRPr sz="3300" b="1">
                <a:solidFill>
                  <a:srgbClr val="163B35"/>
                </a:solidFill>
                <a:latin typeface="Arial"/>
                <a:ea typeface="Arial"/>
                <a:cs typeface="Arial"/>
              </a:defRPr>
            </a:lvl2pPr>
            <a:lvl3pPr>
              <a:defRPr sz="3300" b="1">
                <a:solidFill>
                  <a:srgbClr val="163B35"/>
                </a:solidFill>
                <a:latin typeface="Arial"/>
                <a:ea typeface="Arial"/>
                <a:cs typeface="Arial"/>
              </a:defRPr>
            </a:lvl3pPr>
            <a:lvl4pPr>
              <a:defRPr sz="3300" b="1">
                <a:solidFill>
                  <a:srgbClr val="163B35"/>
                </a:solidFill>
                <a:latin typeface="Arial"/>
                <a:ea typeface="Arial"/>
                <a:cs typeface="Arial"/>
              </a:defRPr>
            </a:lvl4pPr>
            <a:lvl5pPr>
              <a:defRPr sz="3300" b="1">
                <a:solidFill>
                  <a:srgbClr val="163B35"/>
                </a:solidFill>
                <a:latin typeface="Arial"/>
                <a:ea typeface="Arial"/>
                <a:cs typeface="Arial"/>
              </a:defRPr>
            </a:lvl5pPr>
            <a:lvl6pPr>
              <a:defRPr sz="3300" b="1">
                <a:solidFill>
                  <a:srgbClr val="163B35"/>
                </a:solidFill>
                <a:latin typeface="Arial"/>
                <a:ea typeface="Arial"/>
                <a:cs typeface="Arial"/>
              </a:defRPr>
            </a:lvl6pPr>
            <a:lvl7pPr>
              <a:defRPr sz="3300" b="1">
                <a:solidFill>
                  <a:srgbClr val="163B35"/>
                </a:solidFill>
                <a:latin typeface="Arial"/>
                <a:ea typeface="Arial"/>
                <a:cs typeface="Arial"/>
              </a:defRPr>
            </a:lvl7pPr>
            <a:lvl8pPr>
              <a:defRPr sz="3300" b="1">
                <a:solidFill>
                  <a:srgbClr val="163B35"/>
                </a:solidFill>
                <a:latin typeface="Arial"/>
                <a:ea typeface="Arial"/>
                <a:cs typeface="Arial"/>
              </a:defRPr>
            </a:lvl8pPr>
            <a:lvl9pPr>
              <a:defRPr sz="3300" b="1">
                <a:solidFill>
                  <a:srgbClr val="163B35"/>
                </a:solidFill>
                <a:latin typeface="Arial"/>
                <a:ea typeface="Arial"/>
                <a:cs typeface="Arial"/>
              </a:defRPr>
            </a:lvl9pPr>
          </a:lstStyle>
          <a:p xmlns:a="http://schemas.openxmlformats.org/drawingml/2006/main">
            <a:pPr>
              <a:defRPr sz="3300" b="1">
                <a:solidFill>
                  <a:srgbClr val="163B35"/>
                </a:solidFill>
                <a:latin typeface="Arial"/>
                <a:ea typeface="Arial"/>
                <a:cs typeface="Arial"/>
              </a:defRPr>
            </a:pPr>
            <a:r>
              <a:rPr sz="3300" b="1">
                <a:solidFill>
                  <a:srgbClr val="163B35"/>
                </a:solidFill>
                <a:latin typeface="Arial"/>
                <a:ea typeface="Arial"/>
                <a:cs typeface="Arial"/>
              </a:rPr>
              <a:t>Errors concentrate in visually similar materials</a:t>
            </a:r>
          </a:p>
        </p:txBody>
      </p:sp>
      <p:sp>
        <p:nvSpPr>
          <p:cNvPr id="2" name="">
            <a:extLst xmlns:a="http://schemas.openxmlformats.org/drawingml/2006/main">
              <a:ext uri="{FF2B5EF4-FFF2-40B4-BE49-F238E27FC236}">
                <a16:creationId xmlns:a16="http://schemas.microsoft.com/office/drawing/2014/main" id="{8086D4F4-7121-4B81-BF52-0C10916435D3}"/>
              </a:ext>
            </a:extLst>
          </p:cNvPr>
          <p:cNvSpPr>
            <a:spLocks xmlns:a="http://schemas.openxmlformats.org/drawingml/2006/main" noGrp="1"/>
          </p:cNvSpPr>
          <p:nvPr/>
        </p:nvSpPr>
        <p:spPr>
          <a:xfrm xmlns:a="http://schemas.openxmlformats.org/drawingml/2006/main">
            <a:off x="11068050" y="633412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36C66"/>
                </a:solidFill>
                <a:latin typeface="Arial"/>
                <a:ea typeface="Arial"/>
                <a:cs typeface="Arial"/>
              </a:defRPr>
            </a:defPPr>
            <a:lvl1pPr>
              <a:defRPr sz="1350" b="0">
                <a:solidFill>
                  <a:srgbClr val="536C66"/>
                </a:solidFill>
                <a:latin typeface="Arial"/>
                <a:ea typeface="Arial"/>
                <a:cs typeface="Arial"/>
              </a:defRPr>
            </a:lvl1pPr>
            <a:lvl2pPr>
              <a:defRPr sz="1350" b="0">
                <a:solidFill>
                  <a:srgbClr val="536C66"/>
                </a:solidFill>
                <a:latin typeface="Arial"/>
                <a:ea typeface="Arial"/>
                <a:cs typeface="Arial"/>
              </a:defRPr>
            </a:lvl2pPr>
            <a:lvl3pPr>
              <a:defRPr sz="1350" b="0">
                <a:solidFill>
                  <a:srgbClr val="536C66"/>
                </a:solidFill>
                <a:latin typeface="Arial"/>
                <a:ea typeface="Arial"/>
                <a:cs typeface="Arial"/>
              </a:defRPr>
            </a:lvl3pPr>
            <a:lvl4pPr>
              <a:defRPr sz="1350" b="0">
                <a:solidFill>
                  <a:srgbClr val="536C66"/>
                </a:solidFill>
                <a:latin typeface="Arial"/>
                <a:ea typeface="Arial"/>
                <a:cs typeface="Arial"/>
              </a:defRPr>
            </a:lvl4pPr>
            <a:lvl5pPr>
              <a:defRPr sz="1350" b="0">
                <a:solidFill>
                  <a:srgbClr val="536C66"/>
                </a:solidFill>
                <a:latin typeface="Arial"/>
                <a:ea typeface="Arial"/>
                <a:cs typeface="Arial"/>
              </a:defRPr>
            </a:lvl5pPr>
            <a:lvl6pPr>
              <a:defRPr sz="1350" b="0">
                <a:solidFill>
                  <a:srgbClr val="536C66"/>
                </a:solidFill>
                <a:latin typeface="Arial"/>
                <a:ea typeface="Arial"/>
                <a:cs typeface="Arial"/>
              </a:defRPr>
            </a:lvl6pPr>
            <a:lvl7pPr>
              <a:defRPr sz="1350" b="0">
                <a:solidFill>
                  <a:srgbClr val="536C66"/>
                </a:solidFill>
                <a:latin typeface="Arial"/>
                <a:ea typeface="Arial"/>
                <a:cs typeface="Arial"/>
              </a:defRPr>
            </a:lvl7pPr>
            <a:lvl8pPr>
              <a:defRPr sz="1350" b="0">
                <a:solidFill>
                  <a:srgbClr val="536C66"/>
                </a:solidFill>
                <a:latin typeface="Arial"/>
                <a:ea typeface="Arial"/>
                <a:cs typeface="Arial"/>
              </a:defRPr>
            </a:lvl8pPr>
            <a:lvl9pPr>
              <a:defRPr sz="1350" b="0">
                <a:solidFill>
                  <a:srgbClr val="536C66"/>
                </a:solidFill>
                <a:latin typeface="Arial"/>
                <a:ea typeface="Arial"/>
                <a:cs typeface="Arial"/>
              </a:defRPr>
            </a:lvl9pPr>
          </a:lstStyle>
          <a:p xmlns:a="http://schemas.openxmlformats.org/drawingml/2006/main">
            <a:pPr>
              <a:defRPr sz="1350" b="0">
                <a:solidFill>
                  <a:srgbClr val="536C66"/>
                </a:solidFill>
                <a:latin typeface="Arial"/>
                <a:ea typeface="Arial"/>
                <a:cs typeface="Arial"/>
              </a:defRPr>
            </a:pPr>
            <a:r>
              <a:rPr sz="1350" b="0">
                <a:solidFill>
                  <a:srgbClr val="536C66"/>
                </a:solidFill>
                <a:latin typeface="Arial"/>
                <a:ea typeface="Arial"/>
                <a:cs typeface="Arial"/>
              </a:rPr>
              <a:t>12</a:t>
            </a:r>
          </a:p>
        </p:txBody>
      </p:sp>
      <p:graphicFrame>
        <p:nvGraphicFramePr>
          <p:cNvPr id="3" name="">
            <a:extLst xmlns:a="http://schemas.openxmlformats.org/drawingml/2006/main">
              <a:ext uri="{FF2B5EF4-FFF2-40B4-BE49-F238E27FC236}">
                <a16:creationId xmlns:a16="http://schemas.microsoft.com/office/drawing/2014/main" id="{49A6DF1D-C329-4E98-955B-3B866F12AC03}"/>
              </a:ext>
            </a:extLst>
          </p:cNvPr>
          <p:cNvGraphicFramePr/>
          <p:nvPr/>
        </p:nvGraphicFramePr>
        <p:xfrm>
          <a:off xmlns:a="http://schemas.openxmlformats.org/drawingml/2006/main" x="609600" y="1809750"/>
          <a:ext xmlns:a="http://schemas.openxmlformats.org/drawingml/2006/main" cx="8382000" cy="3619500"/>
        </p:xfrm>
        <a:graphic xmlns:a="http://schemas.openxmlformats.org/drawingml/2006/main">
          <a:graphicData uri="http://schemas.openxmlformats.org/drawingml/2006/table">
            <a:tbl>
              <a:tblPr/>
              <a:tblGrid>
                <a:gridCol w="1809750"/>
                <a:gridCol w="1095375"/>
                <a:gridCol w="1095375"/>
                <a:gridCol w="1095375"/>
                <a:gridCol w="1095375"/>
                <a:gridCol w="1095375"/>
                <a:gridCol w="1095375"/>
              </a:tblGrid>
              <a:tr h="517071">
                <a:tc>
                  <a:txBody>
                    <a:bodyPr/>
                    <a:lstStyle/>
                    <a:p>
                      <a:r>
                        <a:rPr sz="1725" b="1">
                          <a:solidFill>
                            <a:srgbClr val="FFFFFF"/>
                          </a:solidFill>
                          <a:latin typeface="Arial"/>
                          <a:ea typeface="Arial"/>
                          <a:cs typeface="Arial"/>
                        </a:rPr>
                        <a:t>True / Pred.</a:t>
                      </a:r>
                    </a:p>
                  </a:txBody>
                  <a:tcPr marL="91440" marR="91440" marT="45720" marB="45720">
                    <a:lnL w="9525">
                      <a:solidFill>
                        <a:srgbClr val="D8E2DD"/>
                      </a:solidFill>
                      <a:prstDash val="solid"/>
                    </a:lnL>
                    <a:lnR w="9525">
                      <a:solidFill>
                        <a:srgbClr val="D8E2DD"/>
                      </a:solidFill>
                      <a:prstDash val="solid"/>
                    </a:lnR>
                    <a:lnT w="9525">
                      <a:solidFill>
                        <a:srgbClr val="D8E2DD"/>
                      </a:solidFill>
                      <a:prstDash val="solid"/>
                    </a:lnT>
                    <a:lnB w="9525">
                      <a:solidFill>
                        <a:srgbClr val="D8E2DD"/>
                      </a:solidFill>
                      <a:prstDash val="solid"/>
                    </a:lnB>
                    <a:solidFill>
                      <a:srgbClr val="163B35"/>
                    </a:solidFill>
                  </a:tcPr>
                </a:tc>
                <a:tc>
                  <a:txBody>
                    <a:bodyPr/>
                    <a:lstStyle/>
                    <a:p>
                      <a:r>
                        <a:rPr sz="1725" b="1">
                          <a:solidFill>
                            <a:srgbClr val="FFFFFF"/>
                          </a:solidFill>
                          <a:latin typeface="Arial"/>
                          <a:ea typeface="Arial"/>
                          <a:cs typeface="Arial"/>
                        </a:rPr>
                        <a:t>Cardbd.</a:t>
                      </a:r>
                    </a:p>
                  </a:txBody>
                  <a:tcPr marL="91440" marR="91440" marT="45720" marB="45720">
                    <a:lnR w="9525">
                      <a:solidFill>
                        <a:srgbClr val="D8E2DD"/>
                      </a:solidFill>
                      <a:prstDash val="solid"/>
                    </a:lnR>
                    <a:lnT w="9525">
                      <a:solidFill>
                        <a:srgbClr val="D8E2DD"/>
                      </a:solidFill>
                      <a:prstDash val="solid"/>
                    </a:lnT>
                    <a:lnB w="9525">
                      <a:solidFill>
                        <a:srgbClr val="D8E2DD"/>
                      </a:solidFill>
                      <a:prstDash val="solid"/>
                    </a:lnB>
                    <a:solidFill>
                      <a:srgbClr val="163B35"/>
                    </a:solidFill>
                  </a:tcPr>
                </a:tc>
                <a:tc>
                  <a:txBody>
                    <a:bodyPr/>
                    <a:lstStyle/>
                    <a:p>
                      <a:r>
                        <a:rPr sz="1725" b="1">
                          <a:solidFill>
                            <a:srgbClr val="FFFFFF"/>
                          </a:solidFill>
                          <a:latin typeface="Arial"/>
                          <a:ea typeface="Arial"/>
                          <a:cs typeface="Arial"/>
                        </a:rPr>
                        <a:t>Glass</a:t>
                      </a:r>
                    </a:p>
                  </a:txBody>
                  <a:tcPr marL="91440" marR="91440" marT="45720" marB="45720">
                    <a:lnR w="9525">
                      <a:solidFill>
                        <a:srgbClr val="D8E2DD"/>
                      </a:solidFill>
                      <a:prstDash val="solid"/>
                    </a:lnR>
                    <a:lnT w="9525">
                      <a:solidFill>
                        <a:srgbClr val="D8E2DD"/>
                      </a:solidFill>
                      <a:prstDash val="solid"/>
                    </a:lnT>
                    <a:lnB w="9525">
                      <a:solidFill>
                        <a:srgbClr val="D8E2DD"/>
                      </a:solidFill>
                      <a:prstDash val="solid"/>
                    </a:lnB>
                    <a:solidFill>
                      <a:srgbClr val="163B35"/>
                    </a:solidFill>
                  </a:tcPr>
                </a:tc>
                <a:tc>
                  <a:txBody>
                    <a:bodyPr/>
                    <a:lstStyle/>
                    <a:p>
                      <a:r>
                        <a:rPr sz="1725" b="1">
                          <a:solidFill>
                            <a:srgbClr val="FFFFFF"/>
                          </a:solidFill>
                          <a:latin typeface="Arial"/>
                          <a:ea typeface="Arial"/>
                          <a:cs typeface="Arial"/>
                        </a:rPr>
                        <a:t>Metal</a:t>
                      </a:r>
                    </a:p>
                  </a:txBody>
                  <a:tcPr marL="91440" marR="91440" marT="45720" marB="45720">
                    <a:lnR w="9525">
                      <a:solidFill>
                        <a:srgbClr val="D8E2DD"/>
                      </a:solidFill>
                      <a:prstDash val="solid"/>
                    </a:lnR>
                    <a:lnT w="9525">
                      <a:solidFill>
                        <a:srgbClr val="D8E2DD"/>
                      </a:solidFill>
                      <a:prstDash val="solid"/>
                    </a:lnT>
                    <a:lnB w="9525">
                      <a:solidFill>
                        <a:srgbClr val="D8E2DD"/>
                      </a:solidFill>
                      <a:prstDash val="solid"/>
                    </a:lnB>
                    <a:solidFill>
                      <a:srgbClr val="163B35"/>
                    </a:solidFill>
                  </a:tcPr>
                </a:tc>
                <a:tc>
                  <a:txBody>
                    <a:bodyPr/>
                    <a:lstStyle/>
                    <a:p>
                      <a:r>
                        <a:rPr sz="1725" b="1">
                          <a:solidFill>
                            <a:srgbClr val="FFFFFF"/>
                          </a:solidFill>
                          <a:latin typeface="Arial"/>
                          <a:ea typeface="Arial"/>
                          <a:cs typeface="Arial"/>
                        </a:rPr>
                        <a:t>Paper</a:t>
                      </a:r>
                    </a:p>
                  </a:txBody>
                  <a:tcPr marL="91440" marR="91440" marT="45720" marB="45720">
                    <a:lnR w="9525">
                      <a:solidFill>
                        <a:srgbClr val="D8E2DD"/>
                      </a:solidFill>
                      <a:prstDash val="solid"/>
                    </a:lnR>
                    <a:lnT w="9525">
                      <a:solidFill>
                        <a:srgbClr val="D8E2DD"/>
                      </a:solidFill>
                      <a:prstDash val="solid"/>
                    </a:lnT>
                    <a:lnB w="9525">
                      <a:solidFill>
                        <a:srgbClr val="D8E2DD"/>
                      </a:solidFill>
                      <a:prstDash val="solid"/>
                    </a:lnB>
                    <a:solidFill>
                      <a:srgbClr val="163B35"/>
                    </a:solidFill>
                  </a:tcPr>
                </a:tc>
                <a:tc>
                  <a:txBody>
                    <a:bodyPr/>
                    <a:lstStyle/>
                    <a:p>
                      <a:r>
                        <a:rPr sz="1725" b="1">
                          <a:solidFill>
                            <a:srgbClr val="FFFFFF"/>
                          </a:solidFill>
                          <a:latin typeface="Arial"/>
                          <a:ea typeface="Arial"/>
                          <a:cs typeface="Arial"/>
                        </a:rPr>
                        <a:t>Plastic</a:t>
                      </a:r>
                    </a:p>
                  </a:txBody>
                  <a:tcPr marL="91440" marR="91440" marT="45720" marB="45720">
                    <a:lnR w="9525">
                      <a:solidFill>
                        <a:srgbClr val="D8E2DD"/>
                      </a:solidFill>
                      <a:prstDash val="solid"/>
                    </a:lnR>
                    <a:lnT w="9525">
                      <a:solidFill>
                        <a:srgbClr val="D8E2DD"/>
                      </a:solidFill>
                      <a:prstDash val="solid"/>
                    </a:lnT>
                    <a:lnB w="9525">
                      <a:solidFill>
                        <a:srgbClr val="D8E2DD"/>
                      </a:solidFill>
                      <a:prstDash val="solid"/>
                    </a:lnB>
                    <a:solidFill>
                      <a:srgbClr val="163B35"/>
                    </a:solidFill>
                  </a:tcPr>
                </a:tc>
                <a:tc>
                  <a:txBody>
                    <a:bodyPr/>
                    <a:lstStyle/>
                    <a:p>
                      <a:r>
                        <a:rPr sz="1725" b="1">
                          <a:solidFill>
                            <a:srgbClr val="FFFFFF"/>
                          </a:solidFill>
                          <a:latin typeface="Arial"/>
                          <a:ea typeface="Arial"/>
                          <a:cs typeface="Arial"/>
                        </a:rPr>
                        <a:t>Trash</a:t>
                      </a:r>
                    </a:p>
                  </a:txBody>
                  <a:tcPr marL="91440" marR="91440" marT="45720" marB="45720">
                    <a:lnR w="9525">
                      <a:solidFill>
                        <a:srgbClr val="D8E2DD"/>
                      </a:solidFill>
                      <a:prstDash val="solid"/>
                    </a:lnR>
                    <a:lnT w="9525">
                      <a:solidFill>
                        <a:srgbClr val="D8E2DD"/>
                      </a:solidFill>
                      <a:prstDash val="solid"/>
                    </a:lnT>
                    <a:lnB w="9525">
                      <a:solidFill>
                        <a:srgbClr val="D8E2DD"/>
                      </a:solidFill>
                      <a:prstDash val="solid"/>
                    </a:lnB>
                    <a:solidFill>
                      <a:srgbClr val="163B35"/>
                    </a:solidFill>
                  </a:tcPr>
                </a:tc>
              </a:tr>
              <a:tr h="517071">
                <a:tc>
                  <a:txBody>
                    <a:bodyPr/>
                    <a:lstStyle/>
                    <a:p>
                      <a:r>
                        <a:rPr sz="1725" b="0">
                          <a:solidFill>
                            <a:srgbClr val="163B35"/>
                          </a:solidFill>
                          <a:latin typeface="Arial"/>
                          <a:ea typeface="Arial"/>
                          <a:cs typeface="Arial"/>
                        </a:rPr>
                        <a:t>Cardboard</a:t>
                      </a:r>
                    </a:p>
                  </a:txBody>
                  <a:tcPr marL="91440" marR="91440" marT="45720" marB="45720">
                    <a:lnL w="9525">
                      <a:solidFill>
                        <a:srgbClr val="D8E2DD"/>
                      </a:solidFill>
                      <a:prstDash val="solid"/>
                    </a:lnL>
                    <a:lnR w="9525">
                      <a:solidFill>
                        <a:srgbClr val="D8E2DD"/>
                      </a:solidFill>
                      <a:prstDash val="solid"/>
                    </a:lnR>
                    <a:lnB w="9525">
                      <a:solidFill>
                        <a:srgbClr val="D8E2DD"/>
                      </a:solidFill>
                      <a:prstDash val="solid"/>
                    </a:lnB>
                    <a:solidFill>
                      <a:srgbClr val="FFFFFF"/>
                    </a:solidFill>
                  </a:tcPr>
                </a:tc>
                <a:tc>
                  <a:txBody>
                    <a:bodyPr/>
                    <a:lstStyle/>
                    <a:p>
                      <a:r>
                        <a:rPr sz="1725" b="1">
                          <a:solidFill>
                            <a:srgbClr val="163B35"/>
                          </a:solidFill>
                          <a:latin typeface="Arial"/>
                          <a:ea typeface="Arial"/>
                          <a:cs typeface="Arial"/>
                        </a:rPr>
                        <a:t>57</a:t>
                      </a:r>
                    </a:p>
                  </a:txBody>
                  <a:tcPr marL="91440" marR="91440" marT="45720" marB="45720">
                    <a:lnR w="9525">
                      <a:solidFill>
                        <a:srgbClr val="D8E2DD"/>
                      </a:solidFill>
                      <a:prstDash val="solid"/>
                    </a:lnR>
                    <a:lnB w="9525">
                      <a:solidFill>
                        <a:srgbClr val="D8E2DD"/>
                      </a:solidFill>
                      <a:prstDash val="solid"/>
                    </a:lnB>
                    <a:solidFill>
                      <a:srgbClr val="C6E7D9"/>
                    </a:solidFill>
                  </a:tcPr>
                </a:tc>
                <a:tc>
                  <a:txBody>
                    <a:bodyPr/>
                    <a:lstStyle/>
                    <a:p>
                      <a:r>
                        <a:rPr sz="1725" b="0">
                          <a:solidFill>
                            <a:srgbClr val="163B35"/>
                          </a:solidFill>
                          <a:latin typeface="Arial"/>
                          <a:ea typeface="Arial"/>
                          <a:cs typeface="Arial"/>
                        </a:rPr>
                        <a:t>0</a:t>
                      </a:r>
                    </a:p>
                  </a:txBody>
                  <a:tcPr marL="91440" marR="91440" marT="45720" marB="45720">
                    <a:lnR w="9525">
                      <a:solidFill>
                        <a:srgbClr val="D8E2DD"/>
                      </a:solidFill>
                      <a:prstDash val="solid"/>
                    </a:lnR>
                    <a:lnB w="9525">
                      <a:solidFill>
                        <a:srgbClr val="D8E2DD"/>
                      </a:solidFill>
                      <a:prstDash val="solid"/>
                    </a:lnB>
                    <a:solidFill>
                      <a:srgbClr val="FFFFFF"/>
                    </a:solidFill>
                  </a:tcPr>
                </a:tc>
                <a:tc>
                  <a:txBody>
                    <a:bodyPr/>
                    <a:lstStyle/>
                    <a:p>
                      <a:r>
                        <a:rPr sz="1725" b="0">
                          <a:solidFill>
                            <a:srgbClr val="163B35"/>
                          </a:solidFill>
                          <a:latin typeface="Arial"/>
                          <a:ea typeface="Arial"/>
                          <a:cs typeface="Arial"/>
                        </a:rPr>
                        <a:t>0</a:t>
                      </a:r>
                    </a:p>
                  </a:txBody>
                  <a:tcPr marL="91440" marR="91440" marT="45720" marB="45720">
                    <a:lnR w="9525">
                      <a:solidFill>
                        <a:srgbClr val="D8E2DD"/>
                      </a:solidFill>
                      <a:prstDash val="solid"/>
                    </a:lnR>
                    <a:lnB w="9525">
                      <a:solidFill>
                        <a:srgbClr val="D8E2DD"/>
                      </a:solidFill>
                      <a:prstDash val="solid"/>
                    </a:lnB>
                    <a:solidFill>
                      <a:srgbClr val="FFFFFF"/>
                    </a:solidFill>
                  </a:tcPr>
                </a:tc>
                <a:tc>
                  <a:txBody>
                    <a:bodyPr/>
                    <a:lstStyle/>
                    <a:p>
                      <a:r>
                        <a:rPr sz="1725" b="0">
                          <a:solidFill>
                            <a:srgbClr val="163B35"/>
                          </a:solidFill>
                          <a:latin typeface="Arial"/>
                          <a:ea typeface="Arial"/>
                          <a:cs typeface="Arial"/>
                        </a:rPr>
                        <a:t>1</a:t>
                      </a:r>
                    </a:p>
                  </a:txBody>
                  <a:tcPr marL="91440" marR="91440" marT="45720" marB="45720">
                    <a:lnR w="9525">
                      <a:solidFill>
                        <a:srgbClr val="D8E2DD"/>
                      </a:solidFill>
                      <a:prstDash val="solid"/>
                    </a:lnR>
                    <a:lnB w="9525">
                      <a:solidFill>
                        <a:srgbClr val="D8E2DD"/>
                      </a:solidFill>
                      <a:prstDash val="solid"/>
                    </a:lnB>
                    <a:solidFill>
                      <a:srgbClr val="FFFFFF"/>
                    </a:solidFill>
                  </a:tcPr>
                </a:tc>
                <a:tc>
                  <a:txBody>
                    <a:bodyPr/>
                    <a:lstStyle/>
                    <a:p>
                      <a:r>
                        <a:rPr sz="1725" b="0">
                          <a:solidFill>
                            <a:srgbClr val="163B35"/>
                          </a:solidFill>
                          <a:latin typeface="Arial"/>
                          <a:ea typeface="Arial"/>
                          <a:cs typeface="Arial"/>
                        </a:rPr>
                        <a:t>2</a:t>
                      </a:r>
                    </a:p>
                  </a:txBody>
                  <a:tcPr marL="91440" marR="91440" marT="45720" marB="45720">
                    <a:lnR w="9525">
                      <a:solidFill>
                        <a:srgbClr val="D8E2DD"/>
                      </a:solidFill>
                      <a:prstDash val="solid"/>
                    </a:lnR>
                    <a:lnB w="9525">
                      <a:solidFill>
                        <a:srgbClr val="D8E2DD"/>
                      </a:solidFill>
                      <a:prstDash val="solid"/>
                    </a:lnB>
                    <a:solidFill>
                      <a:srgbClr val="FFFFFF"/>
                    </a:solidFill>
                  </a:tcPr>
                </a:tc>
                <a:tc>
                  <a:txBody>
                    <a:bodyPr/>
                    <a:lstStyle/>
                    <a:p>
                      <a:r>
                        <a:rPr sz="1725" b="0">
                          <a:solidFill>
                            <a:srgbClr val="163B35"/>
                          </a:solidFill>
                          <a:latin typeface="Arial"/>
                          <a:ea typeface="Arial"/>
                          <a:cs typeface="Arial"/>
                        </a:rPr>
                        <a:t>0</a:t>
                      </a:r>
                    </a:p>
                  </a:txBody>
                  <a:tcPr marL="91440" marR="91440" marT="45720" marB="45720">
                    <a:lnR w="9525">
                      <a:solidFill>
                        <a:srgbClr val="D8E2DD"/>
                      </a:solidFill>
                      <a:prstDash val="solid"/>
                    </a:lnR>
                    <a:lnB w="9525">
                      <a:solidFill>
                        <a:srgbClr val="D8E2DD"/>
                      </a:solidFill>
                      <a:prstDash val="solid"/>
                    </a:lnB>
                    <a:solidFill>
                      <a:srgbClr val="FFFFFF"/>
                    </a:solidFill>
                  </a:tcPr>
                </a:tc>
              </a:tr>
              <a:tr h="517071">
                <a:tc>
                  <a:txBody>
                    <a:bodyPr/>
                    <a:lstStyle/>
                    <a:p>
                      <a:r>
                        <a:rPr sz="1725" b="0">
                          <a:solidFill>
                            <a:srgbClr val="163B35"/>
                          </a:solidFill>
                          <a:latin typeface="Arial"/>
                          <a:ea typeface="Arial"/>
                          <a:cs typeface="Arial"/>
                        </a:rPr>
                        <a:t>Glass</a:t>
                      </a:r>
                    </a:p>
                  </a:txBody>
                  <a:tcPr marL="91440" marR="91440" marT="45720" marB="45720">
                    <a:lnL w="9525">
                      <a:solidFill>
                        <a:srgbClr val="D8E2DD"/>
                      </a:solidFill>
                      <a:prstDash val="solid"/>
                    </a:lnL>
                    <a:lnR w="9525">
                      <a:solidFill>
                        <a:srgbClr val="D8E2DD"/>
                      </a:solidFill>
                      <a:prstDash val="solid"/>
                    </a:lnR>
                    <a:lnB w="9525">
                      <a:solidFill>
                        <a:srgbClr val="D8E2DD"/>
                      </a:solidFill>
                      <a:prstDash val="solid"/>
                    </a:lnB>
                    <a:solidFill>
                      <a:srgbClr val="F8FAF7"/>
                    </a:solidFill>
                  </a:tcPr>
                </a:tc>
                <a:tc>
                  <a:txBody>
                    <a:bodyPr/>
                    <a:lstStyle/>
                    <a:p>
                      <a:r>
                        <a:rPr sz="1725" b="0">
                          <a:solidFill>
                            <a:srgbClr val="163B35"/>
                          </a:solidFill>
                          <a:latin typeface="Arial"/>
                          <a:ea typeface="Arial"/>
                          <a:cs typeface="Arial"/>
                        </a:rPr>
                        <a:t>0</a:t>
                      </a:r>
                    </a:p>
                  </a:txBody>
                  <a:tcPr marL="91440" marR="91440" marT="45720" marB="45720">
                    <a:lnR w="9525">
                      <a:solidFill>
                        <a:srgbClr val="D8E2DD"/>
                      </a:solidFill>
                      <a:prstDash val="solid"/>
                    </a:lnR>
                    <a:lnB w="9525">
                      <a:solidFill>
                        <a:srgbClr val="D8E2DD"/>
                      </a:solidFill>
                      <a:prstDash val="solid"/>
                    </a:lnB>
                    <a:solidFill>
                      <a:srgbClr val="F8FAF7"/>
                    </a:solidFill>
                  </a:tcPr>
                </a:tc>
                <a:tc>
                  <a:txBody>
                    <a:bodyPr/>
                    <a:lstStyle/>
                    <a:p>
                      <a:r>
                        <a:rPr sz="1725" b="1">
                          <a:solidFill>
                            <a:srgbClr val="163B35"/>
                          </a:solidFill>
                          <a:latin typeface="Arial"/>
                          <a:ea typeface="Arial"/>
                          <a:cs typeface="Arial"/>
                        </a:rPr>
                        <a:t>68</a:t>
                      </a:r>
                    </a:p>
                  </a:txBody>
                  <a:tcPr marL="91440" marR="91440" marT="45720" marB="45720">
                    <a:lnR w="9525">
                      <a:solidFill>
                        <a:srgbClr val="D8E2DD"/>
                      </a:solidFill>
                      <a:prstDash val="solid"/>
                    </a:lnR>
                    <a:lnB w="9525">
                      <a:solidFill>
                        <a:srgbClr val="D8E2DD"/>
                      </a:solidFill>
                      <a:prstDash val="solid"/>
                    </a:lnB>
                    <a:solidFill>
                      <a:srgbClr val="C6E7D9"/>
                    </a:solidFill>
                  </a:tcPr>
                </a:tc>
                <a:tc>
                  <a:txBody>
                    <a:bodyPr/>
                    <a:lstStyle/>
                    <a:p>
                      <a:r>
                        <a:rPr sz="1725" b="0">
                          <a:solidFill>
                            <a:srgbClr val="163B35"/>
                          </a:solidFill>
                          <a:latin typeface="Arial"/>
                          <a:ea typeface="Arial"/>
                          <a:cs typeface="Arial"/>
                        </a:rPr>
                        <a:t>3</a:t>
                      </a:r>
                    </a:p>
                  </a:txBody>
                  <a:tcPr marL="91440" marR="91440" marT="45720" marB="45720">
                    <a:lnR w="9525">
                      <a:solidFill>
                        <a:srgbClr val="D8E2DD"/>
                      </a:solidFill>
                      <a:prstDash val="solid"/>
                    </a:lnR>
                    <a:lnB w="9525">
                      <a:solidFill>
                        <a:srgbClr val="D8E2DD"/>
                      </a:solidFill>
                      <a:prstDash val="solid"/>
                    </a:lnB>
                    <a:solidFill>
                      <a:srgbClr val="F8FAF7"/>
                    </a:solidFill>
                  </a:tcPr>
                </a:tc>
                <a:tc>
                  <a:txBody>
                    <a:bodyPr/>
                    <a:lstStyle/>
                    <a:p>
                      <a:r>
                        <a:rPr sz="1725" b="0">
                          <a:solidFill>
                            <a:srgbClr val="163B35"/>
                          </a:solidFill>
                          <a:latin typeface="Arial"/>
                          <a:ea typeface="Arial"/>
                          <a:cs typeface="Arial"/>
                        </a:rPr>
                        <a:t>3</a:t>
                      </a:r>
                    </a:p>
                  </a:txBody>
                  <a:tcPr marL="91440" marR="91440" marT="45720" marB="45720">
                    <a:lnR w="9525">
                      <a:solidFill>
                        <a:srgbClr val="D8E2DD"/>
                      </a:solidFill>
                      <a:prstDash val="solid"/>
                    </a:lnR>
                    <a:lnB w="9525">
                      <a:solidFill>
                        <a:srgbClr val="D8E2DD"/>
                      </a:solidFill>
                      <a:prstDash val="solid"/>
                    </a:lnB>
                    <a:solidFill>
                      <a:srgbClr val="F8FAF7"/>
                    </a:solidFill>
                  </a:tcPr>
                </a:tc>
                <a:tc>
                  <a:txBody>
                    <a:bodyPr/>
                    <a:lstStyle/>
                    <a:p>
                      <a:r>
                        <a:rPr sz="1725" b="0">
                          <a:solidFill>
                            <a:srgbClr val="163B35"/>
                          </a:solidFill>
                          <a:latin typeface="Arial"/>
                          <a:ea typeface="Arial"/>
                          <a:cs typeface="Arial"/>
                        </a:rPr>
                        <a:t>1</a:t>
                      </a:r>
                    </a:p>
                  </a:txBody>
                  <a:tcPr marL="91440" marR="91440" marT="45720" marB="45720">
                    <a:lnR w="9525">
                      <a:solidFill>
                        <a:srgbClr val="D8E2DD"/>
                      </a:solidFill>
                      <a:prstDash val="solid"/>
                    </a:lnR>
                    <a:lnB w="9525">
                      <a:solidFill>
                        <a:srgbClr val="D8E2DD"/>
                      </a:solidFill>
                      <a:prstDash val="solid"/>
                    </a:lnB>
                    <a:solidFill>
                      <a:srgbClr val="F8FAF7"/>
                    </a:solidFill>
                  </a:tcPr>
                </a:tc>
                <a:tc>
                  <a:txBody>
                    <a:bodyPr/>
                    <a:lstStyle/>
                    <a:p>
                      <a:r>
                        <a:rPr sz="1725" b="0">
                          <a:solidFill>
                            <a:srgbClr val="163B35"/>
                          </a:solidFill>
                          <a:latin typeface="Arial"/>
                          <a:ea typeface="Arial"/>
                          <a:cs typeface="Arial"/>
                        </a:rPr>
                        <a:t>0</a:t>
                      </a:r>
                    </a:p>
                  </a:txBody>
                  <a:tcPr marL="91440" marR="91440" marT="45720" marB="45720">
                    <a:lnR w="9525">
                      <a:solidFill>
                        <a:srgbClr val="D8E2DD"/>
                      </a:solidFill>
                      <a:prstDash val="solid"/>
                    </a:lnR>
                    <a:lnB w="9525">
                      <a:solidFill>
                        <a:srgbClr val="D8E2DD"/>
                      </a:solidFill>
                      <a:prstDash val="solid"/>
                    </a:lnB>
                    <a:solidFill>
                      <a:srgbClr val="F8FAF7"/>
                    </a:solidFill>
                  </a:tcPr>
                </a:tc>
              </a:tr>
              <a:tr h="517071">
                <a:tc>
                  <a:txBody>
                    <a:bodyPr/>
                    <a:lstStyle/>
                    <a:p>
                      <a:r>
                        <a:rPr sz="1725" b="0">
                          <a:solidFill>
                            <a:srgbClr val="163B35"/>
                          </a:solidFill>
                          <a:latin typeface="Arial"/>
                          <a:ea typeface="Arial"/>
                          <a:cs typeface="Arial"/>
                        </a:rPr>
                        <a:t>Metal</a:t>
                      </a:r>
                    </a:p>
                  </a:txBody>
                  <a:tcPr marL="91440" marR="91440" marT="45720" marB="45720">
                    <a:lnL w="9525">
                      <a:solidFill>
                        <a:srgbClr val="D8E2DD"/>
                      </a:solidFill>
                      <a:prstDash val="solid"/>
                    </a:lnL>
                    <a:lnR w="9525">
                      <a:solidFill>
                        <a:srgbClr val="D8E2DD"/>
                      </a:solidFill>
                      <a:prstDash val="solid"/>
                    </a:lnR>
                    <a:lnB w="9525">
                      <a:solidFill>
                        <a:srgbClr val="D8E2DD"/>
                      </a:solidFill>
                      <a:prstDash val="solid"/>
                    </a:lnB>
                    <a:solidFill>
                      <a:srgbClr val="FFFFFF"/>
                    </a:solidFill>
                  </a:tcPr>
                </a:tc>
                <a:tc>
                  <a:txBody>
                    <a:bodyPr/>
                    <a:lstStyle/>
                    <a:p>
                      <a:r>
                        <a:rPr sz="1725" b="0">
                          <a:solidFill>
                            <a:srgbClr val="163B35"/>
                          </a:solidFill>
                          <a:latin typeface="Arial"/>
                          <a:ea typeface="Arial"/>
                          <a:cs typeface="Arial"/>
                        </a:rPr>
                        <a:t>1</a:t>
                      </a:r>
                    </a:p>
                  </a:txBody>
                  <a:tcPr marL="91440" marR="91440" marT="45720" marB="45720">
                    <a:lnR w="9525">
                      <a:solidFill>
                        <a:srgbClr val="D8E2DD"/>
                      </a:solidFill>
                      <a:prstDash val="solid"/>
                    </a:lnR>
                    <a:lnB w="9525">
                      <a:solidFill>
                        <a:srgbClr val="D8E2DD"/>
                      </a:solidFill>
                      <a:prstDash val="solid"/>
                    </a:lnB>
                    <a:solidFill>
                      <a:srgbClr val="FFFFFF"/>
                    </a:solidFill>
                  </a:tcPr>
                </a:tc>
                <a:tc>
                  <a:txBody>
                    <a:bodyPr/>
                    <a:lstStyle/>
                    <a:p>
                      <a:r>
                        <a:rPr sz="1725" b="0">
                          <a:solidFill>
                            <a:srgbClr val="163B35"/>
                          </a:solidFill>
                          <a:latin typeface="Arial"/>
                          <a:ea typeface="Arial"/>
                          <a:cs typeface="Arial"/>
                        </a:rPr>
                        <a:t>6</a:t>
                      </a:r>
                    </a:p>
                  </a:txBody>
                  <a:tcPr marL="91440" marR="91440" marT="45720" marB="45720">
                    <a:lnR w="9525">
                      <a:solidFill>
                        <a:srgbClr val="D8E2DD"/>
                      </a:solidFill>
                      <a:prstDash val="solid"/>
                    </a:lnR>
                    <a:lnB w="9525">
                      <a:solidFill>
                        <a:srgbClr val="D8E2DD"/>
                      </a:solidFill>
                      <a:prstDash val="solid"/>
                    </a:lnB>
                    <a:solidFill>
                      <a:srgbClr val="FFFFFF"/>
                    </a:solidFill>
                  </a:tcPr>
                </a:tc>
                <a:tc>
                  <a:txBody>
                    <a:bodyPr/>
                    <a:lstStyle/>
                    <a:p>
                      <a:r>
                        <a:rPr sz="1725" b="1">
                          <a:solidFill>
                            <a:srgbClr val="163B35"/>
                          </a:solidFill>
                          <a:latin typeface="Arial"/>
                          <a:ea typeface="Arial"/>
                          <a:cs typeface="Arial"/>
                        </a:rPr>
                        <a:t>54</a:t>
                      </a:r>
                    </a:p>
                  </a:txBody>
                  <a:tcPr marL="91440" marR="91440" marT="45720" marB="45720">
                    <a:lnR w="9525">
                      <a:solidFill>
                        <a:srgbClr val="D8E2DD"/>
                      </a:solidFill>
                      <a:prstDash val="solid"/>
                    </a:lnR>
                    <a:lnB w="9525">
                      <a:solidFill>
                        <a:srgbClr val="D8E2DD"/>
                      </a:solidFill>
                      <a:prstDash val="solid"/>
                    </a:lnB>
                    <a:solidFill>
                      <a:srgbClr val="C6E7D9"/>
                    </a:solidFill>
                  </a:tcPr>
                </a:tc>
                <a:tc>
                  <a:txBody>
                    <a:bodyPr/>
                    <a:lstStyle/>
                    <a:p>
                      <a:r>
                        <a:rPr sz="1725" b="0">
                          <a:solidFill>
                            <a:srgbClr val="163B35"/>
                          </a:solidFill>
                          <a:latin typeface="Arial"/>
                          <a:ea typeface="Arial"/>
                          <a:cs typeface="Arial"/>
                        </a:rPr>
                        <a:t>0</a:t>
                      </a:r>
                    </a:p>
                  </a:txBody>
                  <a:tcPr marL="91440" marR="91440" marT="45720" marB="45720">
                    <a:lnR w="9525">
                      <a:solidFill>
                        <a:srgbClr val="D8E2DD"/>
                      </a:solidFill>
                      <a:prstDash val="solid"/>
                    </a:lnR>
                    <a:lnB w="9525">
                      <a:solidFill>
                        <a:srgbClr val="D8E2DD"/>
                      </a:solidFill>
                      <a:prstDash val="solid"/>
                    </a:lnB>
                    <a:solidFill>
                      <a:srgbClr val="FFFFFF"/>
                    </a:solidFill>
                  </a:tcPr>
                </a:tc>
                <a:tc>
                  <a:txBody>
                    <a:bodyPr/>
                    <a:lstStyle/>
                    <a:p>
                      <a:r>
                        <a:rPr sz="1725" b="0">
                          <a:solidFill>
                            <a:srgbClr val="163B35"/>
                          </a:solidFill>
                          <a:latin typeface="Arial"/>
                          <a:ea typeface="Arial"/>
                          <a:cs typeface="Arial"/>
                        </a:rPr>
                        <a:t>0</a:t>
                      </a:r>
                    </a:p>
                  </a:txBody>
                  <a:tcPr marL="91440" marR="91440" marT="45720" marB="45720">
                    <a:lnR w="9525">
                      <a:solidFill>
                        <a:srgbClr val="D8E2DD"/>
                      </a:solidFill>
                      <a:prstDash val="solid"/>
                    </a:lnR>
                    <a:lnB w="9525">
                      <a:solidFill>
                        <a:srgbClr val="D8E2DD"/>
                      </a:solidFill>
                      <a:prstDash val="solid"/>
                    </a:lnB>
                    <a:solidFill>
                      <a:srgbClr val="FFFFFF"/>
                    </a:solidFill>
                  </a:tcPr>
                </a:tc>
                <a:tc>
                  <a:txBody>
                    <a:bodyPr/>
                    <a:lstStyle/>
                    <a:p>
                      <a:r>
                        <a:rPr sz="1725" b="0">
                          <a:solidFill>
                            <a:srgbClr val="163B35"/>
                          </a:solidFill>
                          <a:latin typeface="Arial"/>
                          <a:ea typeface="Arial"/>
                          <a:cs typeface="Arial"/>
                        </a:rPr>
                        <a:t>0</a:t>
                      </a:r>
                    </a:p>
                  </a:txBody>
                  <a:tcPr marL="91440" marR="91440" marT="45720" marB="45720">
                    <a:lnR w="9525">
                      <a:solidFill>
                        <a:srgbClr val="D8E2DD"/>
                      </a:solidFill>
                      <a:prstDash val="solid"/>
                    </a:lnR>
                    <a:lnB w="9525">
                      <a:solidFill>
                        <a:srgbClr val="D8E2DD"/>
                      </a:solidFill>
                      <a:prstDash val="solid"/>
                    </a:lnB>
                    <a:solidFill>
                      <a:srgbClr val="FFFFFF"/>
                    </a:solidFill>
                  </a:tcPr>
                </a:tc>
              </a:tr>
              <a:tr h="517071">
                <a:tc>
                  <a:txBody>
                    <a:bodyPr/>
                    <a:lstStyle/>
                    <a:p>
                      <a:r>
                        <a:rPr sz="1725" b="0">
                          <a:solidFill>
                            <a:srgbClr val="163B35"/>
                          </a:solidFill>
                          <a:latin typeface="Arial"/>
                          <a:ea typeface="Arial"/>
                          <a:cs typeface="Arial"/>
                        </a:rPr>
                        <a:t>Paper</a:t>
                      </a:r>
                    </a:p>
                  </a:txBody>
                  <a:tcPr marL="91440" marR="91440" marT="45720" marB="45720">
                    <a:lnL w="9525">
                      <a:solidFill>
                        <a:srgbClr val="D8E2DD"/>
                      </a:solidFill>
                      <a:prstDash val="solid"/>
                    </a:lnL>
                    <a:lnR w="9525">
                      <a:solidFill>
                        <a:srgbClr val="D8E2DD"/>
                      </a:solidFill>
                      <a:prstDash val="solid"/>
                    </a:lnR>
                    <a:lnB w="9525">
                      <a:solidFill>
                        <a:srgbClr val="D8E2DD"/>
                      </a:solidFill>
                      <a:prstDash val="solid"/>
                    </a:lnB>
                    <a:solidFill>
                      <a:srgbClr val="F8FAF7"/>
                    </a:solidFill>
                  </a:tcPr>
                </a:tc>
                <a:tc>
                  <a:txBody>
                    <a:bodyPr/>
                    <a:lstStyle/>
                    <a:p>
                      <a:r>
                        <a:rPr sz="1725" b="0">
                          <a:solidFill>
                            <a:srgbClr val="163B35"/>
                          </a:solidFill>
                          <a:latin typeface="Arial"/>
                          <a:ea typeface="Arial"/>
                          <a:cs typeface="Arial"/>
                        </a:rPr>
                        <a:t>1</a:t>
                      </a:r>
                    </a:p>
                  </a:txBody>
                  <a:tcPr marL="91440" marR="91440" marT="45720" marB="45720">
                    <a:lnR w="9525">
                      <a:solidFill>
                        <a:srgbClr val="D8E2DD"/>
                      </a:solidFill>
                      <a:prstDash val="solid"/>
                    </a:lnR>
                    <a:lnB w="9525">
                      <a:solidFill>
                        <a:srgbClr val="D8E2DD"/>
                      </a:solidFill>
                      <a:prstDash val="solid"/>
                    </a:lnB>
                    <a:solidFill>
                      <a:srgbClr val="F8FAF7"/>
                    </a:solidFill>
                  </a:tcPr>
                </a:tc>
                <a:tc>
                  <a:txBody>
                    <a:bodyPr/>
                    <a:lstStyle/>
                    <a:p>
                      <a:r>
                        <a:rPr sz="1725" b="0">
                          <a:solidFill>
                            <a:srgbClr val="163B35"/>
                          </a:solidFill>
                          <a:latin typeface="Arial"/>
                          <a:ea typeface="Arial"/>
                          <a:cs typeface="Arial"/>
                        </a:rPr>
                        <a:t>2</a:t>
                      </a:r>
                    </a:p>
                  </a:txBody>
                  <a:tcPr marL="91440" marR="91440" marT="45720" marB="45720">
                    <a:lnR w="9525">
                      <a:solidFill>
                        <a:srgbClr val="D8E2DD"/>
                      </a:solidFill>
                      <a:prstDash val="solid"/>
                    </a:lnR>
                    <a:lnB w="9525">
                      <a:solidFill>
                        <a:srgbClr val="D8E2DD"/>
                      </a:solidFill>
                      <a:prstDash val="solid"/>
                    </a:lnB>
                    <a:solidFill>
                      <a:srgbClr val="F8FAF7"/>
                    </a:solidFill>
                  </a:tcPr>
                </a:tc>
                <a:tc>
                  <a:txBody>
                    <a:bodyPr/>
                    <a:lstStyle/>
                    <a:p>
                      <a:r>
                        <a:rPr sz="1725" b="0">
                          <a:solidFill>
                            <a:srgbClr val="163B35"/>
                          </a:solidFill>
                          <a:latin typeface="Arial"/>
                          <a:ea typeface="Arial"/>
                          <a:cs typeface="Arial"/>
                        </a:rPr>
                        <a:t>1</a:t>
                      </a:r>
                    </a:p>
                  </a:txBody>
                  <a:tcPr marL="91440" marR="91440" marT="45720" marB="45720">
                    <a:lnR w="9525">
                      <a:solidFill>
                        <a:srgbClr val="D8E2DD"/>
                      </a:solidFill>
                      <a:prstDash val="solid"/>
                    </a:lnR>
                    <a:lnB w="9525">
                      <a:solidFill>
                        <a:srgbClr val="D8E2DD"/>
                      </a:solidFill>
                      <a:prstDash val="solid"/>
                    </a:lnB>
                    <a:solidFill>
                      <a:srgbClr val="F8FAF7"/>
                    </a:solidFill>
                  </a:tcPr>
                </a:tc>
                <a:tc>
                  <a:txBody>
                    <a:bodyPr/>
                    <a:lstStyle/>
                    <a:p>
                      <a:r>
                        <a:rPr sz="1725" b="1">
                          <a:solidFill>
                            <a:srgbClr val="163B35"/>
                          </a:solidFill>
                          <a:latin typeface="Arial"/>
                          <a:ea typeface="Arial"/>
                          <a:cs typeface="Arial"/>
                        </a:rPr>
                        <a:t>81</a:t>
                      </a:r>
                    </a:p>
                  </a:txBody>
                  <a:tcPr marL="91440" marR="91440" marT="45720" marB="45720">
                    <a:lnR w="9525">
                      <a:solidFill>
                        <a:srgbClr val="D8E2DD"/>
                      </a:solidFill>
                      <a:prstDash val="solid"/>
                    </a:lnR>
                    <a:lnB w="9525">
                      <a:solidFill>
                        <a:srgbClr val="D8E2DD"/>
                      </a:solidFill>
                      <a:prstDash val="solid"/>
                    </a:lnB>
                    <a:solidFill>
                      <a:srgbClr val="C6E7D9"/>
                    </a:solidFill>
                  </a:tcPr>
                </a:tc>
                <a:tc>
                  <a:txBody>
                    <a:bodyPr/>
                    <a:lstStyle/>
                    <a:p>
                      <a:r>
                        <a:rPr sz="1725" b="0">
                          <a:solidFill>
                            <a:srgbClr val="163B35"/>
                          </a:solidFill>
                          <a:latin typeface="Arial"/>
                          <a:ea typeface="Arial"/>
                          <a:cs typeface="Arial"/>
                        </a:rPr>
                        <a:t>1</a:t>
                      </a:r>
                    </a:p>
                  </a:txBody>
                  <a:tcPr marL="91440" marR="91440" marT="45720" marB="45720">
                    <a:lnR w="9525">
                      <a:solidFill>
                        <a:srgbClr val="D8E2DD"/>
                      </a:solidFill>
                      <a:prstDash val="solid"/>
                    </a:lnR>
                    <a:lnB w="9525">
                      <a:solidFill>
                        <a:srgbClr val="D8E2DD"/>
                      </a:solidFill>
                      <a:prstDash val="solid"/>
                    </a:lnB>
                    <a:solidFill>
                      <a:srgbClr val="F8FAF7"/>
                    </a:solidFill>
                  </a:tcPr>
                </a:tc>
                <a:tc>
                  <a:txBody>
                    <a:bodyPr/>
                    <a:lstStyle/>
                    <a:p>
                      <a:r>
                        <a:rPr sz="1725" b="0">
                          <a:solidFill>
                            <a:srgbClr val="163B35"/>
                          </a:solidFill>
                          <a:latin typeface="Arial"/>
                          <a:ea typeface="Arial"/>
                          <a:cs typeface="Arial"/>
                        </a:rPr>
                        <a:t>3</a:t>
                      </a:r>
                    </a:p>
                  </a:txBody>
                  <a:tcPr marL="91440" marR="91440" marT="45720" marB="45720">
                    <a:lnR w="9525">
                      <a:solidFill>
                        <a:srgbClr val="D8E2DD"/>
                      </a:solidFill>
                      <a:prstDash val="solid"/>
                    </a:lnR>
                    <a:lnB w="9525">
                      <a:solidFill>
                        <a:srgbClr val="D8E2DD"/>
                      </a:solidFill>
                      <a:prstDash val="solid"/>
                    </a:lnB>
                    <a:solidFill>
                      <a:srgbClr val="F8FAF7"/>
                    </a:solidFill>
                  </a:tcPr>
                </a:tc>
              </a:tr>
              <a:tr h="517071">
                <a:tc>
                  <a:txBody>
                    <a:bodyPr/>
                    <a:lstStyle/>
                    <a:p>
                      <a:r>
                        <a:rPr sz="1725" b="0">
                          <a:solidFill>
                            <a:srgbClr val="163B35"/>
                          </a:solidFill>
                          <a:latin typeface="Arial"/>
                          <a:ea typeface="Arial"/>
                          <a:cs typeface="Arial"/>
                        </a:rPr>
                        <a:t>Plastic</a:t>
                      </a:r>
                    </a:p>
                  </a:txBody>
                  <a:tcPr marL="91440" marR="91440" marT="45720" marB="45720">
                    <a:lnL w="9525">
                      <a:solidFill>
                        <a:srgbClr val="D8E2DD"/>
                      </a:solidFill>
                      <a:prstDash val="solid"/>
                    </a:lnL>
                    <a:lnR w="9525">
                      <a:solidFill>
                        <a:srgbClr val="D8E2DD"/>
                      </a:solidFill>
                      <a:prstDash val="solid"/>
                    </a:lnR>
                    <a:lnB w="9525">
                      <a:solidFill>
                        <a:srgbClr val="D8E2DD"/>
                      </a:solidFill>
                      <a:prstDash val="solid"/>
                    </a:lnB>
                    <a:solidFill>
                      <a:srgbClr val="FFFFFF"/>
                    </a:solidFill>
                  </a:tcPr>
                </a:tc>
                <a:tc>
                  <a:txBody>
                    <a:bodyPr/>
                    <a:lstStyle/>
                    <a:p>
                      <a:r>
                        <a:rPr sz="1725" b="0">
                          <a:solidFill>
                            <a:srgbClr val="163B35"/>
                          </a:solidFill>
                          <a:latin typeface="Arial"/>
                          <a:ea typeface="Arial"/>
                          <a:cs typeface="Arial"/>
                        </a:rPr>
                        <a:t>1</a:t>
                      </a:r>
                    </a:p>
                  </a:txBody>
                  <a:tcPr marL="91440" marR="91440" marT="45720" marB="45720">
                    <a:lnR w="9525">
                      <a:solidFill>
                        <a:srgbClr val="D8E2DD"/>
                      </a:solidFill>
                      <a:prstDash val="solid"/>
                    </a:lnR>
                    <a:lnB w="9525">
                      <a:solidFill>
                        <a:srgbClr val="D8E2DD"/>
                      </a:solidFill>
                      <a:prstDash val="solid"/>
                    </a:lnB>
                    <a:solidFill>
                      <a:srgbClr val="FFFFFF"/>
                    </a:solidFill>
                  </a:tcPr>
                </a:tc>
                <a:tc>
                  <a:txBody>
                    <a:bodyPr/>
                    <a:lstStyle/>
                    <a:p>
                      <a:r>
                        <a:rPr sz="1725" b="0">
                          <a:solidFill>
                            <a:srgbClr val="163B35"/>
                          </a:solidFill>
                          <a:latin typeface="Arial"/>
                          <a:ea typeface="Arial"/>
                          <a:cs typeface="Arial"/>
                        </a:rPr>
                        <a:t>4</a:t>
                      </a:r>
                    </a:p>
                  </a:txBody>
                  <a:tcPr marL="91440" marR="91440" marT="45720" marB="45720">
                    <a:lnR w="9525">
                      <a:solidFill>
                        <a:srgbClr val="D8E2DD"/>
                      </a:solidFill>
                      <a:prstDash val="solid"/>
                    </a:lnR>
                    <a:lnB w="9525">
                      <a:solidFill>
                        <a:srgbClr val="D8E2DD"/>
                      </a:solidFill>
                      <a:prstDash val="solid"/>
                    </a:lnB>
                    <a:solidFill>
                      <a:srgbClr val="FFFFFF"/>
                    </a:solidFill>
                  </a:tcPr>
                </a:tc>
                <a:tc>
                  <a:txBody>
                    <a:bodyPr/>
                    <a:lstStyle/>
                    <a:p>
                      <a:r>
                        <a:rPr sz="1725" b="0">
                          <a:solidFill>
                            <a:srgbClr val="163B35"/>
                          </a:solidFill>
                          <a:latin typeface="Arial"/>
                          <a:ea typeface="Arial"/>
                          <a:cs typeface="Arial"/>
                        </a:rPr>
                        <a:t>3</a:t>
                      </a:r>
                    </a:p>
                  </a:txBody>
                  <a:tcPr marL="91440" marR="91440" marT="45720" marB="45720">
                    <a:lnR w="9525">
                      <a:solidFill>
                        <a:srgbClr val="D8E2DD"/>
                      </a:solidFill>
                      <a:prstDash val="solid"/>
                    </a:lnR>
                    <a:lnB w="9525">
                      <a:solidFill>
                        <a:srgbClr val="D8E2DD"/>
                      </a:solidFill>
                      <a:prstDash val="solid"/>
                    </a:lnB>
                    <a:solidFill>
                      <a:srgbClr val="FFFFFF"/>
                    </a:solidFill>
                  </a:tcPr>
                </a:tc>
                <a:tc>
                  <a:txBody>
                    <a:bodyPr/>
                    <a:lstStyle/>
                    <a:p>
                      <a:r>
                        <a:rPr sz="1725" b="0">
                          <a:solidFill>
                            <a:srgbClr val="163B35"/>
                          </a:solidFill>
                          <a:latin typeface="Arial"/>
                          <a:ea typeface="Arial"/>
                          <a:cs typeface="Arial"/>
                        </a:rPr>
                        <a:t>2</a:t>
                      </a:r>
                    </a:p>
                  </a:txBody>
                  <a:tcPr marL="91440" marR="91440" marT="45720" marB="45720">
                    <a:lnR w="9525">
                      <a:solidFill>
                        <a:srgbClr val="D8E2DD"/>
                      </a:solidFill>
                      <a:prstDash val="solid"/>
                    </a:lnR>
                    <a:lnB w="9525">
                      <a:solidFill>
                        <a:srgbClr val="D8E2DD"/>
                      </a:solidFill>
                      <a:prstDash val="solid"/>
                    </a:lnB>
                    <a:solidFill>
                      <a:srgbClr val="FFFFFF"/>
                    </a:solidFill>
                  </a:tcPr>
                </a:tc>
                <a:tc>
                  <a:txBody>
                    <a:bodyPr/>
                    <a:lstStyle/>
                    <a:p>
                      <a:r>
                        <a:rPr sz="1725" b="1">
                          <a:solidFill>
                            <a:srgbClr val="163B35"/>
                          </a:solidFill>
                          <a:latin typeface="Arial"/>
                          <a:ea typeface="Arial"/>
                          <a:cs typeface="Arial"/>
                        </a:rPr>
                        <a:t>61</a:t>
                      </a:r>
                    </a:p>
                  </a:txBody>
                  <a:tcPr marL="91440" marR="91440" marT="45720" marB="45720">
                    <a:lnR w="9525">
                      <a:solidFill>
                        <a:srgbClr val="D8E2DD"/>
                      </a:solidFill>
                      <a:prstDash val="solid"/>
                    </a:lnR>
                    <a:lnB w="9525">
                      <a:solidFill>
                        <a:srgbClr val="D8E2DD"/>
                      </a:solidFill>
                      <a:prstDash val="solid"/>
                    </a:lnB>
                    <a:solidFill>
                      <a:srgbClr val="C6E7D9"/>
                    </a:solidFill>
                  </a:tcPr>
                </a:tc>
                <a:tc>
                  <a:txBody>
                    <a:bodyPr/>
                    <a:lstStyle/>
                    <a:p>
                      <a:r>
                        <a:rPr sz="1725" b="0">
                          <a:solidFill>
                            <a:srgbClr val="163B35"/>
                          </a:solidFill>
                          <a:latin typeface="Arial"/>
                          <a:ea typeface="Arial"/>
                          <a:cs typeface="Arial"/>
                        </a:rPr>
                        <a:t>1</a:t>
                      </a:r>
                    </a:p>
                  </a:txBody>
                  <a:tcPr marL="91440" marR="91440" marT="45720" marB="45720">
                    <a:lnR w="9525">
                      <a:solidFill>
                        <a:srgbClr val="D8E2DD"/>
                      </a:solidFill>
                      <a:prstDash val="solid"/>
                    </a:lnR>
                    <a:lnB w="9525">
                      <a:solidFill>
                        <a:srgbClr val="D8E2DD"/>
                      </a:solidFill>
                      <a:prstDash val="solid"/>
                    </a:lnB>
                    <a:solidFill>
                      <a:srgbClr val="FFFFFF"/>
                    </a:solidFill>
                  </a:tcPr>
                </a:tc>
              </a:tr>
              <a:tr h="517071">
                <a:tc>
                  <a:txBody>
                    <a:bodyPr/>
                    <a:lstStyle/>
                    <a:p>
                      <a:r>
                        <a:rPr sz="1725" b="0">
                          <a:solidFill>
                            <a:srgbClr val="163B35"/>
                          </a:solidFill>
                          <a:latin typeface="Arial"/>
                          <a:ea typeface="Arial"/>
                          <a:cs typeface="Arial"/>
                        </a:rPr>
                        <a:t>Trash</a:t>
                      </a:r>
                    </a:p>
                  </a:txBody>
                  <a:tcPr marL="91440" marR="91440" marT="45720" marB="45720">
                    <a:lnL w="9525">
                      <a:solidFill>
                        <a:srgbClr val="D8E2DD"/>
                      </a:solidFill>
                      <a:prstDash val="solid"/>
                    </a:lnL>
                    <a:lnR w="9525">
                      <a:solidFill>
                        <a:srgbClr val="D8E2DD"/>
                      </a:solidFill>
                      <a:prstDash val="solid"/>
                    </a:lnR>
                    <a:lnB w="9525">
                      <a:solidFill>
                        <a:srgbClr val="D8E2DD"/>
                      </a:solidFill>
                      <a:prstDash val="solid"/>
                    </a:lnB>
                    <a:solidFill>
                      <a:srgbClr val="F8FAF7"/>
                    </a:solidFill>
                  </a:tcPr>
                </a:tc>
                <a:tc>
                  <a:txBody>
                    <a:bodyPr/>
                    <a:lstStyle/>
                    <a:p>
                      <a:r>
                        <a:rPr sz="1725" b="0">
                          <a:solidFill>
                            <a:srgbClr val="163B35"/>
                          </a:solidFill>
                          <a:latin typeface="Arial"/>
                          <a:ea typeface="Arial"/>
                          <a:cs typeface="Arial"/>
                        </a:rPr>
                        <a:t>1</a:t>
                      </a:r>
                    </a:p>
                  </a:txBody>
                  <a:tcPr marL="91440" marR="91440" marT="45720" marB="45720">
                    <a:lnR w="9525">
                      <a:solidFill>
                        <a:srgbClr val="D8E2DD"/>
                      </a:solidFill>
                      <a:prstDash val="solid"/>
                    </a:lnR>
                    <a:lnB w="9525">
                      <a:solidFill>
                        <a:srgbClr val="D8E2DD"/>
                      </a:solidFill>
                      <a:prstDash val="solid"/>
                    </a:lnB>
                    <a:solidFill>
                      <a:srgbClr val="F8FAF7"/>
                    </a:solidFill>
                  </a:tcPr>
                </a:tc>
                <a:tc>
                  <a:txBody>
                    <a:bodyPr/>
                    <a:lstStyle/>
                    <a:p>
                      <a:r>
                        <a:rPr sz="1725" b="0">
                          <a:solidFill>
                            <a:srgbClr val="163B35"/>
                          </a:solidFill>
                          <a:latin typeface="Arial"/>
                          <a:ea typeface="Arial"/>
                          <a:cs typeface="Arial"/>
                        </a:rPr>
                        <a:t>0</a:t>
                      </a:r>
                    </a:p>
                  </a:txBody>
                  <a:tcPr marL="91440" marR="91440" marT="45720" marB="45720">
                    <a:lnR w="9525">
                      <a:solidFill>
                        <a:srgbClr val="D8E2DD"/>
                      </a:solidFill>
                      <a:prstDash val="solid"/>
                    </a:lnR>
                    <a:lnB w="9525">
                      <a:solidFill>
                        <a:srgbClr val="D8E2DD"/>
                      </a:solidFill>
                      <a:prstDash val="solid"/>
                    </a:lnB>
                    <a:solidFill>
                      <a:srgbClr val="F8FAF7"/>
                    </a:solidFill>
                  </a:tcPr>
                </a:tc>
                <a:tc>
                  <a:txBody>
                    <a:bodyPr/>
                    <a:lstStyle/>
                    <a:p>
                      <a:r>
                        <a:rPr sz="1725" b="0">
                          <a:solidFill>
                            <a:srgbClr val="163B35"/>
                          </a:solidFill>
                          <a:latin typeface="Arial"/>
                          <a:ea typeface="Arial"/>
                          <a:cs typeface="Arial"/>
                        </a:rPr>
                        <a:t>0</a:t>
                      </a:r>
                    </a:p>
                  </a:txBody>
                  <a:tcPr marL="91440" marR="91440" marT="45720" marB="45720">
                    <a:lnR w="9525">
                      <a:solidFill>
                        <a:srgbClr val="D8E2DD"/>
                      </a:solidFill>
                      <a:prstDash val="solid"/>
                    </a:lnR>
                    <a:lnB w="9525">
                      <a:solidFill>
                        <a:srgbClr val="D8E2DD"/>
                      </a:solidFill>
                      <a:prstDash val="solid"/>
                    </a:lnB>
                    <a:solidFill>
                      <a:srgbClr val="F8FAF7"/>
                    </a:solidFill>
                  </a:tcPr>
                </a:tc>
                <a:tc>
                  <a:txBody>
                    <a:bodyPr/>
                    <a:lstStyle/>
                    <a:p>
                      <a:r>
                        <a:rPr sz="1725" b="0">
                          <a:solidFill>
                            <a:srgbClr val="163B35"/>
                          </a:solidFill>
                          <a:latin typeface="Arial"/>
                          <a:ea typeface="Arial"/>
                          <a:cs typeface="Arial"/>
                        </a:rPr>
                        <a:t>0</a:t>
                      </a:r>
                    </a:p>
                  </a:txBody>
                  <a:tcPr marL="91440" marR="91440" marT="45720" marB="45720">
                    <a:lnR w="9525">
                      <a:solidFill>
                        <a:srgbClr val="D8E2DD"/>
                      </a:solidFill>
                      <a:prstDash val="solid"/>
                    </a:lnR>
                    <a:lnB w="9525">
                      <a:solidFill>
                        <a:srgbClr val="D8E2DD"/>
                      </a:solidFill>
                      <a:prstDash val="solid"/>
                    </a:lnB>
                    <a:solidFill>
                      <a:srgbClr val="F8FAF7"/>
                    </a:solidFill>
                  </a:tcPr>
                </a:tc>
                <a:tc>
                  <a:txBody>
                    <a:bodyPr/>
                    <a:lstStyle/>
                    <a:p>
                      <a:r>
                        <a:rPr sz="1725" b="0">
                          <a:solidFill>
                            <a:srgbClr val="163B35"/>
                          </a:solidFill>
                          <a:latin typeface="Arial"/>
                          <a:ea typeface="Arial"/>
                          <a:cs typeface="Arial"/>
                        </a:rPr>
                        <a:t>0</a:t>
                      </a:r>
                    </a:p>
                  </a:txBody>
                  <a:tcPr marL="91440" marR="91440" marT="45720" marB="45720">
                    <a:lnR w="9525">
                      <a:solidFill>
                        <a:srgbClr val="D8E2DD"/>
                      </a:solidFill>
                      <a:prstDash val="solid"/>
                    </a:lnR>
                    <a:lnB w="9525">
                      <a:solidFill>
                        <a:srgbClr val="D8E2DD"/>
                      </a:solidFill>
                      <a:prstDash val="solid"/>
                    </a:lnB>
                    <a:solidFill>
                      <a:srgbClr val="F8FAF7"/>
                    </a:solidFill>
                  </a:tcPr>
                </a:tc>
                <a:tc>
                  <a:txBody>
                    <a:bodyPr/>
                    <a:lstStyle/>
                    <a:p>
                      <a:r>
                        <a:rPr sz="1725" b="1">
                          <a:solidFill>
                            <a:srgbClr val="163B35"/>
                          </a:solidFill>
                          <a:latin typeface="Arial"/>
                          <a:ea typeface="Arial"/>
                          <a:cs typeface="Arial"/>
                        </a:rPr>
                        <a:t>19</a:t>
                      </a:r>
                    </a:p>
                  </a:txBody>
                  <a:tcPr marL="91440" marR="91440" marT="45720" marB="45720">
                    <a:lnR w="9525">
                      <a:solidFill>
                        <a:srgbClr val="D8E2DD"/>
                      </a:solidFill>
                      <a:prstDash val="solid"/>
                    </a:lnR>
                    <a:lnB w="9525">
                      <a:solidFill>
                        <a:srgbClr val="D8E2DD"/>
                      </a:solidFill>
                      <a:prstDash val="solid"/>
                    </a:lnB>
                    <a:solidFill>
                      <a:srgbClr val="C6E7D9"/>
                    </a:solidFill>
                  </a:tcPr>
                </a:tc>
              </a:tr>
            </a:tbl>
          </a:graphicData>
        </a:graphic>
      </p:graphicFrame>
      <p:sp>
        <p:nvSpPr>
          <p:cNvPr id="4" name="">
            <a:extLst xmlns:a="http://schemas.openxmlformats.org/drawingml/2006/main">
              <a:ext uri="{FF2B5EF4-FFF2-40B4-BE49-F238E27FC236}">
                <a16:creationId xmlns:a16="http://schemas.microsoft.com/office/drawing/2014/main" id="{CA329DC6-5D0E-4DC7-BABB-BB0CA75DA927}"/>
              </a:ext>
            </a:extLst>
          </p:cNvPr>
          <p:cNvSpPr>
            <a:spLocks xmlns:a="http://schemas.openxmlformats.org/drawingml/2006/main" noGrp="1"/>
          </p:cNvSpPr>
          <p:nvPr/>
        </p:nvSpPr>
        <p:spPr>
          <a:xfrm xmlns:a="http://schemas.openxmlformats.org/drawingml/2006/main">
            <a:off x="9334500" y="2095500"/>
            <a:ext cx="2238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167B62"/>
                </a:solidFill>
                <a:latin typeface="Arial"/>
                <a:ea typeface="Arial"/>
                <a:cs typeface="Arial"/>
              </a:defRPr>
            </a:defPPr>
            <a:lvl1pPr>
              <a:defRPr sz="3675" b="1">
                <a:solidFill>
                  <a:srgbClr val="167B62"/>
                </a:solidFill>
                <a:latin typeface="Arial"/>
                <a:ea typeface="Arial"/>
                <a:cs typeface="Arial"/>
              </a:defRPr>
            </a:lvl1pPr>
            <a:lvl2pPr>
              <a:defRPr sz="3675" b="1">
                <a:solidFill>
                  <a:srgbClr val="167B62"/>
                </a:solidFill>
                <a:latin typeface="Arial"/>
                <a:ea typeface="Arial"/>
                <a:cs typeface="Arial"/>
              </a:defRPr>
            </a:lvl2pPr>
            <a:lvl3pPr>
              <a:defRPr sz="3675" b="1">
                <a:solidFill>
                  <a:srgbClr val="167B62"/>
                </a:solidFill>
                <a:latin typeface="Arial"/>
                <a:ea typeface="Arial"/>
                <a:cs typeface="Arial"/>
              </a:defRPr>
            </a:lvl3pPr>
            <a:lvl4pPr>
              <a:defRPr sz="3675" b="1">
                <a:solidFill>
                  <a:srgbClr val="167B62"/>
                </a:solidFill>
                <a:latin typeface="Arial"/>
                <a:ea typeface="Arial"/>
                <a:cs typeface="Arial"/>
              </a:defRPr>
            </a:lvl4pPr>
            <a:lvl5pPr>
              <a:defRPr sz="3675" b="1">
                <a:solidFill>
                  <a:srgbClr val="167B62"/>
                </a:solidFill>
                <a:latin typeface="Arial"/>
                <a:ea typeface="Arial"/>
                <a:cs typeface="Arial"/>
              </a:defRPr>
            </a:lvl5pPr>
            <a:lvl6pPr>
              <a:defRPr sz="3675" b="1">
                <a:solidFill>
                  <a:srgbClr val="167B62"/>
                </a:solidFill>
                <a:latin typeface="Arial"/>
                <a:ea typeface="Arial"/>
                <a:cs typeface="Arial"/>
              </a:defRPr>
            </a:lvl6pPr>
            <a:lvl7pPr>
              <a:defRPr sz="3675" b="1">
                <a:solidFill>
                  <a:srgbClr val="167B62"/>
                </a:solidFill>
                <a:latin typeface="Arial"/>
                <a:ea typeface="Arial"/>
                <a:cs typeface="Arial"/>
              </a:defRPr>
            </a:lvl7pPr>
            <a:lvl8pPr>
              <a:defRPr sz="3675" b="1">
                <a:solidFill>
                  <a:srgbClr val="167B62"/>
                </a:solidFill>
                <a:latin typeface="Arial"/>
                <a:ea typeface="Arial"/>
                <a:cs typeface="Arial"/>
              </a:defRPr>
            </a:lvl8pPr>
            <a:lvl9pPr>
              <a:defRPr sz="3675" b="1">
                <a:solidFill>
                  <a:srgbClr val="167B62"/>
                </a:solidFill>
                <a:latin typeface="Arial"/>
                <a:ea typeface="Arial"/>
                <a:cs typeface="Arial"/>
              </a:defRPr>
            </a:lvl9pPr>
          </a:lstStyle>
          <a:p xmlns:a="http://schemas.openxmlformats.org/drawingml/2006/main">
            <a:pPr>
              <a:defRPr sz="3675" b="1">
                <a:solidFill>
                  <a:srgbClr val="167B62"/>
                </a:solidFill>
                <a:latin typeface="Arial"/>
                <a:ea typeface="Arial"/>
                <a:cs typeface="Arial"/>
              </a:defRPr>
            </a:pPr>
            <a:r>
              <a:rPr sz="3675" b="1">
                <a:solidFill>
                  <a:srgbClr val="167B62"/>
                </a:solidFill>
                <a:latin typeface="Arial"/>
                <a:ea typeface="Arial"/>
                <a:cs typeface="Arial"/>
              </a:rPr>
              <a:t>84.72%</a:t>
            </a:r>
          </a:p>
        </p:txBody>
      </p:sp>
      <p:sp>
        <p:nvSpPr>
          <p:cNvPr id="5" name="">
            <a:extLst xmlns:a="http://schemas.openxmlformats.org/drawingml/2006/main">
              <a:ext uri="{FF2B5EF4-FFF2-40B4-BE49-F238E27FC236}">
                <a16:creationId xmlns:a16="http://schemas.microsoft.com/office/drawing/2014/main" id="{BC4C8846-80BD-48BD-BCBA-C95DF6E99F37}"/>
              </a:ext>
            </a:extLst>
          </p:cNvPr>
          <p:cNvSpPr>
            <a:spLocks xmlns:a="http://schemas.openxmlformats.org/drawingml/2006/main" noGrp="1"/>
          </p:cNvSpPr>
          <p:nvPr/>
        </p:nvSpPr>
        <p:spPr>
          <a:xfrm xmlns:a="http://schemas.openxmlformats.org/drawingml/2006/main">
            <a:off x="9334500" y="2857500"/>
            <a:ext cx="2143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B35"/>
                </a:solidFill>
                <a:latin typeface="Arial"/>
                <a:ea typeface="Arial"/>
                <a:cs typeface="Arial"/>
              </a:defRPr>
            </a:defPPr>
            <a:lvl1pPr>
              <a:defRPr sz="2025" b="0">
                <a:solidFill>
                  <a:srgbClr val="163B35"/>
                </a:solidFill>
                <a:latin typeface="Arial"/>
                <a:ea typeface="Arial"/>
                <a:cs typeface="Arial"/>
              </a:defRPr>
            </a:lvl1pPr>
            <a:lvl2pPr>
              <a:defRPr sz="2025" b="0">
                <a:solidFill>
                  <a:srgbClr val="163B35"/>
                </a:solidFill>
                <a:latin typeface="Arial"/>
                <a:ea typeface="Arial"/>
                <a:cs typeface="Arial"/>
              </a:defRPr>
            </a:lvl2pPr>
            <a:lvl3pPr>
              <a:defRPr sz="2025" b="0">
                <a:solidFill>
                  <a:srgbClr val="163B35"/>
                </a:solidFill>
                <a:latin typeface="Arial"/>
                <a:ea typeface="Arial"/>
                <a:cs typeface="Arial"/>
              </a:defRPr>
            </a:lvl3pPr>
            <a:lvl4pPr>
              <a:defRPr sz="2025" b="0">
                <a:solidFill>
                  <a:srgbClr val="163B35"/>
                </a:solidFill>
                <a:latin typeface="Arial"/>
                <a:ea typeface="Arial"/>
                <a:cs typeface="Arial"/>
              </a:defRPr>
            </a:lvl4pPr>
            <a:lvl5pPr>
              <a:defRPr sz="2025" b="0">
                <a:solidFill>
                  <a:srgbClr val="163B35"/>
                </a:solidFill>
                <a:latin typeface="Arial"/>
                <a:ea typeface="Arial"/>
                <a:cs typeface="Arial"/>
              </a:defRPr>
            </a:lvl5pPr>
            <a:lvl6pPr>
              <a:defRPr sz="2025" b="0">
                <a:solidFill>
                  <a:srgbClr val="163B35"/>
                </a:solidFill>
                <a:latin typeface="Arial"/>
                <a:ea typeface="Arial"/>
                <a:cs typeface="Arial"/>
              </a:defRPr>
            </a:lvl6pPr>
            <a:lvl7pPr>
              <a:defRPr sz="2025" b="0">
                <a:solidFill>
                  <a:srgbClr val="163B35"/>
                </a:solidFill>
                <a:latin typeface="Arial"/>
                <a:ea typeface="Arial"/>
                <a:cs typeface="Arial"/>
              </a:defRPr>
            </a:lvl7pPr>
            <a:lvl8pPr>
              <a:defRPr sz="2025" b="0">
                <a:solidFill>
                  <a:srgbClr val="163B35"/>
                </a:solidFill>
                <a:latin typeface="Arial"/>
                <a:ea typeface="Arial"/>
                <a:cs typeface="Arial"/>
              </a:defRPr>
            </a:lvl8pPr>
            <a:lvl9pPr>
              <a:defRPr sz="2025" b="0">
                <a:solidFill>
                  <a:srgbClr val="163B35"/>
                </a:solidFill>
                <a:latin typeface="Arial"/>
                <a:ea typeface="Arial"/>
                <a:cs typeface="Arial"/>
              </a:defRPr>
            </a:lvl9pPr>
          </a:lstStyle>
          <a:p xmlns:a="http://schemas.openxmlformats.org/drawingml/2006/main">
            <a:pPr>
              <a:defRPr sz="2025" b="0">
                <a:solidFill>
                  <a:srgbClr val="163B35"/>
                </a:solidFill>
                <a:latin typeface="Arial"/>
                <a:ea typeface="Arial"/>
                <a:cs typeface="Arial"/>
              </a:defRPr>
            </a:pPr>
            <a:r>
              <a:rPr sz="2025" b="0">
                <a:solidFill>
                  <a:srgbClr val="163B35"/>
                </a:solidFill>
                <a:latin typeface="Arial"/>
                <a:ea typeface="Arial"/>
                <a:cs typeface="Arial"/>
              </a:rPr>
              <a:t>Plastic recall</a:t>
            </a:r>
          </a:p>
          <a:p xmlns:a="http://schemas.openxmlformats.org/drawingml/2006/main">
            <a:pPr>
              <a:defRPr sz="2025" b="0">
                <a:solidFill>
                  <a:srgbClr val="163B35"/>
                </a:solidFill>
                <a:latin typeface="Arial"/>
                <a:ea typeface="Arial"/>
                <a:cs typeface="Arial"/>
              </a:defRPr>
            </a:pPr>
            <a:r>
              <a:rPr sz="2025" b="0">
                <a:solidFill>
                  <a:srgbClr val="163B35"/>
                </a:solidFill>
                <a:latin typeface="Arial"/>
                <a:ea typeface="Arial"/>
                <a:cs typeface="Arial"/>
              </a:rPr>
              <a:t>61 of 72 correct</a:t>
            </a:r>
          </a:p>
        </p:txBody>
      </p:sp>
      <p:sp>
        <p:nvSpPr>
          <p:cNvPr id="6" name="">
            <a:extLst xmlns:a="http://schemas.openxmlformats.org/drawingml/2006/main">
              <a:ext uri="{FF2B5EF4-FFF2-40B4-BE49-F238E27FC236}">
                <a16:creationId xmlns:a16="http://schemas.microsoft.com/office/drawing/2014/main" id="{385543FE-14B5-4CB8-80A6-BB7B75EA3F9F}"/>
              </a:ext>
            </a:extLst>
          </p:cNvPr>
          <p:cNvSpPr>
            <a:spLocks xmlns:a="http://schemas.openxmlformats.org/drawingml/2006/main" noGrp="1"/>
          </p:cNvSpPr>
          <p:nvPr/>
        </p:nvSpPr>
        <p:spPr>
          <a:xfrm xmlns:a="http://schemas.openxmlformats.org/drawingml/2006/main">
            <a:off x="9334500" y="4286250"/>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167B62"/>
                </a:solidFill>
                <a:latin typeface="Arial"/>
                <a:ea typeface="Arial"/>
                <a:cs typeface="Arial"/>
              </a:defRPr>
            </a:defPPr>
            <a:lvl1pPr>
              <a:defRPr sz="3675" b="1">
                <a:solidFill>
                  <a:srgbClr val="167B62"/>
                </a:solidFill>
                <a:latin typeface="Arial"/>
                <a:ea typeface="Arial"/>
                <a:cs typeface="Arial"/>
              </a:defRPr>
            </a:lvl1pPr>
            <a:lvl2pPr>
              <a:defRPr sz="3675" b="1">
                <a:solidFill>
                  <a:srgbClr val="167B62"/>
                </a:solidFill>
                <a:latin typeface="Arial"/>
                <a:ea typeface="Arial"/>
                <a:cs typeface="Arial"/>
              </a:defRPr>
            </a:lvl2pPr>
            <a:lvl3pPr>
              <a:defRPr sz="3675" b="1">
                <a:solidFill>
                  <a:srgbClr val="167B62"/>
                </a:solidFill>
                <a:latin typeface="Arial"/>
                <a:ea typeface="Arial"/>
                <a:cs typeface="Arial"/>
              </a:defRPr>
            </a:lvl3pPr>
            <a:lvl4pPr>
              <a:defRPr sz="3675" b="1">
                <a:solidFill>
                  <a:srgbClr val="167B62"/>
                </a:solidFill>
                <a:latin typeface="Arial"/>
                <a:ea typeface="Arial"/>
                <a:cs typeface="Arial"/>
              </a:defRPr>
            </a:lvl4pPr>
            <a:lvl5pPr>
              <a:defRPr sz="3675" b="1">
                <a:solidFill>
                  <a:srgbClr val="167B62"/>
                </a:solidFill>
                <a:latin typeface="Arial"/>
                <a:ea typeface="Arial"/>
                <a:cs typeface="Arial"/>
              </a:defRPr>
            </a:lvl5pPr>
            <a:lvl6pPr>
              <a:defRPr sz="3675" b="1">
                <a:solidFill>
                  <a:srgbClr val="167B62"/>
                </a:solidFill>
                <a:latin typeface="Arial"/>
                <a:ea typeface="Arial"/>
                <a:cs typeface="Arial"/>
              </a:defRPr>
            </a:lvl6pPr>
            <a:lvl7pPr>
              <a:defRPr sz="3675" b="1">
                <a:solidFill>
                  <a:srgbClr val="167B62"/>
                </a:solidFill>
                <a:latin typeface="Arial"/>
                <a:ea typeface="Arial"/>
                <a:cs typeface="Arial"/>
              </a:defRPr>
            </a:lvl7pPr>
            <a:lvl8pPr>
              <a:defRPr sz="3675" b="1">
                <a:solidFill>
                  <a:srgbClr val="167B62"/>
                </a:solidFill>
                <a:latin typeface="Arial"/>
                <a:ea typeface="Arial"/>
                <a:cs typeface="Arial"/>
              </a:defRPr>
            </a:lvl8pPr>
            <a:lvl9pPr>
              <a:defRPr sz="3675" b="1">
                <a:solidFill>
                  <a:srgbClr val="167B62"/>
                </a:solidFill>
                <a:latin typeface="Arial"/>
                <a:ea typeface="Arial"/>
                <a:cs typeface="Arial"/>
              </a:defRPr>
            </a:lvl9pPr>
          </a:lstStyle>
          <a:p xmlns:a="http://schemas.openxmlformats.org/drawingml/2006/main">
            <a:pPr>
              <a:defRPr sz="3675" b="1">
                <a:solidFill>
                  <a:srgbClr val="167B62"/>
                </a:solidFill>
                <a:latin typeface="Arial"/>
                <a:ea typeface="Arial"/>
                <a:cs typeface="Arial"/>
              </a:defRPr>
            </a:pPr>
            <a:r>
              <a:rPr sz="3675" b="1">
                <a:solidFill>
                  <a:srgbClr val="167B62"/>
                </a:solidFill>
                <a:latin typeface="Arial"/>
                <a:ea typeface="Arial"/>
                <a:cs typeface="Arial"/>
              </a:rPr>
              <a:t>20</a:t>
            </a:r>
          </a:p>
        </p:txBody>
      </p:sp>
      <p:sp>
        <p:nvSpPr>
          <p:cNvPr id="7" name="">
            <a:extLst xmlns:a="http://schemas.openxmlformats.org/drawingml/2006/main">
              <a:ext uri="{FF2B5EF4-FFF2-40B4-BE49-F238E27FC236}">
                <a16:creationId xmlns:a16="http://schemas.microsoft.com/office/drawing/2014/main" id="{42534A9F-DFD4-452E-855B-FD3F876B4E42}"/>
              </a:ext>
            </a:extLst>
          </p:cNvPr>
          <p:cNvSpPr>
            <a:spLocks xmlns:a="http://schemas.openxmlformats.org/drawingml/2006/main" noGrp="1"/>
          </p:cNvSpPr>
          <p:nvPr/>
        </p:nvSpPr>
        <p:spPr>
          <a:xfrm xmlns:a="http://schemas.openxmlformats.org/drawingml/2006/main">
            <a:off x="9334500" y="4933950"/>
            <a:ext cx="2143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63B35"/>
                </a:solidFill>
                <a:latin typeface="Arial"/>
                <a:ea typeface="Arial"/>
                <a:cs typeface="Arial"/>
              </a:defRPr>
            </a:defPPr>
            <a:lvl1pPr>
              <a:defRPr sz="1950" b="0">
                <a:solidFill>
                  <a:srgbClr val="163B35"/>
                </a:solidFill>
                <a:latin typeface="Arial"/>
                <a:ea typeface="Arial"/>
                <a:cs typeface="Arial"/>
              </a:defRPr>
            </a:lvl1pPr>
            <a:lvl2pPr>
              <a:defRPr sz="1950" b="0">
                <a:solidFill>
                  <a:srgbClr val="163B35"/>
                </a:solidFill>
                <a:latin typeface="Arial"/>
                <a:ea typeface="Arial"/>
                <a:cs typeface="Arial"/>
              </a:defRPr>
            </a:lvl2pPr>
            <a:lvl3pPr>
              <a:defRPr sz="1950" b="0">
                <a:solidFill>
                  <a:srgbClr val="163B35"/>
                </a:solidFill>
                <a:latin typeface="Arial"/>
                <a:ea typeface="Arial"/>
                <a:cs typeface="Arial"/>
              </a:defRPr>
            </a:lvl3pPr>
            <a:lvl4pPr>
              <a:defRPr sz="1950" b="0">
                <a:solidFill>
                  <a:srgbClr val="163B35"/>
                </a:solidFill>
                <a:latin typeface="Arial"/>
                <a:ea typeface="Arial"/>
                <a:cs typeface="Arial"/>
              </a:defRPr>
            </a:lvl4pPr>
            <a:lvl5pPr>
              <a:defRPr sz="1950" b="0">
                <a:solidFill>
                  <a:srgbClr val="163B35"/>
                </a:solidFill>
                <a:latin typeface="Arial"/>
                <a:ea typeface="Arial"/>
                <a:cs typeface="Arial"/>
              </a:defRPr>
            </a:lvl5pPr>
            <a:lvl6pPr>
              <a:defRPr sz="1950" b="0">
                <a:solidFill>
                  <a:srgbClr val="163B35"/>
                </a:solidFill>
                <a:latin typeface="Arial"/>
                <a:ea typeface="Arial"/>
                <a:cs typeface="Arial"/>
              </a:defRPr>
            </a:lvl6pPr>
            <a:lvl7pPr>
              <a:defRPr sz="1950" b="0">
                <a:solidFill>
                  <a:srgbClr val="163B35"/>
                </a:solidFill>
                <a:latin typeface="Arial"/>
                <a:ea typeface="Arial"/>
                <a:cs typeface="Arial"/>
              </a:defRPr>
            </a:lvl7pPr>
            <a:lvl8pPr>
              <a:defRPr sz="1950" b="0">
                <a:solidFill>
                  <a:srgbClr val="163B35"/>
                </a:solidFill>
                <a:latin typeface="Arial"/>
                <a:ea typeface="Arial"/>
                <a:cs typeface="Arial"/>
              </a:defRPr>
            </a:lvl8pPr>
            <a:lvl9pPr>
              <a:defRPr sz="1950" b="0">
                <a:solidFill>
                  <a:srgbClr val="163B35"/>
                </a:solidFill>
                <a:latin typeface="Arial"/>
                <a:ea typeface="Arial"/>
                <a:cs typeface="Arial"/>
              </a:defRPr>
            </a:lvl9pPr>
          </a:lstStyle>
          <a:p xmlns:a="http://schemas.openxmlformats.org/drawingml/2006/main">
            <a:pPr>
              <a:defRPr sz="1950" b="0">
                <a:solidFill>
                  <a:srgbClr val="163B35"/>
                </a:solidFill>
                <a:latin typeface="Arial"/>
                <a:ea typeface="Arial"/>
                <a:cs typeface="Arial"/>
              </a:defRPr>
            </a:pPr>
            <a:r>
              <a:rPr sz="1950" b="0">
                <a:solidFill>
                  <a:srgbClr val="163B35"/>
                </a:solidFill>
                <a:latin typeface="Arial"/>
                <a:ea typeface="Arial"/>
                <a:cs typeface="Arial"/>
              </a:rPr>
              <a:t>Trash test images</a:t>
            </a:r>
          </a:p>
        </p:txBody>
      </p:sp>
      <p:sp>
        <p:nvSpPr>
          <p:cNvPr id="8" name="">
            <a:extLst xmlns:a="http://schemas.openxmlformats.org/drawingml/2006/main">
              <a:ext uri="{FF2B5EF4-FFF2-40B4-BE49-F238E27FC236}">
                <a16:creationId xmlns:a16="http://schemas.microsoft.com/office/drawing/2014/main" id="{C99DE789-FCB8-4F04-BA9B-5895F4BCD2FF}"/>
              </a:ext>
            </a:extLst>
          </p:cNvPr>
          <p:cNvSpPr>
            <a:spLocks xmlns:a="http://schemas.openxmlformats.org/drawingml/2006/main" noGrp="1"/>
          </p:cNvSpPr>
          <p:nvPr/>
        </p:nvSpPr>
        <p:spPr>
          <a:xfrm xmlns:a="http://schemas.openxmlformats.org/drawingml/2006/main">
            <a:off x="609600" y="58102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36C66"/>
                </a:solidFill>
                <a:latin typeface="Arial"/>
                <a:ea typeface="Arial"/>
                <a:cs typeface="Arial"/>
              </a:defRPr>
            </a:defPPr>
            <a:lvl1pPr>
              <a:defRPr sz="1650" b="0">
                <a:solidFill>
                  <a:srgbClr val="536C66"/>
                </a:solidFill>
                <a:latin typeface="Arial"/>
                <a:ea typeface="Arial"/>
                <a:cs typeface="Arial"/>
              </a:defRPr>
            </a:lvl1pPr>
            <a:lvl2pPr>
              <a:defRPr sz="1650" b="0">
                <a:solidFill>
                  <a:srgbClr val="536C66"/>
                </a:solidFill>
                <a:latin typeface="Arial"/>
                <a:ea typeface="Arial"/>
                <a:cs typeface="Arial"/>
              </a:defRPr>
            </a:lvl2pPr>
            <a:lvl3pPr>
              <a:defRPr sz="1650" b="0">
                <a:solidFill>
                  <a:srgbClr val="536C66"/>
                </a:solidFill>
                <a:latin typeface="Arial"/>
                <a:ea typeface="Arial"/>
                <a:cs typeface="Arial"/>
              </a:defRPr>
            </a:lvl3pPr>
            <a:lvl4pPr>
              <a:defRPr sz="1650" b="0">
                <a:solidFill>
                  <a:srgbClr val="536C66"/>
                </a:solidFill>
                <a:latin typeface="Arial"/>
                <a:ea typeface="Arial"/>
                <a:cs typeface="Arial"/>
              </a:defRPr>
            </a:lvl4pPr>
            <a:lvl5pPr>
              <a:defRPr sz="1650" b="0">
                <a:solidFill>
                  <a:srgbClr val="536C66"/>
                </a:solidFill>
                <a:latin typeface="Arial"/>
                <a:ea typeface="Arial"/>
                <a:cs typeface="Arial"/>
              </a:defRPr>
            </a:lvl5pPr>
            <a:lvl6pPr>
              <a:defRPr sz="1650" b="0">
                <a:solidFill>
                  <a:srgbClr val="536C66"/>
                </a:solidFill>
                <a:latin typeface="Arial"/>
                <a:ea typeface="Arial"/>
                <a:cs typeface="Arial"/>
              </a:defRPr>
            </a:lvl6pPr>
            <a:lvl7pPr>
              <a:defRPr sz="1650" b="0">
                <a:solidFill>
                  <a:srgbClr val="536C66"/>
                </a:solidFill>
                <a:latin typeface="Arial"/>
                <a:ea typeface="Arial"/>
                <a:cs typeface="Arial"/>
              </a:defRPr>
            </a:lvl7pPr>
            <a:lvl8pPr>
              <a:defRPr sz="1650" b="0">
                <a:solidFill>
                  <a:srgbClr val="536C66"/>
                </a:solidFill>
                <a:latin typeface="Arial"/>
                <a:ea typeface="Arial"/>
                <a:cs typeface="Arial"/>
              </a:defRPr>
            </a:lvl8pPr>
            <a:lvl9pPr>
              <a:defRPr sz="1650" b="0">
                <a:solidFill>
                  <a:srgbClr val="536C66"/>
                </a:solidFill>
                <a:latin typeface="Arial"/>
                <a:ea typeface="Arial"/>
                <a:cs typeface="Arial"/>
              </a:defRPr>
            </a:lvl9pPr>
          </a:lstStyle>
          <a:p xmlns:a="http://schemas.openxmlformats.org/drawingml/2006/main">
            <a:pPr>
              <a:defRPr sz="1650" b="0">
                <a:solidFill>
                  <a:srgbClr val="536C66"/>
                </a:solidFill>
                <a:latin typeface="Arial"/>
                <a:ea typeface="Arial"/>
                <a:cs typeface="Arial"/>
              </a:defRPr>
            </a:pPr>
            <a:r>
              <a:rPr sz="1650" b="0">
                <a:solidFill>
                  <a:srgbClr val="536C66"/>
                </a:solidFill>
                <a:latin typeface="Arial"/>
                <a:ea typeface="Arial"/>
                <a:cs typeface="Arial"/>
              </a:rPr>
              <a:t>Counts from the saved 377-image test evaluation.</a:t>
            </a:r>
          </a:p>
        </p:txBody>
      </p:sp>
    </p:spTree>
    <p:extLst>
      <p:ext uri="{BB962C8B-B14F-4D97-AF65-F5344CB8AC3E}">
        <p14:creationId xmlns:p14="http://schemas.microsoft.com/office/powerpoint/2010/main" val="1802363564"/>
      </p:ext>
    </p:extLst>
  </p:cSld>
</p:sld>
</file>

<file path=ppt/slides/slide13.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0307C1-E38D-4429-B312-134BDB15A5F0}"/>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63B35"/>
                </a:solidFill>
                <a:latin typeface="Arial"/>
                <a:ea typeface="Arial"/>
                <a:cs typeface="Arial"/>
              </a:defRPr>
            </a:defPPr>
            <a:lvl1pPr>
              <a:defRPr sz="3300" b="1">
                <a:solidFill>
                  <a:srgbClr val="163B35"/>
                </a:solidFill>
                <a:latin typeface="Arial"/>
                <a:ea typeface="Arial"/>
                <a:cs typeface="Arial"/>
              </a:defRPr>
            </a:lvl1pPr>
            <a:lvl2pPr>
              <a:defRPr sz="3300" b="1">
                <a:solidFill>
                  <a:srgbClr val="163B35"/>
                </a:solidFill>
                <a:latin typeface="Arial"/>
                <a:ea typeface="Arial"/>
                <a:cs typeface="Arial"/>
              </a:defRPr>
            </a:lvl2pPr>
            <a:lvl3pPr>
              <a:defRPr sz="3300" b="1">
                <a:solidFill>
                  <a:srgbClr val="163B35"/>
                </a:solidFill>
                <a:latin typeface="Arial"/>
                <a:ea typeface="Arial"/>
                <a:cs typeface="Arial"/>
              </a:defRPr>
            </a:lvl3pPr>
            <a:lvl4pPr>
              <a:defRPr sz="3300" b="1">
                <a:solidFill>
                  <a:srgbClr val="163B35"/>
                </a:solidFill>
                <a:latin typeface="Arial"/>
                <a:ea typeface="Arial"/>
                <a:cs typeface="Arial"/>
              </a:defRPr>
            </a:lvl4pPr>
            <a:lvl5pPr>
              <a:defRPr sz="3300" b="1">
                <a:solidFill>
                  <a:srgbClr val="163B35"/>
                </a:solidFill>
                <a:latin typeface="Arial"/>
                <a:ea typeface="Arial"/>
                <a:cs typeface="Arial"/>
              </a:defRPr>
            </a:lvl5pPr>
            <a:lvl6pPr>
              <a:defRPr sz="3300" b="1">
                <a:solidFill>
                  <a:srgbClr val="163B35"/>
                </a:solidFill>
                <a:latin typeface="Arial"/>
                <a:ea typeface="Arial"/>
                <a:cs typeface="Arial"/>
              </a:defRPr>
            </a:lvl6pPr>
            <a:lvl7pPr>
              <a:defRPr sz="3300" b="1">
                <a:solidFill>
                  <a:srgbClr val="163B35"/>
                </a:solidFill>
                <a:latin typeface="Arial"/>
                <a:ea typeface="Arial"/>
                <a:cs typeface="Arial"/>
              </a:defRPr>
            </a:lvl7pPr>
            <a:lvl8pPr>
              <a:defRPr sz="3300" b="1">
                <a:solidFill>
                  <a:srgbClr val="163B35"/>
                </a:solidFill>
                <a:latin typeface="Arial"/>
                <a:ea typeface="Arial"/>
                <a:cs typeface="Arial"/>
              </a:defRPr>
            </a:lvl8pPr>
            <a:lvl9pPr>
              <a:defRPr sz="3300" b="1">
                <a:solidFill>
                  <a:srgbClr val="163B35"/>
                </a:solidFill>
                <a:latin typeface="Arial"/>
                <a:ea typeface="Arial"/>
                <a:cs typeface="Arial"/>
              </a:defRPr>
            </a:lvl9pPr>
          </a:lstStyle>
          <a:p xmlns:a="http://schemas.openxmlformats.org/drawingml/2006/main">
            <a:pPr>
              <a:defRPr sz="3300" b="1">
                <a:solidFill>
                  <a:srgbClr val="163B35"/>
                </a:solidFill>
                <a:latin typeface="Arial"/>
                <a:ea typeface="Arial"/>
                <a:cs typeface="Arial"/>
              </a:defRPr>
            </a:pPr>
            <a:r>
              <a:rPr sz="3300" b="1">
                <a:solidFill>
                  <a:srgbClr val="163B35"/>
                </a:solidFill>
                <a:latin typeface="Arial"/>
                <a:ea typeface="Arial"/>
                <a:cs typeface="Arial"/>
              </a:rPr>
              <a:t>Photo upload demo</a:t>
            </a:r>
          </a:p>
        </p:txBody>
      </p:sp>
      <p:sp>
        <p:nvSpPr>
          <p:cNvPr id="2" name="">
            <a:extLst xmlns:a="http://schemas.openxmlformats.org/drawingml/2006/main">
              <a:ext uri="{FF2B5EF4-FFF2-40B4-BE49-F238E27FC236}">
                <a16:creationId xmlns:a16="http://schemas.microsoft.com/office/drawing/2014/main" id="{7B0AC7FB-E056-477B-9BEC-B6074429991B}"/>
              </a:ext>
            </a:extLst>
          </p:cNvPr>
          <p:cNvSpPr>
            <a:spLocks xmlns:a="http://schemas.openxmlformats.org/drawingml/2006/main" noGrp="1"/>
          </p:cNvSpPr>
          <p:nvPr/>
        </p:nvSpPr>
        <p:spPr>
          <a:xfrm xmlns:a="http://schemas.openxmlformats.org/drawingml/2006/main">
            <a:off x="11068050" y="633412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36C66"/>
                </a:solidFill>
                <a:latin typeface="Arial"/>
                <a:ea typeface="Arial"/>
                <a:cs typeface="Arial"/>
              </a:defRPr>
            </a:defPPr>
            <a:lvl1pPr>
              <a:defRPr sz="1350" b="0">
                <a:solidFill>
                  <a:srgbClr val="536C66"/>
                </a:solidFill>
                <a:latin typeface="Arial"/>
                <a:ea typeface="Arial"/>
                <a:cs typeface="Arial"/>
              </a:defRPr>
            </a:lvl1pPr>
            <a:lvl2pPr>
              <a:defRPr sz="1350" b="0">
                <a:solidFill>
                  <a:srgbClr val="536C66"/>
                </a:solidFill>
                <a:latin typeface="Arial"/>
                <a:ea typeface="Arial"/>
                <a:cs typeface="Arial"/>
              </a:defRPr>
            </a:lvl2pPr>
            <a:lvl3pPr>
              <a:defRPr sz="1350" b="0">
                <a:solidFill>
                  <a:srgbClr val="536C66"/>
                </a:solidFill>
                <a:latin typeface="Arial"/>
                <a:ea typeface="Arial"/>
                <a:cs typeface="Arial"/>
              </a:defRPr>
            </a:lvl3pPr>
            <a:lvl4pPr>
              <a:defRPr sz="1350" b="0">
                <a:solidFill>
                  <a:srgbClr val="536C66"/>
                </a:solidFill>
                <a:latin typeface="Arial"/>
                <a:ea typeface="Arial"/>
                <a:cs typeface="Arial"/>
              </a:defRPr>
            </a:lvl4pPr>
            <a:lvl5pPr>
              <a:defRPr sz="1350" b="0">
                <a:solidFill>
                  <a:srgbClr val="536C66"/>
                </a:solidFill>
                <a:latin typeface="Arial"/>
                <a:ea typeface="Arial"/>
                <a:cs typeface="Arial"/>
              </a:defRPr>
            </a:lvl5pPr>
            <a:lvl6pPr>
              <a:defRPr sz="1350" b="0">
                <a:solidFill>
                  <a:srgbClr val="536C66"/>
                </a:solidFill>
                <a:latin typeface="Arial"/>
                <a:ea typeface="Arial"/>
                <a:cs typeface="Arial"/>
              </a:defRPr>
            </a:lvl6pPr>
            <a:lvl7pPr>
              <a:defRPr sz="1350" b="0">
                <a:solidFill>
                  <a:srgbClr val="536C66"/>
                </a:solidFill>
                <a:latin typeface="Arial"/>
                <a:ea typeface="Arial"/>
                <a:cs typeface="Arial"/>
              </a:defRPr>
            </a:lvl7pPr>
            <a:lvl8pPr>
              <a:defRPr sz="1350" b="0">
                <a:solidFill>
                  <a:srgbClr val="536C66"/>
                </a:solidFill>
                <a:latin typeface="Arial"/>
                <a:ea typeface="Arial"/>
                <a:cs typeface="Arial"/>
              </a:defRPr>
            </a:lvl8pPr>
            <a:lvl9pPr>
              <a:defRPr sz="1350" b="0">
                <a:solidFill>
                  <a:srgbClr val="536C66"/>
                </a:solidFill>
                <a:latin typeface="Arial"/>
                <a:ea typeface="Arial"/>
                <a:cs typeface="Arial"/>
              </a:defRPr>
            </a:lvl9pPr>
          </a:lstStyle>
          <a:p xmlns:a="http://schemas.openxmlformats.org/drawingml/2006/main">
            <a:pPr>
              <a:defRPr sz="1350" b="0">
                <a:solidFill>
                  <a:srgbClr val="536C66"/>
                </a:solidFill>
                <a:latin typeface="Arial"/>
                <a:ea typeface="Arial"/>
                <a:cs typeface="Arial"/>
              </a:defRPr>
            </a:pPr>
            <a:r>
              <a:rPr sz="1350" b="0">
                <a:solidFill>
                  <a:srgbClr val="536C66"/>
                </a:solidFill>
                <a:latin typeface="Arial"/>
                <a:ea typeface="Arial"/>
                <a:cs typeface="Arial"/>
              </a:rPr>
              <a:t>13</a:t>
            </a:r>
          </a:p>
        </p:txBody>
      </p:sp>
      <p:pic>
        <p:nvPicPr>
          <p:cNvPr id="3" name="">
            <a:extLst xmlns:a="http://schemas.openxmlformats.org/drawingml/2006/main">
              <a:ext uri="{FF2B5EF4-FFF2-40B4-BE49-F238E27FC236}">
                <a16:creationId xmlns:a16="http://schemas.microsoft.com/office/drawing/2014/main" id="{8821A830-924A-4EDE-AD70-A0E57C3804C1}"/>
              </a:ext>
            </a:extLst>
          </p:cNvPr>
          <p:cNvPicPr>
            <a:picLocks xmlns:a="http://schemas.openxmlformats.org/drawingml/2006/main" noChangeAspect="1"/>
          </p:cNvPicPr>
          <p:nvPr/>
        </p:nvPicPr>
        <p:blipFill>
          <a:blip xmlns:r="http://schemas.openxmlformats.org/officeDocument/2006/relationships" xmlns:a="http://schemas.openxmlformats.org/drawingml/2006/main" r:embed="R98c709ce290e4ddf"/>
          <a:srcRect xmlns:a="http://schemas.openxmlformats.org/drawingml/2006/main" l="0" t="39000" r="0" b="12000"/>
          <a:stretch xmlns:a="http://schemas.openxmlformats.org/drawingml/2006/main"/>
        </p:blipFill>
        <p:spPr>
          <a:xfrm xmlns:a="http://schemas.openxmlformats.org/drawingml/2006/main">
            <a:off x="8096250" y="1495425"/>
            <a:ext cx="3429000" cy="4572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5D4A480-D277-45CD-AC0E-4C7B82B5BFCE}"/>
              </a:ext>
            </a:extLst>
          </p:cNvPr>
          <p:cNvSpPr>
            <a:spLocks xmlns:a="http://schemas.openxmlformats.org/drawingml/2006/main" noGrp="1"/>
          </p:cNvSpPr>
          <p:nvPr/>
        </p:nvSpPr>
        <p:spPr>
          <a:xfrm xmlns:a="http://schemas.openxmlformats.org/drawingml/2006/main">
            <a:off x="609600" y="1876425"/>
            <a:ext cx="7239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63B35"/>
                </a:solidFill>
                <a:latin typeface="Arial"/>
                <a:ea typeface="Arial"/>
                <a:cs typeface="Arial"/>
              </a:defRPr>
            </a:defPPr>
            <a:lvl1pPr>
              <a:defRPr sz="2250" b="0">
                <a:solidFill>
                  <a:srgbClr val="163B35"/>
                </a:solidFill>
                <a:latin typeface="Arial"/>
                <a:ea typeface="Arial"/>
                <a:cs typeface="Arial"/>
              </a:defRPr>
            </a:lvl1pPr>
            <a:lvl2pPr>
              <a:defRPr sz="2250" b="0">
                <a:solidFill>
                  <a:srgbClr val="163B35"/>
                </a:solidFill>
                <a:latin typeface="Arial"/>
                <a:ea typeface="Arial"/>
                <a:cs typeface="Arial"/>
              </a:defRPr>
            </a:lvl2pPr>
            <a:lvl3pPr>
              <a:defRPr sz="2250" b="0">
                <a:solidFill>
                  <a:srgbClr val="163B35"/>
                </a:solidFill>
                <a:latin typeface="Arial"/>
                <a:ea typeface="Arial"/>
                <a:cs typeface="Arial"/>
              </a:defRPr>
            </a:lvl3pPr>
            <a:lvl4pPr>
              <a:defRPr sz="2250" b="0">
                <a:solidFill>
                  <a:srgbClr val="163B35"/>
                </a:solidFill>
                <a:latin typeface="Arial"/>
                <a:ea typeface="Arial"/>
                <a:cs typeface="Arial"/>
              </a:defRPr>
            </a:lvl4pPr>
            <a:lvl5pPr>
              <a:defRPr sz="2250" b="0">
                <a:solidFill>
                  <a:srgbClr val="163B35"/>
                </a:solidFill>
                <a:latin typeface="Arial"/>
                <a:ea typeface="Arial"/>
                <a:cs typeface="Arial"/>
              </a:defRPr>
            </a:lvl5pPr>
            <a:lvl6pPr>
              <a:defRPr sz="2250" b="0">
                <a:solidFill>
                  <a:srgbClr val="163B35"/>
                </a:solidFill>
                <a:latin typeface="Arial"/>
                <a:ea typeface="Arial"/>
                <a:cs typeface="Arial"/>
              </a:defRPr>
            </a:lvl6pPr>
            <a:lvl7pPr>
              <a:defRPr sz="2250" b="0">
                <a:solidFill>
                  <a:srgbClr val="163B35"/>
                </a:solidFill>
                <a:latin typeface="Arial"/>
                <a:ea typeface="Arial"/>
                <a:cs typeface="Arial"/>
              </a:defRPr>
            </a:lvl7pPr>
            <a:lvl8pPr>
              <a:defRPr sz="2250" b="0">
                <a:solidFill>
                  <a:srgbClr val="163B35"/>
                </a:solidFill>
                <a:latin typeface="Arial"/>
                <a:ea typeface="Arial"/>
                <a:cs typeface="Arial"/>
              </a:defRPr>
            </a:lvl8pPr>
            <a:lvl9pPr>
              <a:defRPr sz="2250" b="0">
                <a:solidFill>
                  <a:srgbClr val="163B35"/>
                </a:solidFill>
                <a:latin typeface="Arial"/>
                <a:ea typeface="Arial"/>
                <a:cs typeface="Arial"/>
              </a:defRPr>
            </a:lvl9pPr>
          </a:lstStyle>
          <a:p xmlns:a="http://schemas.openxmlformats.org/drawingml/2006/main">
            <a:pPr>
              <a:defRPr sz="2250" b="0">
                <a:solidFill>
                  <a:srgbClr val="163B35"/>
                </a:solidFill>
                <a:latin typeface="Arial"/>
                <a:ea typeface="Arial"/>
                <a:cs typeface="Arial"/>
              </a:defRPr>
            </a:pPr>
            <a:r>
              <a:rPr sz="2250" b="0">
                <a:solidFill>
                  <a:srgbClr val="163B35"/>
                </a:solidFill>
                <a:latin typeface="Arial"/>
                <a:ea typeface="Arial"/>
                <a:cs typeface="Arial"/>
              </a:rPr>
              <a:t>Upload one image</a:t>
            </a:r>
          </a:p>
        </p:txBody>
      </p:sp>
      <p:sp>
        <p:nvSpPr>
          <p:cNvPr id="5" name="">
            <a:extLst xmlns:a="http://schemas.openxmlformats.org/drawingml/2006/main">
              <a:ext uri="{FF2B5EF4-FFF2-40B4-BE49-F238E27FC236}">
                <a16:creationId xmlns:a16="http://schemas.microsoft.com/office/drawing/2014/main" id="{1896ECB9-447D-4FF8-BA3F-7FB57C87CEEE}"/>
              </a:ext>
            </a:extLst>
          </p:cNvPr>
          <p:cNvSpPr>
            <a:spLocks xmlns:a="http://schemas.openxmlformats.org/drawingml/2006/main" noGrp="1"/>
          </p:cNvSpPr>
          <p:nvPr/>
        </p:nvSpPr>
        <p:spPr>
          <a:xfrm xmlns:a="http://schemas.openxmlformats.org/drawingml/2006/main">
            <a:off x="609600" y="2695575"/>
            <a:ext cx="7239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63B35"/>
                </a:solidFill>
                <a:latin typeface="Arial"/>
                <a:ea typeface="Arial"/>
                <a:cs typeface="Arial"/>
              </a:defRPr>
            </a:defPPr>
            <a:lvl1pPr>
              <a:defRPr sz="2250" b="0">
                <a:solidFill>
                  <a:srgbClr val="163B35"/>
                </a:solidFill>
                <a:latin typeface="Arial"/>
                <a:ea typeface="Arial"/>
                <a:cs typeface="Arial"/>
              </a:defRPr>
            </a:lvl1pPr>
            <a:lvl2pPr>
              <a:defRPr sz="2250" b="0">
                <a:solidFill>
                  <a:srgbClr val="163B35"/>
                </a:solidFill>
                <a:latin typeface="Arial"/>
                <a:ea typeface="Arial"/>
                <a:cs typeface="Arial"/>
              </a:defRPr>
            </a:lvl2pPr>
            <a:lvl3pPr>
              <a:defRPr sz="2250" b="0">
                <a:solidFill>
                  <a:srgbClr val="163B35"/>
                </a:solidFill>
                <a:latin typeface="Arial"/>
                <a:ea typeface="Arial"/>
                <a:cs typeface="Arial"/>
              </a:defRPr>
            </a:lvl3pPr>
            <a:lvl4pPr>
              <a:defRPr sz="2250" b="0">
                <a:solidFill>
                  <a:srgbClr val="163B35"/>
                </a:solidFill>
                <a:latin typeface="Arial"/>
                <a:ea typeface="Arial"/>
                <a:cs typeface="Arial"/>
              </a:defRPr>
            </a:lvl4pPr>
            <a:lvl5pPr>
              <a:defRPr sz="2250" b="0">
                <a:solidFill>
                  <a:srgbClr val="163B35"/>
                </a:solidFill>
                <a:latin typeface="Arial"/>
                <a:ea typeface="Arial"/>
                <a:cs typeface="Arial"/>
              </a:defRPr>
            </a:lvl5pPr>
            <a:lvl6pPr>
              <a:defRPr sz="2250" b="0">
                <a:solidFill>
                  <a:srgbClr val="163B35"/>
                </a:solidFill>
                <a:latin typeface="Arial"/>
                <a:ea typeface="Arial"/>
                <a:cs typeface="Arial"/>
              </a:defRPr>
            </a:lvl6pPr>
            <a:lvl7pPr>
              <a:defRPr sz="2250" b="0">
                <a:solidFill>
                  <a:srgbClr val="163B35"/>
                </a:solidFill>
                <a:latin typeface="Arial"/>
                <a:ea typeface="Arial"/>
                <a:cs typeface="Arial"/>
              </a:defRPr>
            </a:lvl7pPr>
            <a:lvl8pPr>
              <a:defRPr sz="2250" b="0">
                <a:solidFill>
                  <a:srgbClr val="163B35"/>
                </a:solidFill>
                <a:latin typeface="Arial"/>
                <a:ea typeface="Arial"/>
                <a:cs typeface="Arial"/>
              </a:defRPr>
            </a:lvl8pPr>
            <a:lvl9pPr>
              <a:defRPr sz="2250" b="0">
                <a:solidFill>
                  <a:srgbClr val="163B35"/>
                </a:solidFill>
                <a:latin typeface="Arial"/>
                <a:ea typeface="Arial"/>
                <a:cs typeface="Arial"/>
              </a:defRPr>
            </a:lvl9pPr>
          </a:lstStyle>
          <a:p xmlns:a="http://schemas.openxmlformats.org/drawingml/2006/main">
            <a:pPr>
              <a:defRPr sz="2250" b="0">
                <a:solidFill>
                  <a:srgbClr val="163B35"/>
                </a:solidFill>
                <a:latin typeface="Arial"/>
                <a:ea typeface="Arial"/>
                <a:cs typeface="Arial"/>
              </a:defRPr>
            </a:pPr>
            <a:r>
              <a:rPr sz="2250" b="0">
                <a:solidFill>
                  <a:srgbClr val="163B35"/>
                </a:solidFill>
                <a:latin typeface="Arial"/>
                <a:ea typeface="Arial"/>
                <a:cs typeface="Arial"/>
              </a:rPr>
              <a:t>View the class and six probabilities</a:t>
            </a:r>
          </a:p>
        </p:txBody>
      </p:sp>
      <p:sp>
        <p:nvSpPr>
          <p:cNvPr id="6" name="">
            <a:extLst xmlns:a="http://schemas.openxmlformats.org/drawingml/2006/main">
              <a:ext uri="{FF2B5EF4-FFF2-40B4-BE49-F238E27FC236}">
                <a16:creationId xmlns:a16="http://schemas.microsoft.com/office/drawing/2014/main" id="{BBE437CF-DC95-45EF-88A7-E47C047D7408}"/>
              </a:ext>
            </a:extLst>
          </p:cNvPr>
          <p:cNvSpPr>
            <a:spLocks xmlns:a="http://schemas.openxmlformats.org/drawingml/2006/main" noGrp="1"/>
          </p:cNvSpPr>
          <p:nvPr/>
        </p:nvSpPr>
        <p:spPr>
          <a:xfrm xmlns:a="http://schemas.openxmlformats.org/drawingml/2006/main">
            <a:off x="609600" y="3514725"/>
            <a:ext cx="7239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63B35"/>
                </a:solidFill>
                <a:latin typeface="Arial"/>
                <a:ea typeface="Arial"/>
                <a:cs typeface="Arial"/>
              </a:defRPr>
            </a:defPPr>
            <a:lvl1pPr>
              <a:defRPr sz="2250" b="0">
                <a:solidFill>
                  <a:srgbClr val="163B35"/>
                </a:solidFill>
                <a:latin typeface="Arial"/>
                <a:ea typeface="Arial"/>
                <a:cs typeface="Arial"/>
              </a:defRPr>
            </a:lvl1pPr>
            <a:lvl2pPr>
              <a:defRPr sz="2250" b="0">
                <a:solidFill>
                  <a:srgbClr val="163B35"/>
                </a:solidFill>
                <a:latin typeface="Arial"/>
                <a:ea typeface="Arial"/>
                <a:cs typeface="Arial"/>
              </a:defRPr>
            </a:lvl2pPr>
            <a:lvl3pPr>
              <a:defRPr sz="2250" b="0">
                <a:solidFill>
                  <a:srgbClr val="163B35"/>
                </a:solidFill>
                <a:latin typeface="Arial"/>
                <a:ea typeface="Arial"/>
                <a:cs typeface="Arial"/>
              </a:defRPr>
            </a:lvl3pPr>
            <a:lvl4pPr>
              <a:defRPr sz="2250" b="0">
                <a:solidFill>
                  <a:srgbClr val="163B35"/>
                </a:solidFill>
                <a:latin typeface="Arial"/>
                <a:ea typeface="Arial"/>
                <a:cs typeface="Arial"/>
              </a:defRPr>
            </a:lvl4pPr>
            <a:lvl5pPr>
              <a:defRPr sz="2250" b="0">
                <a:solidFill>
                  <a:srgbClr val="163B35"/>
                </a:solidFill>
                <a:latin typeface="Arial"/>
                <a:ea typeface="Arial"/>
                <a:cs typeface="Arial"/>
              </a:defRPr>
            </a:lvl5pPr>
            <a:lvl6pPr>
              <a:defRPr sz="2250" b="0">
                <a:solidFill>
                  <a:srgbClr val="163B35"/>
                </a:solidFill>
                <a:latin typeface="Arial"/>
                <a:ea typeface="Arial"/>
                <a:cs typeface="Arial"/>
              </a:defRPr>
            </a:lvl6pPr>
            <a:lvl7pPr>
              <a:defRPr sz="2250" b="0">
                <a:solidFill>
                  <a:srgbClr val="163B35"/>
                </a:solidFill>
                <a:latin typeface="Arial"/>
                <a:ea typeface="Arial"/>
                <a:cs typeface="Arial"/>
              </a:defRPr>
            </a:lvl7pPr>
            <a:lvl8pPr>
              <a:defRPr sz="2250" b="0">
                <a:solidFill>
                  <a:srgbClr val="163B35"/>
                </a:solidFill>
                <a:latin typeface="Arial"/>
                <a:ea typeface="Arial"/>
                <a:cs typeface="Arial"/>
              </a:defRPr>
            </a:lvl8pPr>
            <a:lvl9pPr>
              <a:defRPr sz="2250" b="0">
                <a:solidFill>
                  <a:srgbClr val="163B35"/>
                </a:solidFill>
                <a:latin typeface="Arial"/>
                <a:ea typeface="Arial"/>
                <a:cs typeface="Arial"/>
              </a:defRPr>
            </a:lvl9pPr>
          </a:lstStyle>
          <a:p xmlns:a="http://schemas.openxmlformats.org/drawingml/2006/main">
            <a:pPr>
              <a:defRPr sz="2250" b="0">
                <a:solidFill>
                  <a:srgbClr val="163B35"/>
                </a:solidFill>
                <a:latin typeface="Arial"/>
                <a:ea typeface="Arial"/>
                <a:cs typeface="Arial"/>
              </a:defRPr>
            </a:pPr>
            <a:r>
              <a:rPr sz="2250" b="0">
                <a:solidFill>
                  <a:srgbClr val="163B35"/>
                </a:solidFill>
                <a:latin typeface="Arial"/>
                <a:ea typeface="Arial"/>
                <a:cs typeface="Arial"/>
              </a:rPr>
              <a:t>Inspect the uncertainty response</a:t>
            </a:r>
          </a:p>
        </p:txBody>
      </p:sp>
      <p:sp>
        <p:nvSpPr>
          <p:cNvPr id="7" name="">
            <a:extLst xmlns:a="http://schemas.openxmlformats.org/drawingml/2006/main">
              <a:ext uri="{FF2B5EF4-FFF2-40B4-BE49-F238E27FC236}">
                <a16:creationId xmlns:a16="http://schemas.microsoft.com/office/drawing/2014/main" id="{C8D1F091-4863-446F-B9CF-33FADE57FC49}"/>
              </a:ext>
            </a:extLst>
          </p:cNvPr>
          <p:cNvSpPr>
            <a:spLocks xmlns:a="http://schemas.openxmlformats.org/drawingml/2006/main" noGrp="1"/>
          </p:cNvSpPr>
          <p:nvPr/>
        </p:nvSpPr>
        <p:spPr>
          <a:xfrm xmlns:a="http://schemas.openxmlformats.org/drawingml/2006/main">
            <a:off x="609600" y="4333875"/>
            <a:ext cx="7239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63B35"/>
                </a:solidFill>
                <a:latin typeface="Arial"/>
                <a:ea typeface="Arial"/>
                <a:cs typeface="Arial"/>
              </a:defRPr>
            </a:defPPr>
            <a:lvl1pPr>
              <a:defRPr sz="2250" b="0">
                <a:solidFill>
                  <a:srgbClr val="163B35"/>
                </a:solidFill>
                <a:latin typeface="Arial"/>
                <a:ea typeface="Arial"/>
                <a:cs typeface="Arial"/>
              </a:defRPr>
            </a:lvl1pPr>
            <a:lvl2pPr>
              <a:defRPr sz="2250" b="0">
                <a:solidFill>
                  <a:srgbClr val="163B35"/>
                </a:solidFill>
                <a:latin typeface="Arial"/>
                <a:ea typeface="Arial"/>
                <a:cs typeface="Arial"/>
              </a:defRPr>
            </a:lvl2pPr>
            <a:lvl3pPr>
              <a:defRPr sz="2250" b="0">
                <a:solidFill>
                  <a:srgbClr val="163B35"/>
                </a:solidFill>
                <a:latin typeface="Arial"/>
                <a:ea typeface="Arial"/>
                <a:cs typeface="Arial"/>
              </a:defRPr>
            </a:lvl3pPr>
            <a:lvl4pPr>
              <a:defRPr sz="2250" b="0">
                <a:solidFill>
                  <a:srgbClr val="163B35"/>
                </a:solidFill>
                <a:latin typeface="Arial"/>
                <a:ea typeface="Arial"/>
                <a:cs typeface="Arial"/>
              </a:defRPr>
            </a:lvl4pPr>
            <a:lvl5pPr>
              <a:defRPr sz="2250" b="0">
                <a:solidFill>
                  <a:srgbClr val="163B35"/>
                </a:solidFill>
                <a:latin typeface="Arial"/>
                <a:ea typeface="Arial"/>
                <a:cs typeface="Arial"/>
              </a:defRPr>
            </a:lvl5pPr>
            <a:lvl6pPr>
              <a:defRPr sz="2250" b="0">
                <a:solidFill>
                  <a:srgbClr val="163B35"/>
                </a:solidFill>
                <a:latin typeface="Arial"/>
                <a:ea typeface="Arial"/>
                <a:cs typeface="Arial"/>
              </a:defRPr>
            </a:lvl6pPr>
            <a:lvl7pPr>
              <a:defRPr sz="2250" b="0">
                <a:solidFill>
                  <a:srgbClr val="163B35"/>
                </a:solidFill>
                <a:latin typeface="Arial"/>
                <a:ea typeface="Arial"/>
                <a:cs typeface="Arial"/>
              </a:defRPr>
            </a:lvl7pPr>
            <a:lvl8pPr>
              <a:defRPr sz="2250" b="0">
                <a:solidFill>
                  <a:srgbClr val="163B35"/>
                </a:solidFill>
                <a:latin typeface="Arial"/>
                <a:ea typeface="Arial"/>
                <a:cs typeface="Arial"/>
              </a:defRPr>
            </a:lvl8pPr>
            <a:lvl9pPr>
              <a:defRPr sz="2250" b="0">
                <a:solidFill>
                  <a:srgbClr val="163B35"/>
                </a:solidFill>
                <a:latin typeface="Arial"/>
                <a:ea typeface="Arial"/>
                <a:cs typeface="Arial"/>
              </a:defRPr>
            </a:lvl9pPr>
          </a:lstStyle>
          <a:p xmlns:a="http://schemas.openxmlformats.org/drawingml/2006/main">
            <a:pPr>
              <a:defRPr sz="2250" b="0">
                <a:solidFill>
                  <a:srgbClr val="163B35"/>
                </a:solidFill>
                <a:latin typeface="Arial"/>
                <a:ea typeface="Arial"/>
                <a:cs typeface="Arial"/>
              </a:defRPr>
            </a:pPr>
            <a:r>
              <a:rPr sz="2250" b="0">
                <a:solidFill>
                  <a:srgbClr val="163B35"/>
                </a:solidFill>
                <a:latin typeface="Arial"/>
                <a:ea typeface="Arial"/>
                <a:cs typeface="Arial"/>
              </a:rPr>
              <a:t>Clear the input and prediction</a:t>
            </a:r>
          </a:p>
        </p:txBody>
      </p:sp>
      <p:sp>
        <p:nvSpPr>
          <p:cNvPr id="8" name="">
            <a:extLst xmlns:a="http://schemas.openxmlformats.org/drawingml/2006/main">
              <a:ext uri="{FF2B5EF4-FFF2-40B4-BE49-F238E27FC236}">
                <a16:creationId xmlns:a16="http://schemas.microsoft.com/office/drawing/2014/main" id="{D88B7BCA-6D2C-4831-9D2B-F6B69DBFED5E}"/>
              </a:ext>
            </a:extLst>
          </p:cNvPr>
          <p:cNvSpPr>
            <a:spLocks xmlns:a="http://schemas.openxmlformats.org/drawingml/2006/main" noGrp="1"/>
          </p:cNvSpPr>
          <p:nvPr/>
        </p:nvSpPr>
        <p:spPr>
          <a:xfrm xmlns:a="http://schemas.openxmlformats.org/drawingml/2006/main">
            <a:off x="609600" y="592455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36C66"/>
                </a:solidFill>
                <a:latin typeface="Arial"/>
                <a:ea typeface="Arial"/>
                <a:cs typeface="Arial"/>
              </a:defRPr>
            </a:defPPr>
            <a:lvl1pPr>
              <a:defRPr sz="1650" b="0">
                <a:solidFill>
                  <a:srgbClr val="536C66"/>
                </a:solidFill>
                <a:latin typeface="Arial"/>
                <a:ea typeface="Arial"/>
                <a:cs typeface="Arial"/>
              </a:defRPr>
            </a:lvl1pPr>
            <a:lvl2pPr>
              <a:defRPr sz="1650" b="0">
                <a:solidFill>
                  <a:srgbClr val="536C66"/>
                </a:solidFill>
                <a:latin typeface="Arial"/>
                <a:ea typeface="Arial"/>
                <a:cs typeface="Arial"/>
              </a:defRPr>
            </a:lvl2pPr>
            <a:lvl3pPr>
              <a:defRPr sz="1650" b="0">
                <a:solidFill>
                  <a:srgbClr val="536C66"/>
                </a:solidFill>
                <a:latin typeface="Arial"/>
                <a:ea typeface="Arial"/>
                <a:cs typeface="Arial"/>
              </a:defRPr>
            </a:lvl3pPr>
            <a:lvl4pPr>
              <a:defRPr sz="1650" b="0">
                <a:solidFill>
                  <a:srgbClr val="536C66"/>
                </a:solidFill>
                <a:latin typeface="Arial"/>
                <a:ea typeface="Arial"/>
                <a:cs typeface="Arial"/>
              </a:defRPr>
            </a:lvl4pPr>
            <a:lvl5pPr>
              <a:defRPr sz="1650" b="0">
                <a:solidFill>
                  <a:srgbClr val="536C66"/>
                </a:solidFill>
                <a:latin typeface="Arial"/>
                <a:ea typeface="Arial"/>
                <a:cs typeface="Arial"/>
              </a:defRPr>
            </a:lvl5pPr>
            <a:lvl6pPr>
              <a:defRPr sz="1650" b="0">
                <a:solidFill>
                  <a:srgbClr val="536C66"/>
                </a:solidFill>
                <a:latin typeface="Arial"/>
                <a:ea typeface="Arial"/>
                <a:cs typeface="Arial"/>
              </a:defRPr>
            </a:lvl6pPr>
            <a:lvl7pPr>
              <a:defRPr sz="1650" b="0">
                <a:solidFill>
                  <a:srgbClr val="536C66"/>
                </a:solidFill>
                <a:latin typeface="Arial"/>
                <a:ea typeface="Arial"/>
                <a:cs typeface="Arial"/>
              </a:defRPr>
            </a:lvl7pPr>
            <a:lvl8pPr>
              <a:defRPr sz="1650" b="0">
                <a:solidFill>
                  <a:srgbClr val="536C66"/>
                </a:solidFill>
                <a:latin typeface="Arial"/>
                <a:ea typeface="Arial"/>
                <a:cs typeface="Arial"/>
              </a:defRPr>
            </a:lvl8pPr>
            <a:lvl9pPr>
              <a:defRPr sz="1650" b="0">
                <a:solidFill>
                  <a:srgbClr val="536C66"/>
                </a:solidFill>
                <a:latin typeface="Arial"/>
                <a:ea typeface="Arial"/>
                <a:cs typeface="Arial"/>
              </a:defRPr>
            </a:lvl9pPr>
          </a:lstStyle>
          <a:p xmlns:a="http://schemas.openxmlformats.org/drawingml/2006/main">
            <a:pPr>
              <a:defRPr sz="1650" b="0">
                <a:solidFill>
                  <a:srgbClr val="536C66"/>
                </a:solidFill>
                <a:latin typeface="Arial"/>
                <a:ea typeface="Arial"/>
                <a:cs typeface="Arial"/>
              </a:defRPr>
            </a:pPr>
            <a:r>
              <a:rPr sz="1650" b="0">
                <a:solidFill>
                  <a:srgbClr val="536C66"/>
                </a:solidFill>
                <a:latin typeface="Arial"/>
                <a:ea typeface="Arial"/>
                <a:cs typeface="Arial"/>
              </a:rPr>
              <a:t>Screenshot: generated patch, real evaluated model. Functional illustration only.</a:t>
            </a:r>
          </a:p>
        </p:txBody>
      </p:sp>
    </p:spTree>
    <p:extLst>
      <p:ext uri="{BB962C8B-B14F-4D97-AF65-F5344CB8AC3E}">
        <p14:creationId xmlns:p14="http://schemas.microsoft.com/office/powerpoint/2010/main" val="1592896258"/>
      </p:ext>
    </p:extLst>
  </p:cSld>
</p:sld>
</file>

<file path=ppt/slides/slide14.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E814EDF-A498-45E7-B8E2-36E89622AF35}"/>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63B35"/>
                </a:solidFill>
                <a:latin typeface="Arial"/>
                <a:ea typeface="Arial"/>
                <a:cs typeface="Arial"/>
              </a:defRPr>
            </a:defPPr>
            <a:lvl1pPr>
              <a:defRPr sz="3300" b="1">
                <a:solidFill>
                  <a:srgbClr val="163B35"/>
                </a:solidFill>
                <a:latin typeface="Arial"/>
                <a:ea typeface="Arial"/>
                <a:cs typeface="Arial"/>
              </a:defRPr>
            </a:lvl1pPr>
            <a:lvl2pPr>
              <a:defRPr sz="3300" b="1">
                <a:solidFill>
                  <a:srgbClr val="163B35"/>
                </a:solidFill>
                <a:latin typeface="Arial"/>
                <a:ea typeface="Arial"/>
                <a:cs typeface="Arial"/>
              </a:defRPr>
            </a:lvl2pPr>
            <a:lvl3pPr>
              <a:defRPr sz="3300" b="1">
                <a:solidFill>
                  <a:srgbClr val="163B35"/>
                </a:solidFill>
                <a:latin typeface="Arial"/>
                <a:ea typeface="Arial"/>
                <a:cs typeface="Arial"/>
              </a:defRPr>
            </a:lvl3pPr>
            <a:lvl4pPr>
              <a:defRPr sz="3300" b="1">
                <a:solidFill>
                  <a:srgbClr val="163B35"/>
                </a:solidFill>
                <a:latin typeface="Arial"/>
                <a:ea typeface="Arial"/>
                <a:cs typeface="Arial"/>
              </a:defRPr>
            </a:lvl4pPr>
            <a:lvl5pPr>
              <a:defRPr sz="3300" b="1">
                <a:solidFill>
                  <a:srgbClr val="163B35"/>
                </a:solidFill>
                <a:latin typeface="Arial"/>
                <a:ea typeface="Arial"/>
                <a:cs typeface="Arial"/>
              </a:defRPr>
            </a:lvl5pPr>
            <a:lvl6pPr>
              <a:defRPr sz="3300" b="1">
                <a:solidFill>
                  <a:srgbClr val="163B35"/>
                </a:solidFill>
                <a:latin typeface="Arial"/>
                <a:ea typeface="Arial"/>
                <a:cs typeface="Arial"/>
              </a:defRPr>
            </a:lvl6pPr>
            <a:lvl7pPr>
              <a:defRPr sz="3300" b="1">
                <a:solidFill>
                  <a:srgbClr val="163B35"/>
                </a:solidFill>
                <a:latin typeface="Arial"/>
                <a:ea typeface="Arial"/>
                <a:cs typeface="Arial"/>
              </a:defRPr>
            </a:lvl7pPr>
            <a:lvl8pPr>
              <a:defRPr sz="3300" b="1">
                <a:solidFill>
                  <a:srgbClr val="163B35"/>
                </a:solidFill>
                <a:latin typeface="Arial"/>
                <a:ea typeface="Arial"/>
                <a:cs typeface="Arial"/>
              </a:defRPr>
            </a:lvl8pPr>
            <a:lvl9pPr>
              <a:defRPr sz="3300" b="1">
                <a:solidFill>
                  <a:srgbClr val="163B35"/>
                </a:solidFill>
                <a:latin typeface="Arial"/>
                <a:ea typeface="Arial"/>
                <a:cs typeface="Arial"/>
              </a:defRPr>
            </a:lvl9pPr>
          </a:lstStyle>
          <a:p xmlns:a="http://schemas.openxmlformats.org/drawingml/2006/main">
            <a:pPr>
              <a:defRPr sz="3300" b="1">
                <a:solidFill>
                  <a:srgbClr val="163B35"/>
                </a:solidFill>
                <a:latin typeface="Arial"/>
                <a:ea typeface="Arial"/>
                <a:cs typeface="Arial"/>
              </a:defRPr>
            </a:pPr>
            <a:r>
              <a:rPr sz="3300" b="1">
                <a:solidFill>
                  <a:srgbClr val="163B35"/>
                </a:solidFill>
                <a:latin typeface="Arial"/>
                <a:ea typeface="Arial"/>
                <a:cs typeface="Arial"/>
              </a:rPr>
              <a:t>What this result does and does not establish</a:t>
            </a:r>
          </a:p>
        </p:txBody>
      </p:sp>
      <p:sp>
        <p:nvSpPr>
          <p:cNvPr id="2" name="">
            <a:extLst xmlns:a="http://schemas.openxmlformats.org/drawingml/2006/main">
              <a:ext uri="{FF2B5EF4-FFF2-40B4-BE49-F238E27FC236}">
                <a16:creationId xmlns:a16="http://schemas.microsoft.com/office/drawing/2014/main" id="{8112AEB7-ACD6-4B0F-B06F-11BB6A55528D}"/>
              </a:ext>
            </a:extLst>
          </p:cNvPr>
          <p:cNvSpPr>
            <a:spLocks xmlns:a="http://schemas.openxmlformats.org/drawingml/2006/main" noGrp="1"/>
          </p:cNvSpPr>
          <p:nvPr/>
        </p:nvSpPr>
        <p:spPr>
          <a:xfrm xmlns:a="http://schemas.openxmlformats.org/drawingml/2006/main">
            <a:off x="11068050" y="633412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36C66"/>
                </a:solidFill>
                <a:latin typeface="Arial"/>
                <a:ea typeface="Arial"/>
                <a:cs typeface="Arial"/>
              </a:defRPr>
            </a:defPPr>
            <a:lvl1pPr>
              <a:defRPr sz="1350" b="0">
                <a:solidFill>
                  <a:srgbClr val="536C66"/>
                </a:solidFill>
                <a:latin typeface="Arial"/>
                <a:ea typeface="Arial"/>
                <a:cs typeface="Arial"/>
              </a:defRPr>
            </a:lvl1pPr>
            <a:lvl2pPr>
              <a:defRPr sz="1350" b="0">
                <a:solidFill>
                  <a:srgbClr val="536C66"/>
                </a:solidFill>
                <a:latin typeface="Arial"/>
                <a:ea typeface="Arial"/>
                <a:cs typeface="Arial"/>
              </a:defRPr>
            </a:lvl2pPr>
            <a:lvl3pPr>
              <a:defRPr sz="1350" b="0">
                <a:solidFill>
                  <a:srgbClr val="536C66"/>
                </a:solidFill>
                <a:latin typeface="Arial"/>
                <a:ea typeface="Arial"/>
                <a:cs typeface="Arial"/>
              </a:defRPr>
            </a:lvl3pPr>
            <a:lvl4pPr>
              <a:defRPr sz="1350" b="0">
                <a:solidFill>
                  <a:srgbClr val="536C66"/>
                </a:solidFill>
                <a:latin typeface="Arial"/>
                <a:ea typeface="Arial"/>
                <a:cs typeface="Arial"/>
              </a:defRPr>
            </a:lvl4pPr>
            <a:lvl5pPr>
              <a:defRPr sz="1350" b="0">
                <a:solidFill>
                  <a:srgbClr val="536C66"/>
                </a:solidFill>
                <a:latin typeface="Arial"/>
                <a:ea typeface="Arial"/>
                <a:cs typeface="Arial"/>
              </a:defRPr>
            </a:lvl5pPr>
            <a:lvl6pPr>
              <a:defRPr sz="1350" b="0">
                <a:solidFill>
                  <a:srgbClr val="536C66"/>
                </a:solidFill>
                <a:latin typeface="Arial"/>
                <a:ea typeface="Arial"/>
                <a:cs typeface="Arial"/>
              </a:defRPr>
            </a:lvl6pPr>
            <a:lvl7pPr>
              <a:defRPr sz="1350" b="0">
                <a:solidFill>
                  <a:srgbClr val="536C66"/>
                </a:solidFill>
                <a:latin typeface="Arial"/>
                <a:ea typeface="Arial"/>
                <a:cs typeface="Arial"/>
              </a:defRPr>
            </a:lvl7pPr>
            <a:lvl8pPr>
              <a:defRPr sz="1350" b="0">
                <a:solidFill>
                  <a:srgbClr val="536C66"/>
                </a:solidFill>
                <a:latin typeface="Arial"/>
                <a:ea typeface="Arial"/>
                <a:cs typeface="Arial"/>
              </a:defRPr>
            </a:lvl8pPr>
            <a:lvl9pPr>
              <a:defRPr sz="1350" b="0">
                <a:solidFill>
                  <a:srgbClr val="536C66"/>
                </a:solidFill>
                <a:latin typeface="Arial"/>
                <a:ea typeface="Arial"/>
                <a:cs typeface="Arial"/>
              </a:defRPr>
            </a:lvl9pPr>
          </a:lstStyle>
          <a:p xmlns:a="http://schemas.openxmlformats.org/drawingml/2006/main">
            <a:pPr>
              <a:defRPr sz="1350" b="0">
                <a:solidFill>
                  <a:srgbClr val="536C66"/>
                </a:solidFill>
                <a:latin typeface="Arial"/>
                <a:ea typeface="Arial"/>
                <a:cs typeface="Arial"/>
              </a:defRPr>
            </a:pPr>
            <a:r>
              <a:rPr sz="1350" b="0">
                <a:solidFill>
                  <a:srgbClr val="536C66"/>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8A87F7E8-DCD2-4970-B876-C963ABF1CAB3}"/>
              </a:ext>
            </a:extLst>
          </p:cNvPr>
          <p:cNvSpPr>
            <a:spLocks xmlns:a="http://schemas.openxmlformats.org/drawingml/2006/main" noGrp="1"/>
          </p:cNvSpPr>
          <p:nvPr/>
        </p:nvSpPr>
        <p:spPr>
          <a:xfrm xmlns:a="http://schemas.openxmlformats.org/drawingml/2006/main">
            <a:off x="609600" y="1762125"/>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63B35"/>
                </a:solidFill>
                <a:latin typeface="Arial"/>
                <a:ea typeface="Arial"/>
                <a:cs typeface="Arial"/>
              </a:defRPr>
            </a:defPPr>
            <a:lvl1pPr>
              <a:defRPr sz="2250" b="0">
                <a:solidFill>
                  <a:srgbClr val="163B35"/>
                </a:solidFill>
                <a:latin typeface="Arial"/>
                <a:ea typeface="Arial"/>
                <a:cs typeface="Arial"/>
              </a:defRPr>
            </a:lvl1pPr>
            <a:lvl2pPr>
              <a:defRPr sz="2250" b="0">
                <a:solidFill>
                  <a:srgbClr val="163B35"/>
                </a:solidFill>
                <a:latin typeface="Arial"/>
                <a:ea typeface="Arial"/>
                <a:cs typeface="Arial"/>
              </a:defRPr>
            </a:lvl2pPr>
            <a:lvl3pPr>
              <a:defRPr sz="2250" b="0">
                <a:solidFill>
                  <a:srgbClr val="163B35"/>
                </a:solidFill>
                <a:latin typeface="Arial"/>
                <a:ea typeface="Arial"/>
                <a:cs typeface="Arial"/>
              </a:defRPr>
            </a:lvl3pPr>
            <a:lvl4pPr>
              <a:defRPr sz="2250" b="0">
                <a:solidFill>
                  <a:srgbClr val="163B35"/>
                </a:solidFill>
                <a:latin typeface="Arial"/>
                <a:ea typeface="Arial"/>
                <a:cs typeface="Arial"/>
              </a:defRPr>
            </a:lvl4pPr>
            <a:lvl5pPr>
              <a:defRPr sz="2250" b="0">
                <a:solidFill>
                  <a:srgbClr val="163B35"/>
                </a:solidFill>
                <a:latin typeface="Arial"/>
                <a:ea typeface="Arial"/>
                <a:cs typeface="Arial"/>
              </a:defRPr>
            </a:lvl5pPr>
            <a:lvl6pPr>
              <a:defRPr sz="2250" b="0">
                <a:solidFill>
                  <a:srgbClr val="163B35"/>
                </a:solidFill>
                <a:latin typeface="Arial"/>
                <a:ea typeface="Arial"/>
                <a:cs typeface="Arial"/>
              </a:defRPr>
            </a:lvl6pPr>
            <a:lvl7pPr>
              <a:defRPr sz="2250" b="0">
                <a:solidFill>
                  <a:srgbClr val="163B35"/>
                </a:solidFill>
                <a:latin typeface="Arial"/>
                <a:ea typeface="Arial"/>
                <a:cs typeface="Arial"/>
              </a:defRPr>
            </a:lvl7pPr>
            <a:lvl8pPr>
              <a:defRPr sz="2250" b="0">
                <a:solidFill>
                  <a:srgbClr val="163B35"/>
                </a:solidFill>
                <a:latin typeface="Arial"/>
                <a:ea typeface="Arial"/>
                <a:cs typeface="Arial"/>
              </a:defRPr>
            </a:lvl8pPr>
            <a:lvl9pPr>
              <a:defRPr sz="2250" b="0">
                <a:solidFill>
                  <a:srgbClr val="163B35"/>
                </a:solidFill>
                <a:latin typeface="Arial"/>
                <a:ea typeface="Arial"/>
                <a:cs typeface="Arial"/>
              </a:defRPr>
            </a:lvl9pPr>
          </a:lstStyle>
          <a:p xmlns:a="http://schemas.openxmlformats.org/drawingml/2006/main">
            <a:pPr>
              <a:defRPr sz="2250" b="0">
                <a:solidFill>
                  <a:srgbClr val="163B35"/>
                </a:solidFill>
                <a:latin typeface="Arial"/>
                <a:ea typeface="Arial"/>
                <a:cs typeface="Arial"/>
              </a:defRPr>
            </a:pPr>
            <a:r>
              <a:rPr sz="2250" b="0">
                <a:solidFill>
                  <a:srgbClr val="163B35"/>
                </a:solidFill>
                <a:latin typeface="Arial"/>
                <a:ea typeface="Arial"/>
                <a:cs typeface="Arial"/>
              </a:rPr>
              <a:t>Controlled TrashNet photos differ from everyday scenes</a:t>
            </a:r>
          </a:p>
        </p:txBody>
      </p:sp>
      <p:sp>
        <p:nvSpPr>
          <p:cNvPr id="4" name="">
            <a:extLst xmlns:a="http://schemas.openxmlformats.org/drawingml/2006/main">
              <a:ext uri="{FF2B5EF4-FFF2-40B4-BE49-F238E27FC236}">
                <a16:creationId xmlns:a16="http://schemas.microsoft.com/office/drawing/2014/main" id="{0988ED42-39BA-44A0-A93F-26AC712C31DE}"/>
              </a:ext>
            </a:extLst>
          </p:cNvPr>
          <p:cNvSpPr>
            <a:spLocks xmlns:a="http://schemas.openxmlformats.org/drawingml/2006/main" noGrp="1"/>
          </p:cNvSpPr>
          <p:nvPr/>
        </p:nvSpPr>
        <p:spPr>
          <a:xfrm xmlns:a="http://schemas.openxmlformats.org/drawingml/2006/main">
            <a:off x="609600" y="2638425"/>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63B35"/>
                </a:solidFill>
                <a:latin typeface="Arial"/>
                <a:ea typeface="Arial"/>
                <a:cs typeface="Arial"/>
              </a:defRPr>
            </a:defPPr>
            <a:lvl1pPr>
              <a:defRPr sz="2250" b="0">
                <a:solidFill>
                  <a:srgbClr val="163B35"/>
                </a:solidFill>
                <a:latin typeface="Arial"/>
                <a:ea typeface="Arial"/>
                <a:cs typeface="Arial"/>
              </a:defRPr>
            </a:lvl1pPr>
            <a:lvl2pPr>
              <a:defRPr sz="2250" b="0">
                <a:solidFill>
                  <a:srgbClr val="163B35"/>
                </a:solidFill>
                <a:latin typeface="Arial"/>
                <a:ea typeface="Arial"/>
                <a:cs typeface="Arial"/>
              </a:defRPr>
            </a:lvl2pPr>
            <a:lvl3pPr>
              <a:defRPr sz="2250" b="0">
                <a:solidFill>
                  <a:srgbClr val="163B35"/>
                </a:solidFill>
                <a:latin typeface="Arial"/>
                <a:ea typeface="Arial"/>
                <a:cs typeface="Arial"/>
              </a:defRPr>
            </a:lvl3pPr>
            <a:lvl4pPr>
              <a:defRPr sz="2250" b="0">
                <a:solidFill>
                  <a:srgbClr val="163B35"/>
                </a:solidFill>
                <a:latin typeface="Arial"/>
                <a:ea typeface="Arial"/>
                <a:cs typeface="Arial"/>
              </a:defRPr>
            </a:lvl4pPr>
            <a:lvl5pPr>
              <a:defRPr sz="2250" b="0">
                <a:solidFill>
                  <a:srgbClr val="163B35"/>
                </a:solidFill>
                <a:latin typeface="Arial"/>
                <a:ea typeface="Arial"/>
                <a:cs typeface="Arial"/>
              </a:defRPr>
            </a:lvl5pPr>
            <a:lvl6pPr>
              <a:defRPr sz="2250" b="0">
                <a:solidFill>
                  <a:srgbClr val="163B35"/>
                </a:solidFill>
                <a:latin typeface="Arial"/>
                <a:ea typeface="Arial"/>
                <a:cs typeface="Arial"/>
              </a:defRPr>
            </a:lvl6pPr>
            <a:lvl7pPr>
              <a:defRPr sz="2250" b="0">
                <a:solidFill>
                  <a:srgbClr val="163B35"/>
                </a:solidFill>
                <a:latin typeface="Arial"/>
                <a:ea typeface="Arial"/>
                <a:cs typeface="Arial"/>
              </a:defRPr>
            </a:lvl7pPr>
            <a:lvl8pPr>
              <a:defRPr sz="2250" b="0">
                <a:solidFill>
                  <a:srgbClr val="163B35"/>
                </a:solidFill>
                <a:latin typeface="Arial"/>
                <a:ea typeface="Arial"/>
                <a:cs typeface="Arial"/>
              </a:defRPr>
            </a:lvl8pPr>
            <a:lvl9pPr>
              <a:defRPr sz="2250" b="0">
                <a:solidFill>
                  <a:srgbClr val="163B35"/>
                </a:solidFill>
                <a:latin typeface="Arial"/>
                <a:ea typeface="Arial"/>
                <a:cs typeface="Arial"/>
              </a:defRPr>
            </a:lvl9pPr>
          </a:lstStyle>
          <a:p xmlns:a="http://schemas.openxmlformats.org/drawingml/2006/main">
            <a:pPr>
              <a:defRPr sz="2250" b="0">
                <a:solidFill>
                  <a:srgbClr val="163B35"/>
                </a:solidFill>
                <a:latin typeface="Arial"/>
                <a:ea typeface="Arial"/>
                <a:cs typeface="Arial"/>
              </a:defRPr>
            </a:pPr>
            <a:r>
              <a:rPr sz="2250" b="0">
                <a:solidFill>
                  <a:srgbClr val="163B35"/>
                </a:solidFill>
                <a:latin typeface="Arial"/>
                <a:ea typeface="Arial"/>
                <a:cs typeface="Arial"/>
              </a:rPr>
              <a:t>Unknown categories and mixed materials remain unverified</a:t>
            </a:r>
          </a:p>
        </p:txBody>
      </p:sp>
      <p:sp>
        <p:nvSpPr>
          <p:cNvPr id="5" name="">
            <a:extLst xmlns:a="http://schemas.openxmlformats.org/drawingml/2006/main">
              <a:ext uri="{FF2B5EF4-FFF2-40B4-BE49-F238E27FC236}">
                <a16:creationId xmlns:a16="http://schemas.microsoft.com/office/drawing/2014/main" id="{44C4091C-BCE9-46EB-B9CF-9202139ECC8D}"/>
              </a:ext>
            </a:extLst>
          </p:cNvPr>
          <p:cNvSpPr>
            <a:spLocks xmlns:a="http://schemas.openxmlformats.org/drawingml/2006/main" noGrp="1"/>
          </p:cNvSpPr>
          <p:nvPr/>
        </p:nvSpPr>
        <p:spPr>
          <a:xfrm xmlns:a="http://schemas.openxmlformats.org/drawingml/2006/main">
            <a:off x="609600" y="3514725"/>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63B35"/>
                </a:solidFill>
                <a:latin typeface="Arial"/>
                <a:ea typeface="Arial"/>
                <a:cs typeface="Arial"/>
              </a:defRPr>
            </a:defPPr>
            <a:lvl1pPr>
              <a:defRPr sz="2250" b="0">
                <a:solidFill>
                  <a:srgbClr val="163B35"/>
                </a:solidFill>
                <a:latin typeface="Arial"/>
                <a:ea typeface="Arial"/>
                <a:cs typeface="Arial"/>
              </a:defRPr>
            </a:lvl1pPr>
            <a:lvl2pPr>
              <a:defRPr sz="2250" b="0">
                <a:solidFill>
                  <a:srgbClr val="163B35"/>
                </a:solidFill>
                <a:latin typeface="Arial"/>
                <a:ea typeface="Arial"/>
                <a:cs typeface="Arial"/>
              </a:defRPr>
            </a:lvl2pPr>
            <a:lvl3pPr>
              <a:defRPr sz="2250" b="0">
                <a:solidFill>
                  <a:srgbClr val="163B35"/>
                </a:solidFill>
                <a:latin typeface="Arial"/>
                <a:ea typeface="Arial"/>
                <a:cs typeface="Arial"/>
              </a:defRPr>
            </a:lvl3pPr>
            <a:lvl4pPr>
              <a:defRPr sz="2250" b="0">
                <a:solidFill>
                  <a:srgbClr val="163B35"/>
                </a:solidFill>
                <a:latin typeface="Arial"/>
                <a:ea typeface="Arial"/>
                <a:cs typeface="Arial"/>
              </a:defRPr>
            </a:lvl4pPr>
            <a:lvl5pPr>
              <a:defRPr sz="2250" b="0">
                <a:solidFill>
                  <a:srgbClr val="163B35"/>
                </a:solidFill>
                <a:latin typeface="Arial"/>
                <a:ea typeface="Arial"/>
                <a:cs typeface="Arial"/>
              </a:defRPr>
            </a:lvl5pPr>
            <a:lvl6pPr>
              <a:defRPr sz="2250" b="0">
                <a:solidFill>
                  <a:srgbClr val="163B35"/>
                </a:solidFill>
                <a:latin typeface="Arial"/>
                <a:ea typeface="Arial"/>
                <a:cs typeface="Arial"/>
              </a:defRPr>
            </a:lvl6pPr>
            <a:lvl7pPr>
              <a:defRPr sz="2250" b="0">
                <a:solidFill>
                  <a:srgbClr val="163B35"/>
                </a:solidFill>
                <a:latin typeface="Arial"/>
                <a:ea typeface="Arial"/>
                <a:cs typeface="Arial"/>
              </a:defRPr>
            </a:lvl7pPr>
            <a:lvl8pPr>
              <a:defRPr sz="2250" b="0">
                <a:solidFill>
                  <a:srgbClr val="163B35"/>
                </a:solidFill>
                <a:latin typeface="Arial"/>
                <a:ea typeface="Arial"/>
                <a:cs typeface="Arial"/>
              </a:defRPr>
            </a:lvl8pPr>
            <a:lvl9pPr>
              <a:defRPr sz="2250" b="0">
                <a:solidFill>
                  <a:srgbClr val="163B35"/>
                </a:solidFill>
                <a:latin typeface="Arial"/>
                <a:ea typeface="Arial"/>
                <a:cs typeface="Arial"/>
              </a:defRPr>
            </a:lvl9pPr>
          </a:lstStyle>
          <a:p xmlns:a="http://schemas.openxmlformats.org/drawingml/2006/main">
            <a:pPr>
              <a:defRPr sz="2250" b="0">
                <a:solidFill>
                  <a:srgbClr val="163B35"/>
                </a:solidFill>
                <a:latin typeface="Arial"/>
                <a:ea typeface="Arial"/>
                <a:cs typeface="Arial"/>
              </a:defRPr>
            </a:pPr>
            <a:r>
              <a:rPr sz="2250" b="0">
                <a:solidFill>
                  <a:srgbClr val="163B35"/>
                </a:solidFill>
                <a:latin typeface="Arial"/>
                <a:ea typeface="Arial"/>
                <a:cs typeface="Arial"/>
              </a:rPr>
              <a:t>Calibration error remains: ECE = 0.1325</a:t>
            </a:r>
          </a:p>
        </p:txBody>
      </p:sp>
      <p:sp>
        <p:nvSpPr>
          <p:cNvPr id="6" name="">
            <a:extLst xmlns:a="http://schemas.openxmlformats.org/drawingml/2006/main">
              <a:ext uri="{FF2B5EF4-FFF2-40B4-BE49-F238E27FC236}">
                <a16:creationId xmlns:a16="http://schemas.microsoft.com/office/drawing/2014/main" id="{A8F44FAA-AA27-4BA1-8100-5EBDDD67F6AF}"/>
              </a:ext>
            </a:extLst>
          </p:cNvPr>
          <p:cNvSpPr>
            <a:spLocks xmlns:a="http://schemas.openxmlformats.org/drawingml/2006/main" noGrp="1"/>
          </p:cNvSpPr>
          <p:nvPr/>
        </p:nvSpPr>
        <p:spPr>
          <a:xfrm xmlns:a="http://schemas.openxmlformats.org/drawingml/2006/main">
            <a:off x="609600" y="4391025"/>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63B35"/>
                </a:solidFill>
                <a:latin typeface="Arial"/>
                <a:ea typeface="Arial"/>
                <a:cs typeface="Arial"/>
              </a:defRPr>
            </a:defPPr>
            <a:lvl1pPr>
              <a:defRPr sz="2250" b="0">
                <a:solidFill>
                  <a:srgbClr val="163B35"/>
                </a:solidFill>
                <a:latin typeface="Arial"/>
                <a:ea typeface="Arial"/>
                <a:cs typeface="Arial"/>
              </a:defRPr>
            </a:lvl1pPr>
            <a:lvl2pPr>
              <a:defRPr sz="2250" b="0">
                <a:solidFill>
                  <a:srgbClr val="163B35"/>
                </a:solidFill>
                <a:latin typeface="Arial"/>
                <a:ea typeface="Arial"/>
                <a:cs typeface="Arial"/>
              </a:defRPr>
            </a:lvl2pPr>
            <a:lvl3pPr>
              <a:defRPr sz="2250" b="0">
                <a:solidFill>
                  <a:srgbClr val="163B35"/>
                </a:solidFill>
                <a:latin typeface="Arial"/>
                <a:ea typeface="Arial"/>
                <a:cs typeface="Arial"/>
              </a:defRPr>
            </a:lvl3pPr>
            <a:lvl4pPr>
              <a:defRPr sz="2250" b="0">
                <a:solidFill>
                  <a:srgbClr val="163B35"/>
                </a:solidFill>
                <a:latin typeface="Arial"/>
                <a:ea typeface="Arial"/>
                <a:cs typeface="Arial"/>
              </a:defRPr>
            </a:lvl4pPr>
            <a:lvl5pPr>
              <a:defRPr sz="2250" b="0">
                <a:solidFill>
                  <a:srgbClr val="163B35"/>
                </a:solidFill>
                <a:latin typeface="Arial"/>
                <a:ea typeface="Arial"/>
                <a:cs typeface="Arial"/>
              </a:defRPr>
            </a:lvl5pPr>
            <a:lvl6pPr>
              <a:defRPr sz="2250" b="0">
                <a:solidFill>
                  <a:srgbClr val="163B35"/>
                </a:solidFill>
                <a:latin typeface="Arial"/>
                <a:ea typeface="Arial"/>
                <a:cs typeface="Arial"/>
              </a:defRPr>
            </a:lvl6pPr>
            <a:lvl7pPr>
              <a:defRPr sz="2250" b="0">
                <a:solidFill>
                  <a:srgbClr val="163B35"/>
                </a:solidFill>
                <a:latin typeface="Arial"/>
                <a:ea typeface="Arial"/>
                <a:cs typeface="Arial"/>
              </a:defRPr>
            </a:lvl7pPr>
            <a:lvl8pPr>
              <a:defRPr sz="2250" b="0">
                <a:solidFill>
                  <a:srgbClr val="163B35"/>
                </a:solidFill>
                <a:latin typeface="Arial"/>
                <a:ea typeface="Arial"/>
                <a:cs typeface="Arial"/>
              </a:defRPr>
            </a:lvl8pPr>
            <a:lvl9pPr>
              <a:defRPr sz="2250" b="0">
                <a:solidFill>
                  <a:srgbClr val="163B35"/>
                </a:solidFill>
                <a:latin typeface="Arial"/>
                <a:ea typeface="Arial"/>
                <a:cs typeface="Arial"/>
              </a:defRPr>
            </a:lvl9pPr>
          </a:lstStyle>
          <a:p xmlns:a="http://schemas.openxmlformats.org/drawingml/2006/main">
            <a:pPr>
              <a:defRPr sz="2250" b="0">
                <a:solidFill>
                  <a:srgbClr val="163B35"/>
                </a:solidFill>
                <a:latin typeface="Arial"/>
                <a:ea typeface="Arial"/>
                <a:cs typeface="Arial"/>
              </a:defRPr>
            </a:pPr>
            <a:r>
              <a:rPr sz="2250" b="0">
                <a:solidFill>
                  <a:srgbClr val="163B35"/>
                </a:solidFill>
                <a:latin typeface="Arial"/>
                <a:ea typeface="Arial"/>
                <a:cs typeface="Arial"/>
              </a:rPr>
              <a:t>Historical evaluation source has a reconstruction limitation</a:t>
            </a:r>
          </a:p>
        </p:txBody>
      </p:sp>
      <p:sp>
        <p:nvSpPr>
          <p:cNvPr id="7" name="">
            <a:extLst xmlns:a="http://schemas.openxmlformats.org/drawingml/2006/main">
              <a:ext uri="{FF2B5EF4-FFF2-40B4-BE49-F238E27FC236}">
                <a16:creationId xmlns:a16="http://schemas.microsoft.com/office/drawing/2014/main" id="{8DAA83F8-12B0-4391-9484-43EFEA0159CC}"/>
              </a:ext>
            </a:extLst>
          </p:cNvPr>
          <p:cNvSpPr>
            <a:spLocks xmlns:a="http://schemas.openxmlformats.org/drawingml/2006/main" noGrp="1"/>
          </p:cNvSpPr>
          <p:nvPr/>
        </p:nvSpPr>
        <p:spPr>
          <a:xfrm xmlns:a="http://schemas.openxmlformats.org/drawingml/2006/main">
            <a:off x="609600" y="574357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36C66"/>
                </a:solidFill>
                <a:latin typeface="Arial"/>
                <a:ea typeface="Arial"/>
                <a:cs typeface="Arial"/>
              </a:defRPr>
            </a:defPPr>
            <a:lvl1pPr>
              <a:defRPr sz="1650" b="0">
                <a:solidFill>
                  <a:srgbClr val="536C66"/>
                </a:solidFill>
                <a:latin typeface="Arial"/>
                <a:ea typeface="Arial"/>
                <a:cs typeface="Arial"/>
              </a:defRPr>
            </a:lvl1pPr>
            <a:lvl2pPr>
              <a:defRPr sz="1650" b="0">
                <a:solidFill>
                  <a:srgbClr val="536C66"/>
                </a:solidFill>
                <a:latin typeface="Arial"/>
                <a:ea typeface="Arial"/>
                <a:cs typeface="Arial"/>
              </a:defRPr>
            </a:lvl2pPr>
            <a:lvl3pPr>
              <a:defRPr sz="1650" b="0">
                <a:solidFill>
                  <a:srgbClr val="536C66"/>
                </a:solidFill>
                <a:latin typeface="Arial"/>
                <a:ea typeface="Arial"/>
                <a:cs typeface="Arial"/>
              </a:defRPr>
            </a:lvl3pPr>
            <a:lvl4pPr>
              <a:defRPr sz="1650" b="0">
                <a:solidFill>
                  <a:srgbClr val="536C66"/>
                </a:solidFill>
                <a:latin typeface="Arial"/>
                <a:ea typeface="Arial"/>
                <a:cs typeface="Arial"/>
              </a:defRPr>
            </a:lvl4pPr>
            <a:lvl5pPr>
              <a:defRPr sz="1650" b="0">
                <a:solidFill>
                  <a:srgbClr val="536C66"/>
                </a:solidFill>
                <a:latin typeface="Arial"/>
                <a:ea typeface="Arial"/>
                <a:cs typeface="Arial"/>
              </a:defRPr>
            </a:lvl5pPr>
            <a:lvl6pPr>
              <a:defRPr sz="1650" b="0">
                <a:solidFill>
                  <a:srgbClr val="536C66"/>
                </a:solidFill>
                <a:latin typeface="Arial"/>
                <a:ea typeface="Arial"/>
                <a:cs typeface="Arial"/>
              </a:defRPr>
            </a:lvl6pPr>
            <a:lvl7pPr>
              <a:defRPr sz="1650" b="0">
                <a:solidFill>
                  <a:srgbClr val="536C66"/>
                </a:solidFill>
                <a:latin typeface="Arial"/>
                <a:ea typeface="Arial"/>
                <a:cs typeface="Arial"/>
              </a:defRPr>
            </a:lvl7pPr>
            <a:lvl8pPr>
              <a:defRPr sz="1650" b="0">
                <a:solidFill>
                  <a:srgbClr val="536C66"/>
                </a:solidFill>
                <a:latin typeface="Arial"/>
                <a:ea typeface="Arial"/>
                <a:cs typeface="Arial"/>
              </a:defRPr>
            </a:lvl8pPr>
            <a:lvl9pPr>
              <a:defRPr sz="1650" b="0">
                <a:solidFill>
                  <a:srgbClr val="536C66"/>
                </a:solidFill>
                <a:latin typeface="Arial"/>
                <a:ea typeface="Arial"/>
                <a:cs typeface="Arial"/>
              </a:defRPr>
            </a:lvl9pPr>
          </a:lstStyle>
          <a:p xmlns:a="http://schemas.openxmlformats.org/drawingml/2006/main">
            <a:pPr>
              <a:defRPr sz="1650" b="0">
                <a:solidFill>
                  <a:srgbClr val="536C66"/>
                </a:solidFill>
                <a:latin typeface="Arial"/>
                <a:ea typeface="Arial"/>
                <a:cs typeface="Arial"/>
              </a:defRPr>
            </a:pPr>
            <a:r>
              <a:rPr sz="1650" b="0">
                <a:solidFill>
                  <a:srgbClr val="536C66"/>
                </a:solidFill>
                <a:latin typeface="Arial"/>
                <a:ea typeface="Arial"/>
                <a:cs typeface="Arial"/>
              </a:rPr>
              <a:t>Phase 2: compare learned representations and test lighting, background and viewpoint changes.</a:t>
            </a:r>
          </a:p>
        </p:txBody>
      </p:sp>
    </p:spTree>
    <p:extLst>
      <p:ext uri="{BB962C8B-B14F-4D97-AF65-F5344CB8AC3E}">
        <p14:creationId xmlns:p14="http://schemas.microsoft.com/office/powerpoint/2010/main" val="1795516860"/>
      </p:ext>
    </p:extLst>
  </p:cSld>
</p:sld>
</file>

<file path=ppt/slides/slide15.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9AF821D-900C-47D6-8987-5E4B13CC3748}"/>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63B35"/>
                </a:solidFill>
                <a:latin typeface="Arial"/>
                <a:ea typeface="Arial"/>
                <a:cs typeface="Arial"/>
              </a:defRPr>
            </a:defPPr>
            <a:lvl1pPr>
              <a:defRPr sz="3300" b="1">
                <a:solidFill>
                  <a:srgbClr val="163B35"/>
                </a:solidFill>
                <a:latin typeface="Arial"/>
                <a:ea typeface="Arial"/>
                <a:cs typeface="Arial"/>
              </a:defRPr>
            </a:lvl1pPr>
            <a:lvl2pPr>
              <a:defRPr sz="3300" b="1">
                <a:solidFill>
                  <a:srgbClr val="163B35"/>
                </a:solidFill>
                <a:latin typeface="Arial"/>
                <a:ea typeface="Arial"/>
                <a:cs typeface="Arial"/>
              </a:defRPr>
            </a:lvl2pPr>
            <a:lvl3pPr>
              <a:defRPr sz="3300" b="1">
                <a:solidFill>
                  <a:srgbClr val="163B35"/>
                </a:solidFill>
                <a:latin typeface="Arial"/>
                <a:ea typeface="Arial"/>
                <a:cs typeface="Arial"/>
              </a:defRPr>
            </a:lvl3pPr>
            <a:lvl4pPr>
              <a:defRPr sz="3300" b="1">
                <a:solidFill>
                  <a:srgbClr val="163B35"/>
                </a:solidFill>
                <a:latin typeface="Arial"/>
                <a:ea typeface="Arial"/>
                <a:cs typeface="Arial"/>
              </a:defRPr>
            </a:lvl4pPr>
            <a:lvl5pPr>
              <a:defRPr sz="3300" b="1">
                <a:solidFill>
                  <a:srgbClr val="163B35"/>
                </a:solidFill>
                <a:latin typeface="Arial"/>
                <a:ea typeface="Arial"/>
                <a:cs typeface="Arial"/>
              </a:defRPr>
            </a:lvl5pPr>
            <a:lvl6pPr>
              <a:defRPr sz="3300" b="1">
                <a:solidFill>
                  <a:srgbClr val="163B35"/>
                </a:solidFill>
                <a:latin typeface="Arial"/>
                <a:ea typeface="Arial"/>
                <a:cs typeface="Arial"/>
              </a:defRPr>
            </a:lvl6pPr>
            <a:lvl7pPr>
              <a:defRPr sz="3300" b="1">
                <a:solidFill>
                  <a:srgbClr val="163B35"/>
                </a:solidFill>
                <a:latin typeface="Arial"/>
                <a:ea typeface="Arial"/>
                <a:cs typeface="Arial"/>
              </a:defRPr>
            </a:lvl7pPr>
            <a:lvl8pPr>
              <a:defRPr sz="3300" b="1">
                <a:solidFill>
                  <a:srgbClr val="163B35"/>
                </a:solidFill>
                <a:latin typeface="Arial"/>
                <a:ea typeface="Arial"/>
                <a:cs typeface="Arial"/>
              </a:defRPr>
            </a:lvl8pPr>
            <a:lvl9pPr>
              <a:defRPr sz="3300" b="1">
                <a:solidFill>
                  <a:srgbClr val="163B35"/>
                </a:solidFill>
                <a:latin typeface="Arial"/>
                <a:ea typeface="Arial"/>
                <a:cs typeface="Arial"/>
              </a:defRPr>
            </a:lvl9pPr>
          </a:lstStyle>
          <a:p xmlns:a="http://schemas.openxmlformats.org/drawingml/2006/main">
            <a:pPr>
              <a:defRPr sz="3300" b="1">
                <a:solidFill>
                  <a:srgbClr val="163B35"/>
                </a:solidFill>
                <a:latin typeface="Arial"/>
                <a:ea typeface="Arial"/>
                <a:cs typeface="Arial"/>
              </a:defRPr>
            </a:pPr>
            <a:r>
              <a:rPr sz="3300" b="1">
                <a:solidFill>
                  <a:srgbClr val="163B35"/>
                </a:solidFill>
                <a:latin typeface="Arial"/>
                <a:ea typeface="Arial"/>
                <a:cs typeface="Arial"/>
              </a:rPr>
              <a:t>Six contributions, one reproducible pipeline</a:t>
            </a:r>
          </a:p>
        </p:txBody>
      </p:sp>
      <p:sp>
        <p:nvSpPr>
          <p:cNvPr id="2" name="">
            <a:extLst xmlns:a="http://schemas.openxmlformats.org/drawingml/2006/main">
              <a:ext uri="{FF2B5EF4-FFF2-40B4-BE49-F238E27FC236}">
                <a16:creationId xmlns:a16="http://schemas.microsoft.com/office/drawing/2014/main" id="{AB5B610F-3511-46DA-B385-67288BE0D5FF}"/>
              </a:ext>
            </a:extLst>
          </p:cNvPr>
          <p:cNvSpPr>
            <a:spLocks xmlns:a="http://schemas.openxmlformats.org/drawingml/2006/main" noGrp="1"/>
          </p:cNvSpPr>
          <p:nvPr/>
        </p:nvSpPr>
        <p:spPr>
          <a:xfrm xmlns:a="http://schemas.openxmlformats.org/drawingml/2006/main">
            <a:off x="11068050" y="633412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36C66"/>
                </a:solidFill>
                <a:latin typeface="Arial"/>
                <a:ea typeface="Arial"/>
                <a:cs typeface="Arial"/>
              </a:defRPr>
            </a:defPPr>
            <a:lvl1pPr>
              <a:defRPr sz="1350" b="0">
                <a:solidFill>
                  <a:srgbClr val="536C66"/>
                </a:solidFill>
                <a:latin typeface="Arial"/>
                <a:ea typeface="Arial"/>
                <a:cs typeface="Arial"/>
              </a:defRPr>
            </a:lvl1pPr>
            <a:lvl2pPr>
              <a:defRPr sz="1350" b="0">
                <a:solidFill>
                  <a:srgbClr val="536C66"/>
                </a:solidFill>
                <a:latin typeface="Arial"/>
                <a:ea typeface="Arial"/>
                <a:cs typeface="Arial"/>
              </a:defRPr>
            </a:lvl2pPr>
            <a:lvl3pPr>
              <a:defRPr sz="1350" b="0">
                <a:solidFill>
                  <a:srgbClr val="536C66"/>
                </a:solidFill>
                <a:latin typeface="Arial"/>
                <a:ea typeface="Arial"/>
                <a:cs typeface="Arial"/>
              </a:defRPr>
            </a:lvl3pPr>
            <a:lvl4pPr>
              <a:defRPr sz="1350" b="0">
                <a:solidFill>
                  <a:srgbClr val="536C66"/>
                </a:solidFill>
                <a:latin typeface="Arial"/>
                <a:ea typeface="Arial"/>
                <a:cs typeface="Arial"/>
              </a:defRPr>
            </a:lvl4pPr>
            <a:lvl5pPr>
              <a:defRPr sz="1350" b="0">
                <a:solidFill>
                  <a:srgbClr val="536C66"/>
                </a:solidFill>
                <a:latin typeface="Arial"/>
                <a:ea typeface="Arial"/>
                <a:cs typeface="Arial"/>
              </a:defRPr>
            </a:lvl5pPr>
            <a:lvl6pPr>
              <a:defRPr sz="1350" b="0">
                <a:solidFill>
                  <a:srgbClr val="536C66"/>
                </a:solidFill>
                <a:latin typeface="Arial"/>
                <a:ea typeface="Arial"/>
                <a:cs typeface="Arial"/>
              </a:defRPr>
            </a:lvl6pPr>
            <a:lvl7pPr>
              <a:defRPr sz="1350" b="0">
                <a:solidFill>
                  <a:srgbClr val="536C66"/>
                </a:solidFill>
                <a:latin typeface="Arial"/>
                <a:ea typeface="Arial"/>
                <a:cs typeface="Arial"/>
              </a:defRPr>
            </a:lvl7pPr>
            <a:lvl8pPr>
              <a:defRPr sz="1350" b="0">
                <a:solidFill>
                  <a:srgbClr val="536C66"/>
                </a:solidFill>
                <a:latin typeface="Arial"/>
                <a:ea typeface="Arial"/>
                <a:cs typeface="Arial"/>
              </a:defRPr>
            </a:lvl8pPr>
            <a:lvl9pPr>
              <a:defRPr sz="1350" b="0">
                <a:solidFill>
                  <a:srgbClr val="536C66"/>
                </a:solidFill>
                <a:latin typeface="Arial"/>
                <a:ea typeface="Arial"/>
                <a:cs typeface="Arial"/>
              </a:defRPr>
            </a:lvl9pPr>
          </a:lstStyle>
          <a:p xmlns:a="http://schemas.openxmlformats.org/drawingml/2006/main">
            <a:pPr>
              <a:defRPr sz="1350" b="0">
                <a:solidFill>
                  <a:srgbClr val="536C66"/>
                </a:solidFill>
                <a:latin typeface="Arial"/>
                <a:ea typeface="Arial"/>
                <a:cs typeface="Arial"/>
              </a:defRPr>
            </a:pPr>
            <a:r>
              <a:rPr sz="1350" b="0">
                <a:solidFill>
                  <a:srgbClr val="536C66"/>
                </a:solidFill>
                <a:latin typeface="Arial"/>
                <a:ea typeface="Arial"/>
                <a:cs typeface="Arial"/>
              </a:rPr>
              <a:t>15</a:t>
            </a:r>
          </a:p>
        </p:txBody>
      </p:sp>
      <p:graphicFrame>
        <p:nvGraphicFramePr>
          <p:cNvPr id="3" name="">
            <a:extLst xmlns:a="http://schemas.openxmlformats.org/drawingml/2006/main">
              <a:ext uri="{FF2B5EF4-FFF2-40B4-BE49-F238E27FC236}">
                <a16:creationId xmlns:a16="http://schemas.microsoft.com/office/drawing/2014/main" id="{517B617C-CD8C-4168-AE2D-B5DDEF5AE3CB}"/>
              </a:ext>
            </a:extLst>
          </p:cNvPr>
          <p:cNvGraphicFramePr/>
          <p:nvPr/>
        </p:nvGraphicFramePr>
        <p:xfrm>
          <a:off xmlns:a="http://schemas.openxmlformats.org/drawingml/2006/main" x="609600" y="1619250"/>
          <a:ext xmlns:a="http://schemas.openxmlformats.org/drawingml/2006/main" cx="10972800" cy="3952875"/>
        </p:xfrm>
        <a:graphic xmlns:a="http://schemas.openxmlformats.org/drawingml/2006/main">
          <a:graphicData uri="http://schemas.openxmlformats.org/drawingml/2006/table">
            <a:tbl>
              <a:tblPr/>
              <a:tblGrid>
                <a:gridCol w="3333750"/>
                <a:gridCol w="7639050"/>
              </a:tblGrid>
              <a:tr h="564696">
                <a:tc>
                  <a:txBody>
                    <a:bodyPr/>
                    <a:lstStyle/>
                    <a:p>
                      <a:r>
                        <a:rPr sz="1725" b="1">
                          <a:solidFill>
                            <a:srgbClr val="FFFFFF"/>
                          </a:solidFill>
                          <a:latin typeface="Arial"/>
                          <a:ea typeface="Arial"/>
                          <a:cs typeface="Arial"/>
                        </a:rPr>
                        <a:t>Member</a:t>
                      </a:r>
                    </a:p>
                  </a:txBody>
                  <a:tcPr marL="91440" marR="91440" marT="45720" marB="45720">
                    <a:lnL w="9525">
                      <a:solidFill>
                        <a:srgbClr val="D8E2DD"/>
                      </a:solidFill>
                      <a:prstDash val="solid"/>
                    </a:lnL>
                    <a:lnR w="9525">
                      <a:solidFill>
                        <a:srgbClr val="D8E2DD"/>
                      </a:solidFill>
                      <a:prstDash val="solid"/>
                    </a:lnR>
                    <a:lnT w="9525">
                      <a:solidFill>
                        <a:srgbClr val="D8E2DD"/>
                      </a:solidFill>
                      <a:prstDash val="solid"/>
                    </a:lnT>
                    <a:lnB w="9525">
                      <a:solidFill>
                        <a:srgbClr val="D8E2DD"/>
                      </a:solidFill>
                      <a:prstDash val="solid"/>
                    </a:lnB>
                    <a:solidFill>
                      <a:srgbClr val="163B35"/>
                    </a:solidFill>
                  </a:tcPr>
                </a:tc>
                <a:tc>
                  <a:txBody>
                    <a:bodyPr/>
                    <a:lstStyle/>
                    <a:p>
                      <a:r>
                        <a:rPr sz="1725" b="1">
                          <a:solidFill>
                            <a:srgbClr val="FFFFFF"/>
                          </a:solidFill>
                          <a:latin typeface="Arial"/>
                          <a:ea typeface="Arial"/>
                          <a:cs typeface="Arial"/>
                        </a:rPr>
                        <a:t>Primary work</a:t>
                      </a:r>
                    </a:p>
                  </a:txBody>
                  <a:tcPr marL="91440" marR="91440" marT="45720" marB="45720">
                    <a:lnR w="9525">
                      <a:solidFill>
                        <a:srgbClr val="D8E2DD"/>
                      </a:solidFill>
                      <a:prstDash val="solid"/>
                    </a:lnR>
                    <a:lnT w="9525">
                      <a:solidFill>
                        <a:srgbClr val="D8E2DD"/>
                      </a:solidFill>
                      <a:prstDash val="solid"/>
                    </a:lnT>
                    <a:lnB w="9525">
                      <a:solidFill>
                        <a:srgbClr val="D8E2DD"/>
                      </a:solidFill>
                      <a:prstDash val="solid"/>
                    </a:lnB>
                    <a:solidFill>
                      <a:srgbClr val="163B35"/>
                    </a:solidFill>
                  </a:tcPr>
                </a:tc>
              </a:tr>
              <a:tr h="564696">
                <a:tc>
                  <a:txBody>
                    <a:bodyPr/>
                    <a:lstStyle/>
                    <a:p>
                      <a:r>
                        <a:rPr sz="1725" b="0">
                          <a:solidFill>
                            <a:srgbClr val="163B35"/>
                          </a:solidFill>
                          <a:latin typeface="Arial"/>
                          <a:ea typeface="Arial"/>
                          <a:cs typeface="Arial"/>
                        </a:rPr>
                        <a:t>Om Yadav</a:t>
                      </a:r>
                    </a:p>
                  </a:txBody>
                  <a:tcPr marL="91440" marR="91440" marT="45720" marB="45720">
                    <a:lnL w="9525">
                      <a:solidFill>
                        <a:srgbClr val="D8E2DD"/>
                      </a:solidFill>
                      <a:prstDash val="solid"/>
                    </a:lnL>
                    <a:lnR w="9525">
                      <a:solidFill>
                        <a:srgbClr val="D8E2DD"/>
                      </a:solidFill>
                      <a:prstDash val="solid"/>
                    </a:lnR>
                    <a:lnB w="9525">
                      <a:solidFill>
                        <a:srgbClr val="D8E2DD"/>
                      </a:solidFill>
                      <a:prstDash val="solid"/>
                    </a:lnB>
                    <a:solidFill>
                      <a:srgbClr val="FFFFFF"/>
                    </a:solidFill>
                  </a:tcPr>
                </a:tc>
                <a:tc>
                  <a:txBody>
                    <a:bodyPr/>
                    <a:lstStyle/>
                    <a:p>
                      <a:r>
                        <a:rPr sz="1725" b="0">
                          <a:solidFill>
                            <a:srgbClr val="163B35"/>
                          </a:solidFill>
                          <a:latin typeface="Arial"/>
                          <a:ea typeface="Arial"/>
                          <a:cs typeface="Arial"/>
                        </a:rPr>
                        <a:t>Data verification and preprocessing</a:t>
                      </a:r>
                    </a:p>
                  </a:txBody>
                  <a:tcPr marL="91440" marR="91440" marT="45720" marB="45720">
                    <a:lnR w="9525">
                      <a:solidFill>
                        <a:srgbClr val="D8E2DD"/>
                      </a:solidFill>
                      <a:prstDash val="solid"/>
                    </a:lnR>
                    <a:lnB w="9525">
                      <a:solidFill>
                        <a:srgbClr val="D8E2DD"/>
                      </a:solidFill>
                      <a:prstDash val="solid"/>
                    </a:lnB>
                    <a:solidFill>
                      <a:srgbClr val="FFFFFF"/>
                    </a:solidFill>
                  </a:tcPr>
                </a:tc>
              </a:tr>
              <a:tr h="564696">
                <a:tc>
                  <a:txBody>
                    <a:bodyPr/>
                    <a:lstStyle/>
                    <a:p>
                      <a:r>
                        <a:rPr sz="1725" b="0">
                          <a:solidFill>
                            <a:srgbClr val="163B35"/>
                          </a:solidFill>
                          <a:latin typeface="Arial"/>
                          <a:ea typeface="Arial"/>
                          <a:cs typeface="Arial"/>
                        </a:rPr>
                        <a:t>Aditya Bharadwaj</a:t>
                      </a:r>
                    </a:p>
                  </a:txBody>
                  <a:tcPr marL="91440" marR="91440" marT="45720" marB="45720">
                    <a:lnL w="9525">
                      <a:solidFill>
                        <a:srgbClr val="D8E2DD"/>
                      </a:solidFill>
                      <a:prstDash val="solid"/>
                    </a:lnL>
                    <a:lnR w="9525">
                      <a:solidFill>
                        <a:srgbClr val="D8E2DD"/>
                      </a:solidFill>
                      <a:prstDash val="solid"/>
                    </a:lnR>
                    <a:lnB w="9525">
                      <a:solidFill>
                        <a:srgbClr val="D8E2DD"/>
                      </a:solidFill>
                      <a:prstDash val="solid"/>
                    </a:lnB>
                    <a:solidFill>
                      <a:srgbClr val="F8FAF7"/>
                    </a:solidFill>
                  </a:tcPr>
                </a:tc>
                <a:tc>
                  <a:txBody>
                    <a:bodyPr/>
                    <a:lstStyle/>
                    <a:p>
                      <a:r>
                        <a:rPr sz="1725" b="0">
                          <a:solidFill>
                            <a:srgbClr val="163B35"/>
                          </a:solidFill>
                          <a:latin typeface="Arial"/>
                          <a:ea typeface="Arial"/>
                          <a:cs typeface="Arial"/>
                        </a:rPr>
                        <a:t>Descriptors and feature caching</a:t>
                      </a:r>
                    </a:p>
                  </a:txBody>
                  <a:tcPr marL="91440" marR="91440" marT="45720" marB="45720">
                    <a:lnR w="9525">
                      <a:solidFill>
                        <a:srgbClr val="D8E2DD"/>
                      </a:solidFill>
                      <a:prstDash val="solid"/>
                    </a:lnR>
                    <a:lnB w="9525">
                      <a:solidFill>
                        <a:srgbClr val="D8E2DD"/>
                      </a:solidFill>
                      <a:prstDash val="solid"/>
                    </a:lnB>
                    <a:solidFill>
                      <a:srgbClr val="F8FAF7"/>
                    </a:solidFill>
                  </a:tcPr>
                </a:tc>
              </a:tr>
              <a:tr h="564696">
                <a:tc>
                  <a:txBody>
                    <a:bodyPr/>
                    <a:lstStyle/>
                    <a:p>
                      <a:r>
                        <a:rPr sz="1725" b="0">
                          <a:solidFill>
                            <a:srgbClr val="163B35"/>
                          </a:solidFill>
                          <a:latin typeface="Arial"/>
                          <a:ea typeface="Arial"/>
                          <a:cs typeface="Arial"/>
                        </a:rPr>
                        <a:t>Shourya Bafna</a:t>
                      </a:r>
                    </a:p>
                  </a:txBody>
                  <a:tcPr marL="91440" marR="91440" marT="45720" marB="45720">
                    <a:lnL w="9525">
                      <a:solidFill>
                        <a:srgbClr val="D8E2DD"/>
                      </a:solidFill>
                      <a:prstDash val="solid"/>
                    </a:lnL>
                    <a:lnR w="9525">
                      <a:solidFill>
                        <a:srgbClr val="D8E2DD"/>
                      </a:solidFill>
                      <a:prstDash val="solid"/>
                    </a:lnR>
                    <a:lnB w="9525">
                      <a:solidFill>
                        <a:srgbClr val="D8E2DD"/>
                      </a:solidFill>
                      <a:prstDash val="solid"/>
                    </a:lnB>
                    <a:solidFill>
                      <a:srgbClr val="FFFFFF"/>
                    </a:solidFill>
                  </a:tcPr>
                </a:tc>
                <a:tc>
                  <a:txBody>
                    <a:bodyPr/>
                    <a:lstStyle/>
                    <a:p>
                      <a:r>
                        <a:rPr sz="1725" b="0">
                          <a:solidFill>
                            <a:srgbClr val="163B35"/>
                          </a:solidFill>
                          <a:latin typeface="Arial"/>
                          <a:ea typeface="Arial"/>
                          <a:cs typeface="Arial"/>
                        </a:rPr>
                        <a:t>Training protocol, SVM and integration review</a:t>
                      </a:r>
                    </a:p>
                  </a:txBody>
                  <a:tcPr marL="91440" marR="91440" marT="45720" marB="45720">
                    <a:lnR w="9525">
                      <a:solidFill>
                        <a:srgbClr val="D8E2DD"/>
                      </a:solidFill>
                      <a:prstDash val="solid"/>
                    </a:lnR>
                    <a:lnB w="9525">
                      <a:solidFill>
                        <a:srgbClr val="D8E2DD"/>
                      </a:solidFill>
                      <a:prstDash val="solid"/>
                    </a:lnB>
                    <a:solidFill>
                      <a:srgbClr val="FFFFFF"/>
                    </a:solidFill>
                  </a:tcPr>
                </a:tc>
              </a:tr>
              <a:tr h="564696">
                <a:tc>
                  <a:txBody>
                    <a:bodyPr/>
                    <a:lstStyle/>
                    <a:p>
                      <a:r>
                        <a:rPr sz="1725" b="0">
                          <a:solidFill>
                            <a:srgbClr val="163B35"/>
                          </a:solidFill>
                          <a:latin typeface="Arial"/>
                          <a:ea typeface="Arial"/>
                          <a:cs typeface="Arial"/>
                        </a:rPr>
                        <a:t>Daksh Batra</a:t>
                      </a:r>
                    </a:p>
                  </a:txBody>
                  <a:tcPr marL="91440" marR="91440" marT="45720" marB="45720">
                    <a:lnL w="9525">
                      <a:solidFill>
                        <a:srgbClr val="D8E2DD"/>
                      </a:solidFill>
                      <a:prstDash val="solid"/>
                    </a:lnL>
                    <a:lnR w="9525">
                      <a:solidFill>
                        <a:srgbClr val="D8E2DD"/>
                      </a:solidFill>
                      <a:prstDash val="solid"/>
                    </a:lnR>
                    <a:lnB w="9525">
                      <a:solidFill>
                        <a:srgbClr val="D8E2DD"/>
                      </a:solidFill>
                      <a:prstDash val="solid"/>
                    </a:lnB>
                    <a:solidFill>
                      <a:srgbClr val="F8FAF7"/>
                    </a:solidFill>
                  </a:tcPr>
                </a:tc>
                <a:tc>
                  <a:txBody>
                    <a:bodyPr/>
                    <a:lstStyle/>
                    <a:p>
                      <a:r>
                        <a:rPr sz="1725" b="0">
                          <a:solidFill>
                            <a:srgbClr val="163B35"/>
                          </a:solidFill>
                          <a:latin typeface="Arial"/>
                          <a:ea typeface="Arial"/>
                          <a:cs typeface="Arial"/>
                        </a:rPr>
                        <a:t>Random Forest studies</a:t>
                      </a:r>
                    </a:p>
                  </a:txBody>
                  <a:tcPr marL="91440" marR="91440" marT="45720" marB="45720">
                    <a:lnR w="9525">
                      <a:solidFill>
                        <a:srgbClr val="D8E2DD"/>
                      </a:solidFill>
                      <a:prstDash val="solid"/>
                    </a:lnR>
                    <a:lnB w="9525">
                      <a:solidFill>
                        <a:srgbClr val="D8E2DD"/>
                      </a:solidFill>
                      <a:prstDash val="solid"/>
                    </a:lnB>
                    <a:solidFill>
                      <a:srgbClr val="F8FAF7"/>
                    </a:solidFill>
                  </a:tcPr>
                </a:tc>
              </a:tr>
              <a:tr h="564696">
                <a:tc>
                  <a:txBody>
                    <a:bodyPr/>
                    <a:lstStyle/>
                    <a:p>
                      <a:r>
                        <a:rPr sz="1725" b="0">
                          <a:solidFill>
                            <a:srgbClr val="163B35"/>
                          </a:solidFill>
                          <a:latin typeface="Arial"/>
                          <a:ea typeface="Arial"/>
                          <a:cs typeface="Arial"/>
                        </a:rPr>
                        <a:t>Prajjwal Tripathi</a:t>
                      </a:r>
                    </a:p>
                  </a:txBody>
                  <a:tcPr marL="91440" marR="91440" marT="45720" marB="45720">
                    <a:lnL w="9525">
                      <a:solidFill>
                        <a:srgbClr val="D8E2DD"/>
                      </a:solidFill>
                      <a:prstDash val="solid"/>
                    </a:lnL>
                    <a:lnR w="9525">
                      <a:solidFill>
                        <a:srgbClr val="D8E2DD"/>
                      </a:solidFill>
                      <a:prstDash val="solid"/>
                    </a:lnR>
                    <a:lnB w="9525">
                      <a:solidFill>
                        <a:srgbClr val="D8E2DD"/>
                      </a:solidFill>
                      <a:prstDash val="solid"/>
                    </a:lnB>
                    <a:solidFill>
                      <a:srgbClr val="FFFFFF"/>
                    </a:solidFill>
                  </a:tcPr>
                </a:tc>
                <a:tc>
                  <a:txBody>
                    <a:bodyPr/>
                    <a:lstStyle/>
                    <a:p>
                      <a:r>
                        <a:rPr sz="1725" b="0">
                          <a:solidFill>
                            <a:srgbClr val="163B35"/>
                          </a:solidFill>
                          <a:latin typeface="Arial"/>
                          <a:ea typeface="Arial"/>
                          <a:cs typeface="Arial"/>
                        </a:rPr>
                        <a:t>Calibration and frozen evaluation</a:t>
                      </a:r>
                    </a:p>
                  </a:txBody>
                  <a:tcPr marL="91440" marR="91440" marT="45720" marB="45720">
                    <a:lnR w="9525">
                      <a:solidFill>
                        <a:srgbClr val="D8E2DD"/>
                      </a:solidFill>
                      <a:prstDash val="solid"/>
                    </a:lnR>
                    <a:lnB w="9525">
                      <a:solidFill>
                        <a:srgbClr val="D8E2DD"/>
                      </a:solidFill>
                      <a:prstDash val="solid"/>
                    </a:lnB>
                    <a:solidFill>
                      <a:srgbClr val="FFFFFF"/>
                    </a:solidFill>
                  </a:tcPr>
                </a:tc>
              </a:tr>
              <a:tr h="564696">
                <a:tc>
                  <a:txBody>
                    <a:bodyPr/>
                    <a:lstStyle/>
                    <a:p>
                      <a:r>
                        <a:rPr sz="1725" b="0">
                          <a:solidFill>
                            <a:srgbClr val="163B35"/>
                          </a:solidFill>
                          <a:latin typeface="Arial"/>
                          <a:ea typeface="Arial"/>
                          <a:cs typeface="Arial"/>
                        </a:rPr>
                        <a:t>Saksham Mighlani</a:t>
                      </a:r>
                    </a:p>
                  </a:txBody>
                  <a:tcPr marL="91440" marR="91440" marT="45720" marB="45720">
                    <a:lnL w="9525">
                      <a:solidFill>
                        <a:srgbClr val="D8E2DD"/>
                      </a:solidFill>
                      <a:prstDash val="solid"/>
                    </a:lnL>
                    <a:lnR w="9525">
                      <a:solidFill>
                        <a:srgbClr val="D8E2DD"/>
                      </a:solidFill>
                      <a:prstDash val="solid"/>
                    </a:lnR>
                    <a:lnB w="9525">
                      <a:solidFill>
                        <a:srgbClr val="D8E2DD"/>
                      </a:solidFill>
                      <a:prstDash val="solid"/>
                    </a:lnB>
                    <a:solidFill>
                      <a:srgbClr val="F8FAF7"/>
                    </a:solidFill>
                  </a:tcPr>
                </a:tc>
                <a:tc>
                  <a:txBody>
                    <a:bodyPr/>
                    <a:lstStyle/>
                    <a:p>
                      <a:r>
                        <a:rPr sz="1725" b="0">
                          <a:solidFill>
                            <a:srgbClr val="163B35"/>
                          </a:solidFill>
                          <a:latin typeface="Arial"/>
                          <a:ea typeface="Arial"/>
                          <a:cs typeface="Arial"/>
                        </a:rPr>
                        <a:t>Demo and submission integration</a:t>
                      </a:r>
                    </a:p>
                  </a:txBody>
                  <a:tcPr marL="91440" marR="91440" marT="45720" marB="45720">
                    <a:lnR w="9525">
                      <a:solidFill>
                        <a:srgbClr val="D8E2DD"/>
                      </a:solidFill>
                      <a:prstDash val="solid"/>
                    </a:lnR>
                    <a:lnB w="9525">
                      <a:solidFill>
                        <a:srgbClr val="D8E2DD"/>
                      </a:solidFill>
                      <a:prstDash val="solid"/>
                    </a:lnB>
                    <a:solidFill>
                      <a:srgbClr val="F8FAF7"/>
                    </a:solidFill>
                  </a:tcPr>
                </a:tc>
              </a:tr>
            </a:tbl>
          </a:graphicData>
        </a:graphic>
      </p:graphicFrame>
      <p:sp>
        <p:nvSpPr>
          <p:cNvPr id="4" name="">
            <a:extLst xmlns:a="http://schemas.openxmlformats.org/drawingml/2006/main">
              <a:ext uri="{FF2B5EF4-FFF2-40B4-BE49-F238E27FC236}">
                <a16:creationId xmlns:a16="http://schemas.microsoft.com/office/drawing/2014/main" id="{5CBA7BB4-5AE2-45F3-9A47-D53A68F6BEC8}"/>
              </a:ext>
            </a:extLst>
          </p:cNvPr>
          <p:cNvSpPr>
            <a:spLocks xmlns:a="http://schemas.openxmlformats.org/drawingml/2006/main" noGrp="1"/>
          </p:cNvSpPr>
          <p:nvPr/>
        </p:nvSpPr>
        <p:spPr>
          <a:xfrm xmlns:a="http://schemas.openxmlformats.org/drawingml/2006/main">
            <a:off x="609600" y="582930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167B62"/>
                </a:solidFill>
                <a:latin typeface="Arial"/>
                <a:ea typeface="Arial"/>
                <a:cs typeface="Arial"/>
              </a:defRPr>
            </a:defPPr>
            <a:lvl1pPr>
              <a:defRPr sz="2400" b="1">
                <a:solidFill>
                  <a:srgbClr val="167B62"/>
                </a:solidFill>
                <a:latin typeface="Arial"/>
                <a:ea typeface="Arial"/>
                <a:cs typeface="Arial"/>
              </a:defRPr>
            </a:lvl1pPr>
            <a:lvl2pPr>
              <a:defRPr sz="2400" b="1">
                <a:solidFill>
                  <a:srgbClr val="167B62"/>
                </a:solidFill>
                <a:latin typeface="Arial"/>
                <a:ea typeface="Arial"/>
                <a:cs typeface="Arial"/>
              </a:defRPr>
            </a:lvl2pPr>
            <a:lvl3pPr>
              <a:defRPr sz="2400" b="1">
                <a:solidFill>
                  <a:srgbClr val="167B62"/>
                </a:solidFill>
                <a:latin typeface="Arial"/>
                <a:ea typeface="Arial"/>
                <a:cs typeface="Arial"/>
              </a:defRPr>
            </a:lvl3pPr>
            <a:lvl4pPr>
              <a:defRPr sz="2400" b="1">
                <a:solidFill>
                  <a:srgbClr val="167B62"/>
                </a:solidFill>
                <a:latin typeface="Arial"/>
                <a:ea typeface="Arial"/>
                <a:cs typeface="Arial"/>
              </a:defRPr>
            </a:lvl4pPr>
            <a:lvl5pPr>
              <a:defRPr sz="2400" b="1">
                <a:solidFill>
                  <a:srgbClr val="167B62"/>
                </a:solidFill>
                <a:latin typeface="Arial"/>
                <a:ea typeface="Arial"/>
                <a:cs typeface="Arial"/>
              </a:defRPr>
            </a:lvl5pPr>
            <a:lvl6pPr>
              <a:defRPr sz="2400" b="1">
                <a:solidFill>
                  <a:srgbClr val="167B62"/>
                </a:solidFill>
                <a:latin typeface="Arial"/>
                <a:ea typeface="Arial"/>
                <a:cs typeface="Arial"/>
              </a:defRPr>
            </a:lvl6pPr>
            <a:lvl7pPr>
              <a:defRPr sz="2400" b="1">
                <a:solidFill>
                  <a:srgbClr val="167B62"/>
                </a:solidFill>
                <a:latin typeface="Arial"/>
                <a:ea typeface="Arial"/>
                <a:cs typeface="Arial"/>
              </a:defRPr>
            </a:lvl7pPr>
            <a:lvl8pPr>
              <a:defRPr sz="2400" b="1">
                <a:solidFill>
                  <a:srgbClr val="167B62"/>
                </a:solidFill>
                <a:latin typeface="Arial"/>
                <a:ea typeface="Arial"/>
                <a:cs typeface="Arial"/>
              </a:defRPr>
            </a:lvl8pPr>
            <a:lvl9pPr>
              <a:defRPr sz="2400" b="1">
                <a:solidFill>
                  <a:srgbClr val="167B62"/>
                </a:solidFill>
                <a:latin typeface="Arial"/>
                <a:ea typeface="Arial"/>
                <a:cs typeface="Arial"/>
              </a:defRPr>
            </a:lvl9pPr>
          </a:lstStyle>
          <a:p xmlns:a="http://schemas.openxmlformats.org/drawingml/2006/main">
            <a:pPr>
              <a:defRPr sz="2400" b="1">
                <a:solidFill>
                  <a:srgbClr val="167B62"/>
                </a:solidFill>
                <a:latin typeface="Arial"/>
                <a:ea typeface="Arial"/>
                <a:cs typeface="Arial"/>
              </a:defRPr>
            </a:pPr>
            <a:r>
              <a:rPr sz="2400" b="1">
                <a:solidFill>
                  <a:srgbClr val="167B62"/>
                </a:solidFill>
                <a:latin typeface="Arial"/>
                <a:ea typeface="Arial"/>
                <a:cs typeface="Arial"/>
              </a:rPr>
              <a:t>Questions</a:t>
            </a:r>
          </a:p>
        </p:txBody>
      </p:sp>
    </p:spTree>
    <p:extLst>
      <p:ext uri="{BB962C8B-B14F-4D97-AF65-F5344CB8AC3E}">
        <p14:creationId xmlns:p14="http://schemas.microsoft.com/office/powerpoint/2010/main" val="610015779"/>
      </p:ext>
    </p:extLst>
  </p:cSld>
</p:sld>
</file>

<file path=ppt/slides/slide16.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650F0CF-44A0-4E14-AFA7-7F02DA90E8D2}"/>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63B35"/>
                </a:solidFill>
                <a:latin typeface="Arial"/>
                <a:ea typeface="Arial"/>
                <a:cs typeface="Arial"/>
              </a:defRPr>
            </a:defPPr>
            <a:lvl1pPr>
              <a:defRPr sz="3300" b="1">
                <a:solidFill>
                  <a:srgbClr val="163B35"/>
                </a:solidFill>
                <a:latin typeface="Arial"/>
                <a:ea typeface="Arial"/>
                <a:cs typeface="Arial"/>
              </a:defRPr>
            </a:lvl1pPr>
            <a:lvl2pPr>
              <a:defRPr sz="3300" b="1">
                <a:solidFill>
                  <a:srgbClr val="163B35"/>
                </a:solidFill>
                <a:latin typeface="Arial"/>
                <a:ea typeface="Arial"/>
                <a:cs typeface="Arial"/>
              </a:defRPr>
            </a:lvl2pPr>
            <a:lvl3pPr>
              <a:defRPr sz="3300" b="1">
                <a:solidFill>
                  <a:srgbClr val="163B35"/>
                </a:solidFill>
                <a:latin typeface="Arial"/>
                <a:ea typeface="Arial"/>
                <a:cs typeface="Arial"/>
              </a:defRPr>
            </a:lvl3pPr>
            <a:lvl4pPr>
              <a:defRPr sz="3300" b="1">
                <a:solidFill>
                  <a:srgbClr val="163B35"/>
                </a:solidFill>
                <a:latin typeface="Arial"/>
                <a:ea typeface="Arial"/>
                <a:cs typeface="Arial"/>
              </a:defRPr>
            </a:lvl4pPr>
            <a:lvl5pPr>
              <a:defRPr sz="3300" b="1">
                <a:solidFill>
                  <a:srgbClr val="163B35"/>
                </a:solidFill>
                <a:latin typeface="Arial"/>
                <a:ea typeface="Arial"/>
                <a:cs typeface="Arial"/>
              </a:defRPr>
            </a:lvl5pPr>
            <a:lvl6pPr>
              <a:defRPr sz="3300" b="1">
                <a:solidFill>
                  <a:srgbClr val="163B35"/>
                </a:solidFill>
                <a:latin typeface="Arial"/>
                <a:ea typeface="Arial"/>
                <a:cs typeface="Arial"/>
              </a:defRPr>
            </a:lvl6pPr>
            <a:lvl7pPr>
              <a:defRPr sz="3300" b="1">
                <a:solidFill>
                  <a:srgbClr val="163B35"/>
                </a:solidFill>
                <a:latin typeface="Arial"/>
                <a:ea typeface="Arial"/>
                <a:cs typeface="Arial"/>
              </a:defRPr>
            </a:lvl7pPr>
            <a:lvl8pPr>
              <a:defRPr sz="3300" b="1">
                <a:solidFill>
                  <a:srgbClr val="163B35"/>
                </a:solidFill>
                <a:latin typeface="Arial"/>
                <a:ea typeface="Arial"/>
                <a:cs typeface="Arial"/>
              </a:defRPr>
            </a:lvl8pPr>
            <a:lvl9pPr>
              <a:defRPr sz="3300" b="1">
                <a:solidFill>
                  <a:srgbClr val="163B35"/>
                </a:solidFill>
                <a:latin typeface="Arial"/>
                <a:ea typeface="Arial"/>
                <a:cs typeface="Arial"/>
              </a:defRPr>
            </a:lvl9pPr>
          </a:lstStyle>
          <a:p xmlns:a="http://schemas.openxmlformats.org/drawingml/2006/main">
            <a:pPr>
              <a:defRPr sz="3300" b="1">
                <a:solidFill>
                  <a:srgbClr val="163B35"/>
                </a:solidFill>
                <a:latin typeface="Arial"/>
                <a:ea typeface="Arial"/>
                <a:cs typeface="Arial"/>
              </a:defRPr>
            </a:pPr>
            <a:r>
              <a:rPr sz="3300" b="1">
                <a:solidFill>
                  <a:srgbClr val="163B35"/>
                </a:solidFill>
                <a:latin typeface="Arial"/>
                <a:ea typeface="Arial"/>
                <a:cs typeface="Arial"/>
              </a:rPr>
              <a:t>Backup: the selected SVM pipeline</a:t>
            </a:r>
          </a:p>
        </p:txBody>
      </p:sp>
      <p:sp>
        <p:nvSpPr>
          <p:cNvPr id="2" name="">
            <a:extLst xmlns:a="http://schemas.openxmlformats.org/drawingml/2006/main">
              <a:ext uri="{FF2B5EF4-FFF2-40B4-BE49-F238E27FC236}">
                <a16:creationId xmlns:a16="http://schemas.microsoft.com/office/drawing/2014/main" id="{AFC7982C-76CD-4E6E-9EDF-4452F8CF2744}"/>
              </a:ext>
            </a:extLst>
          </p:cNvPr>
          <p:cNvSpPr>
            <a:spLocks xmlns:a="http://schemas.openxmlformats.org/drawingml/2006/main" noGrp="1"/>
          </p:cNvSpPr>
          <p:nvPr/>
        </p:nvSpPr>
        <p:spPr>
          <a:xfrm xmlns:a="http://schemas.openxmlformats.org/drawingml/2006/main">
            <a:off x="11068050" y="633412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36C66"/>
                </a:solidFill>
                <a:latin typeface="Arial"/>
                <a:ea typeface="Arial"/>
                <a:cs typeface="Arial"/>
              </a:defRPr>
            </a:defPPr>
            <a:lvl1pPr>
              <a:defRPr sz="1350" b="0">
                <a:solidFill>
                  <a:srgbClr val="536C66"/>
                </a:solidFill>
                <a:latin typeface="Arial"/>
                <a:ea typeface="Arial"/>
                <a:cs typeface="Arial"/>
              </a:defRPr>
            </a:lvl1pPr>
            <a:lvl2pPr>
              <a:defRPr sz="1350" b="0">
                <a:solidFill>
                  <a:srgbClr val="536C66"/>
                </a:solidFill>
                <a:latin typeface="Arial"/>
                <a:ea typeface="Arial"/>
                <a:cs typeface="Arial"/>
              </a:defRPr>
            </a:lvl2pPr>
            <a:lvl3pPr>
              <a:defRPr sz="1350" b="0">
                <a:solidFill>
                  <a:srgbClr val="536C66"/>
                </a:solidFill>
                <a:latin typeface="Arial"/>
                <a:ea typeface="Arial"/>
                <a:cs typeface="Arial"/>
              </a:defRPr>
            </a:lvl3pPr>
            <a:lvl4pPr>
              <a:defRPr sz="1350" b="0">
                <a:solidFill>
                  <a:srgbClr val="536C66"/>
                </a:solidFill>
                <a:latin typeface="Arial"/>
                <a:ea typeface="Arial"/>
                <a:cs typeface="Arial"/>
              </a:defRPr>
            </a:lvl4pPr>
            <a:lvl5pPr>
              <a:defRPr sz="1350" b="0">
                <a:solidFill>
                  <a:srgbClr val="536C66"/>
                </a:solidFill>
                <a:latin typeface="Arial"/>
                <a:ea typeface="Arial"/>
                <a:cs typeface="Arial"/>
              </a:defRPr>
            </a:lvl5pPr>
            <a:lvl6pPr>
              <a:defRPr sz="1350" b="0">
                <a:solidFill>
                  <a:srgbClr val="536C66"/>
                </a:solidFill>
                <a:latin typeface="Arial"/>
                <a:ea typeface="Arial"/>
                <a:cs typeface="Arial"/>
              </a:defRPr>
            </a:lvl6pPr>
            <a:lvl7pPr>
              <a:defRPr sz="1350" b="0">
                <a:solidFill>
                  <a:srgbClr val="536C66"/>
                </a:solidFill>
                <a:latin typeface="Arial"/>
                <a:ea typeface="Arial"/>
                <a:cs typeface="Arial"/>
              </a:defRPr>
            </a:lvl7pPr>
            <a:lvl8pPr>
              <a:defRPr sz="1350" b="0">
                <a:solidFill>
                  <a:srgbClr val="536C66"/>
                </a:solidFill>
                <a:latin typeface="Arial"/>
                <a:ea typeface="Arial"/>
                <a:cs typeface="Arial"/>
              </a:defRPr>
            </a:lvl8pPr>
            <a:lvl9pPr>
              <a:defRPr sz="1350" b="0">
                <a:solidFill>
                  <a:srgbClr val="536C66"/>
                </a:solidFill>
                <a:latin typeface="Arial"/>
                <a:ea typeface="Arial"/>
                <a:cs typeface="Arial"/>
              </a:defRPr>
            </a:lvl9pPr>
          </a:lstStyle>
          <a:p xmlns:a="http://schemas.openxmlformats.org/drawingml/2006/main">
            <a:pPr>
              <a:defRPr sz="1350" b="0">
                <a:solidFill>
                  <a:srgbClr val="536C66"/>
                </a:solidFill>
                <a:latin typeface="Arial"/>
                <a:ea typeface="Arial"/>
                <a:cs typeface="Arial"/>
              </a:defRPr>
            </a:pPr>
            <a:r>
              <a:rPr sz="1350" b="0">
                <a:solidFill>
                  <a:srgbClr val="536C66"/>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0F1A2F92-CDDE-40EE-A608-0956F229FBC1}"/>
              </a:ext>
            </a:extLst>
          </p:cNvPr>
          <p:cNvSpPr>
            <a:spLocks xmlns:a="http://schemas.openxmlformats.org/drawingml/2006/main" noGrp="1"/>
          </p:cNvSpPr>
          <p:nvPr/>
        </p:nvSpPr>
        <p:spPr>
          <a:xfrm xmlns:a="http://schemas.openxmlformats.org/drawingml/2006/main">
            <a:off x="609600" y="1809750"/>
            <a:ext cx="1081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163B35"/>
                </a:solidFill>
                <a:latin typeface="Arial"/>
                <a:ea typeface="Arial"/>
                <a:cs typeface="Arial"/>
              </a:defRPr>
            </a:defPPr>
            <a:lvl1pPr>
              <a:defRPr sz="2325" b="0">
                <a:solidFill>
                  <a:srgbClr val="163B35"/>
                </a:solidFill>
                <a:latin typeface="Arial"/>
                <a:ea typeface="Arial"/>
                <a:cs typeface="Arial"/>
              </a:defRPr>
            </a:lvl1pPr>
            <a:lvl2pPr>
              <a:defRPr sz="2325" b="0">
                <a:solidFill>
                  <a:srgbClr val="163B35"/>
                </a:solidFill>
                <a:latin typeface="Arial"/>
                <a:ea typeface="Arial"/>
                <a:cs typeface="Arial"/>
              </a:defRPr>
            </a:lvl2pPr>
            <a:lvl3pPr>
              <a:defRPr sz="2325" b="0">
                <a:solidFill>
                  <a:srgbClr val="163B35"/>
                </a:solidFill>
                <a:latin typeface="Arial"/>
                <a:ea typeface="Arial"/>
                <a:cs typeface="Arial"/>
              </a:defRPr>
            </a:lvl3pPr>
            <a:lvl4pPr>
              <a:defRPr sz="2325" b="0">
                <a:solidFill>
                  <a:srgbClr val="163B35"/>
                </a:solidFill>
                <a:latin typeface="Arial"/>
                <a:ea typeface="Arial"/>
                <a:cs typeface="Arial"/>
              </a:defRPr>
            </a:lvl4pPr>
            <a:lvl5pPr>
              <a:defRPr sz="2325" b="0">
                <a:solidFill>
                  <a:srgbClr val="163B35"/>
                </a:solidFill>
                <a:latin typeface="Arial"/>
                <a:ea typeface="Arial"/>
                <a:cs typeface="Arial"/>
              </a:defRPr>
            </a:lvl5pPr>
            <a:lvl6pPr>
              <a:defRPr sz="2325" b="0">
                <a:solidFill>
                  <a:srgbClr val="163B35"/>
                </a:solidFill>
                <a:latin typeface="Arial"/>
                <a:ea typeface="Arial"/>
                <a:cs typeface="Arial"/>
              </a:defRPr>
            </a:lvl6pPr>
            <a:lvl7pPr>
              <a:defRPr sz="2325" b="0">
                <a:solidFill>
                  <a:srgbClr val="163B35"/>
                </a:solidFill>
                <a:latin typeface="Arial"/>
                <a:ea typeface="Arial"/>
                <a:cs typeface="Arial"/>
              </a:defRPr>
            </a:lvl7pPr>
            <a:lvl8pPr>
              <a:defRPr sz="2325" b="0">
                <a:solidFill>
                  <a:srgbClr val="163B35"/>
                </a:solidFill>
                <a:latin typeface="Arial"/>
                <a:ea typeface="Arial"/>
                <a:cs typeface="Arial"/>
              </a:defRPr>
            </a:lvl8pPr>
            <a:lvl9pPr>
              <a:defRPr sz="2325" b="0">
                <a:solidFill>
                  <a:srgbClr val="163B35"/>
                </a:solidFill>
                <a:latin typeface="Arial"/>
                <a:ea typeface="Arial"/>
                <a:cs typeface="Arial"/>
              </a:defRPr>
            </a:lvl9pPr>
          </a:lstStyle>
          <a:p xmlns:a="http://schemas.openxmlformats.org/drawingml/2006/main">
            <a:pPr>
              <a:defRPr sz="2325" b="0">
                <a:solidFill>
                  <a:srgbClr val="163B35"/>
                </a:solidFill>
                <a:latin typeface="Arial"/>
                <a:ea typeface="Arial"/>
                <a:cs typeface="Arial"/>
              </a:defRPr>
            </a:pPr>
            <a:r>
              <a:rPr sz="2325" b="0">
                <a:solidFill>
                  <a:srgbClr val="163B35"/>
                </a:solidFill>
                <a:latin typeface="Arial"/>
                <a:ea typeface="Arial"/>
                <a:cs typeface="Arial"/>
              </a:rPr>
              <a:t>2,760 inputs with 1,608 columns selected inside the pipeline</a:t>
            </a:r>
          </a:p>
        </p:txBody>
      </p:sp>
      <p:sp>
        <p:nvSpPr>
          <p:cNvPr id="4" name="">
            <a:extLst xmlns:a="http://schemas.openxmlformats.org/drawingml/2006/main">
              <a:ext uri="{FF2B5EF4-FFF2-40B4-BE49-F238E27FC236}">
                <a16:creationId xmlns:a16="http://schemas.microsoft.com/office/drawing/2014/main" id="{6AFF6681-F06E-4918-94C0-25787165052C}"/>
              </a:ext>
            </a:extLst>
          </p:cNvPr>
          <p:cNvSpPr>
            <a:spLocks xmlns:a="http://schemas.openxmlformats.org/drawingml/2006/main" noGrp="1"/>
          </p:cNvSpPr>
          <p:nvPr/>
        </p:nvSpPr>
        <p:spPr>
          <a:xfrm xmlns:a="http://schemas.openxmlformats.org/drawingml/2006/main">
            <a:off x="609600" y="2667000"/>
            <a:ext cx="1081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163B35"/>
                </a:solidFill>
                <a:latin typeface="Arial"/>
                <a:ea typeface="Arial"/>
                <a:cs typeface="Arial"/>
              </a:defRPr>
            </a:defPPr>
            <a:lvl1pPr>
              <a:defRPr sz="2325" b="0">
                <a:solidFill>
                  <a:srgbClr val="163B35"/>
                </a:solidFill>
                <a:latin typeface="Arial"/>
                <a:ea typeface="Arial"/>
                <a:cs typeface="Arial"/>
              </a:defRPr>
            </a:lvl1pPr>
            <a:lvl2pPr>
              <a:defRPr sz="2325" b="0">
                <a:solidFill>
                  <a:srgbClr val="163B35"/>
                </a:solidFill>
                <a:latin typeface="Arial"/>
                <a:ea typeface="Arial"/>
                <a:cs typeface="Arial"/>
              </a:defRPr>
            </a:lvl2pPr>
            <a:lvl3pPr>
              <a:defRPr sz="2325" b="0">
                <a:solidFill>
                  <a:srgbClr val="163B35"/>
                </a:solidFill>
                <a:latin typeface="Arial"/>
                <a:ea typeface="Arial"/>
                <a:cs typeface="Arial"/>
              </a:defRPr>
            </a:lvl3pPr>
            <a:lvl4pPr>
              <a:defRPr sz="2325" b="0">
                <a:solidFill>
                  <a:srgbClr val="163B35"/>
                </a:solidFill>
                <a:latin typeface="Arial"/>
                <a:ea typeface="Arial"/>
                <a:cs typeface="Arial"/>
              </a:defRPr>
            </a:lvl4pPr>
            <a:lvl5pPr>
              <a:defRPr sz="2325" b="0">
                <a:solidFill>
                  <a:srgbClr val="163B35"/>
                </a:solidFill>
                <a:latin typeface="Arial"/>
                <a:ea typeface="Arial"/>
                <a:cs typeface="Arial"/>
              </a:defRPr>
            </a:lvl5pPr>
            <a:lvl6pPr>
              <a:defRPr sz="2325" b="0">
                <a:solidFill>
                  <a:srgbClr val="163B35"/>
                </a:solidFill>
                <a:latin typeface="Arial"/>
                <a:ea typeface="Arial"/>
                <a:cs typeface="Arial"/>
              </a:defRPr>
            </a:lvl6pPr>
            <a:lvl7pPr>
              <a:defRPr sz="2325" b="0">
                <a:solidFill>
                  <a:srgbClr val="163B35"/>
                </a:solidFill>
                <a:latin typeface="Arial"/>
                <a:ea typeface="Arial"/>
                <a:cs typeface="Arial"/>
              </a:defRPr>
            </a:lvl7pPr>
            <a:lvl8pPr>
              <a:defRPr sz="2325" b="0">
                <a:solidFill>
                  <a:srgbClr val="163B35"/>
                </a:solidFill>
                <a:latin typeface="Arial"/>
                <a:ea typeface="Arial"/>
                <a:cs typeface="Arial"/>
              </a:defRPr>
            </a:lvl8pPr>
            <a:lvl9pPr>
              <a:defRPr sz="2325" b="0">
                <a:solidFill>
                  <a:srgbClr val="163B35"/>
                </a:solidFill>
                <a:latin typeface="Arial"/>
                <a:ea typeface="Arial"/>
                <a:cs typeface="Arial"/>
              </a:defRPr>
            </a:lvl9pPr>
          </a:lstStyle>
          <a:p xmlns:a="http://schemas.openxmlformats.org/drawingml/2006/main">
            <a:pPr>
              <a:defRPr sz="2325" b="0">
                <a:solidFill>
                  <a:srgbClr val="163B35"/>
                </a:solidFill>
                <a:latin typeface="Arial"/>
                <a:ea typeface="Arial"/>
                <a:cs typeface="Arial"/>
              </a:defRPr>
            </a:pPr>
            <a:r>
              <a:rPr sz="2325" b="0">
                <a:solidFill>
                  <a:srgbClr val="163B35"/>
                </a:solidFill>
                <a:latin typeface="Arial"/>
                <a:ea typeface="Arial"/>
                <a:cs typeface="Arial"/>
              </a:rPr>
              <a:t>Elementwise square root, then normalization to unit L2 norm</a:t>
            </a:r>
          </a:p>
        </p:txBody>
      </p:sp>
      <p:sp>
        <p:nvSpPr>
          <p:cNvPr id="5" name="">
            <a:extLst xmlns:a="http://schemas.openxmlformats.org/drawingml/2006/main">
              <a:ext uri="{FF2B5EF4-FFF2-40B4-BE49-F238E27FC236}">
                <a16:creationId xmlns:a16="http://schemas.microsoft.com/office/drawing/2014/main" id="{EB2E2ED2-1C8F-47FD-B8FB-29DE2BCD374D}"/>
              </a:ext>
            </a:extLst>
          </p:cNvPr>
          <p:cNvSpPr>
            <a:spLocks xmlns:a="http://schemas.openxmlformats.org/drawingml/2006/main" noGrp="1"/>
          </p:cNvSpPr>
          <p:nvPr/>
        </p:nvSpPr>
        <p:spPr>
          <a:xfrm xmlns:a="http://schemas.openxmlformats.org/drawingml/2006/main">
            <a:off x="609600" y="3524250"/>
            <a:ext cx="1081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163B35"/>
                </a:solidFill>
                <a:latin typeface="Arial"/>
                <a:ea typeface="Arial"/>
                <a:cs typeface="Arial"/>
              </a:defRPr>
            </a:defPPr>
            <a:lvl1pPr>
              <a:defRPr sz="2325" b="0">
                <a:solidFill>
                  <a:srgbClr val="163B35"/>
                </a:solidFill>
                <a:latin typeface="Arial"/>
                <a:ea typeface="Arial"/>
                <a:cs typeface="Arial"/>
              </a:defRPr>
            </a:lvl1pPr>
            <a:lvl2pPr>
              <a:defRPr sz="2325" b="0">
                <a:solidFill>
                  <a:srgbClr val="163B35"/>
                </a:solidFill>
                <a:latin typeface="Arial"/>
                <a:ea typeface="Arial"/>
                <a:cs typeface="Arial"/>
              </a:defRPr>
            </a:lvl2pPr>
            <a:lvl3pPr>
              <a:defRPr sz="2325" b="0">
                <a:solidFill>
                  <a:srgbClr val="163B35"/>
                </a:solidFill>
                <a:latin typeface="Arial"/>
                <a:ea typeface="Arial"/>
                <a:cs typeface="Arial"/>
              </a:defRPr>
            </a:lvl3pPr>
            <a:lvl4pPr>
              <a:defRPr sz="2325" b="0">
                <a:solidFill>
                  <a:srgbClr val="163B35"/>
                </a:solidFill>
                <a:latin typeface="Arial"/>
                <a:ea typeface="Arial"/>
                <a:cs typeface="Arial"/>
              </a:defRPr>
            </a:lvl4pPr>
            <a:lvl5pPr>
              <a:defRPr sz="2325" b="0">
                <a:solidFill>
                  <a:srgbClr val="163B35"/>
                </a:solidFill>
                <a:latin typeface="Arial"/>
                <a:ea typeface="Arial"/>
                <a:cs typeface="Arial"/>
              </a:defRPr>
            </a:lvl5pPr>
            <a:lvl6pPr>
              <a:defRPr sz="2325" b="0">
                <a:solidFill>
                  <a:srgbClr val="163B35"/>
                </a:solidFill>
                <a:latin typeface="Arial"/>
                <a:ea typeface="Arial"/>
                <a:cs typeface="Arial"/>
              </a:defRPr>
            </a:lvl6pPr>
            <a:lvl7pPr>
              <a:defRPr sz="2325" b="0">
                <a:solidFill>
                  <a:srgbClr val="163B35"/>
                </a:solidFill>
                <a:latin typeface="Arial"/>
                <a:ea typeface="Arial"/>
                <a:cs typeface="Arial"/>
              </a:defRPr>
            </a:lvl7pPr>
            <a:lvl8pPr>
              <a:defRPr sz="2325" b="0">
                <a:solidFill>
                  <a:srgbClr val="163B35"/>
                </a:solidFill>
                <a:latin typeface="Arial"/>
                <a:ea typeface="Arial"/>
                <a:cs typeface="Arial"/>
              </a:defRPr>
            </a:lvl8pPr>
            <a:lvl9pPr>
              <a:defRPr sz="2325" b="0">
                <a:solidFill>
                  <a:srgbClr val="163B35"/>
                </a:solidFill>
                <a:latin typeface="Arial"/>
                <a:ea typeface="Arial"/>
                <a:cs typeface="Arial"/>
              </a:defRPr>
            </a:lvl9pPr>
          </a:lstStyle>
          <a:p xmlns:a="http://schemas.openxmlformats.org/drawingml/2006/main">
            <a:pPr>
              <a:defRPr sz="2325" b="0">
                <a:solidFill>
                  <a:srgbClr val="163B35"/>
                </a:solidFill>
                <a:latin typeface="Arial"/>
                <a:ea typeface="Arial"/>
                <a:cs typeface="Arial"/>
              </a:defRPr>
            </a:pPr>
            <a:r>
              <a:rPr sz="2325" b="0">
                <a:solidFill>
                  <a:srgbClr val="163B35"/>
                </a:solidFill>
                <a:latin typeface="Arial"/>
                <a:ea typeface="Arial"/>
                <a:cs typeface="Arial"/>
              </a:rPr>
              <a:t>K(x, z) = exp(−γ ‖x − z‖²)</a:t>
            </a:r>
          </a:p>
        </p:txBody>
      </p:sp>
      <p:sp>
        <p:nvSpPr>
          <p:cNvPr id="6" name="">
            <a:extLst xmlns:a="http://schemas.openxmlformats.org/drawingml/2006/main">
              <a:ext uri="{FF2B5EF4-FFF2-40B4-BE49-F238E27FC236}">
                <a16:creationId xmlns:a16="http://schemas.microsoft.com/office/drawing/2014/main" id="{7A1DC9DD-5EAE-4D3A-B7C2-7D97DD5D8E5B}"/>
              </a:ext>
            </a:extLst>
          </p:cNvPr>
          <p:cNvSpPr>
            <a:spLocks xmlns:a="http://schemas.openxmlformats.org/drawingml/2006/main" noGrp="1"/>
          </p:cNvSpPr>
          <p:nvPr/>
        </p:nvSpPr>
        <p:spPr>
          <a:xfrm xmlns:a="http://schemas.openxmlformats.org/drawingml/2006/main">
            <a:off x="609600" y="4381500"/>
            <a:ext cx="1081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163B35"/>
                </a:solidFill>
                <a:latin typeface="Arial"/>
                <a:ea typeface="Arial"/>
                <a:cs typeface="Arial"/>
              </a:defRPr>
            </a:defPPr>
            <a:lvl1pPr>
              <a:defRPr sz="2325" b="0">
                <a:solidFill>
                  <a:srgbClr val="163B35"/>
                </a:solidFill>
                <a:latin typeface="Arial"/>
                <a:ea typeface="Arial"/>
                <a:cs typeface="Arial"/>
              </a:defRPr>
            </a:lvl1pPr>
            <a:lvl2pPr>
              <a:defRPr sz="2325" b="0">
                <a:solidFill>
                  <a:srgbClr val="163B35"/>
                </a:solidFill>
                <a:latin typeface="Arial"/>
                <a:ea typeface="Arial"/>
                <a:cs typeface="Arial"/>
              </a:defRPr>
            </a:lvl2pPr>
            <a:lvl3pPr>
              <a:defRPr sz="2325" b="0">
                <a:solidFill>
                  <a:srgbClr val="163B35"/>
                </a:solidFill>
                <a:latin typeface="Arial"/>
                <a:ea typeface="Arial"/>
                <a:cs typeface="Arial"/>
              </a:defRPr>
            </a:lvl3pPr>
            <a:lvl4pPr>
              <a:defRPr sz="2325" b="0">
                <a:solidFill>
                  <a:srgbClr val="163B35"/>
                </a:solidFill>
                <a:latin typeface="Arial"/>
                <a:ea typeface="Arial"/>
                <a:cs typeface="Arial"/>
              </a:defRPr>
            </a:lvl4pPr>
            <a:lvl5pPr>
              <a:defRPr sz="2325" b="0">
                <a:solidFill>
                  <a:srgbClr val="163B35"/>
                </a:solidFill>
                <a:latin typeface="Arial"/>
                <a:ea typeface="Arial"/>
                <a:cs typeface="Arial"/>
              </a:defRPr>
            </a:lvl5pPr>
            <a:lvl6pPr>
              <a:defRPr sz="2325" b="0">
                <a:solidFill>
                  <a:srgbClr val="163B35"/>
                </a:solidFill>
                <a:latin typeface="Arial"/>
                <a:ea typeface="Arial"/>
                <a:cs typeface="Arial"/>
              </a:defRPr>
            </a:lvl6pPr>
            <a:lvl7pPr>
              <a:defRPr sz="2325" b="0">
                <a:solidFill>
                  <a:srgbClr val="163B35"/>
                </a:solidFill>
                <a:latin typeface="Arial"/>
                <a:ea typeface="Arial"/>
                <a:cs typeface="Arial"/>
              </a:defRPr>
            </a:lvl7pPr>
            <a:lvl8pPr>
              <a:defRPr sz="2325" b="0">
                <a:solidFill>
                  <a:srgbClr val="163B35"/>
                </a:solidFill>
                <a:latin typeface="Arial"/>
                <a:ea typeface="Arial"/>
                <a:cs typeface="Arial"/>
              </a:defRPr>
            </a:lvl8pPr>
            <a:lvl9pPr>
              <a:defRPr sz="2325" b="0">
                <a:solidFill>
                  <a:srgbClr val="163B35"/>
                </a:solidFill>
                <a:latin typeface="Arial"/>
                <a:ea typeface="Arial"/>
                <a:cs typeface="Arial"/>
              </a:defRPr>
            </a:lvl9pPr>
          </a:lstStyle>
          <a:p xmlns:a="http://schemas.openxmlformats.org/drawingml/2006/main">
            <a:pPr>
              <a:defRPr sz="2325" b="0">
                <a:solidFill>
                  <a:srgbClr val="163B35"/>
                </a:solidFill>
                <a:latin typeface="Arial"/>
                <a:ea typeface="Arial"/>
                <a:cs typeface="Arial"/>
              </a:defRPr>
            </a:pPr>
            <a:r>
              <a:rPr sz="2325" b="0">
                <a:solidFill>
                  <a:srgbClr val="163B35"/>
                </a:solidFill>
                <a:latin typeface="Arial"/>
                <a:ea typeface="Arial"/>
                <a:cs typeface="Arial"/>
              </a:rPr>
              <a:t>C = 10, γ = 10, class weight = none</a:t>
            </a:r>
          </a:p>
        </p:txBody>
      </p:sp>
    </p:spTree>
    <p:extLst>
      <p:ext uri="{BB962C8B-B14F-4D97-AF65-F5344CB8AC3E}">
        <p14:creationId xmlns:p14="http://schemas.microsoft.com/office/powerpoint/2010/main" val="1357848894"/>
      </p:ext>
    </p:extLst>
  </p:cSld>
</p:sld>
</file>

<file path=ppt/slides/slide17.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290BB02-93EE-410D-BB2D-567A5283D3BD}"/>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63B35"/>
                </a:solidFill>
                <a:latin typeface="Arial"/>
                <a:ea typeface="Arial"/>
                <a:cs typeface="Arial"/>
              </a:defRPr>
            </a:defPPr>
            <a:lvl1pPr>
              <a:defRPr sz="3300" b="1">
                <a:solidFill>
                  <a:srgbClr val="163B35"/>
                </a:solidFill>
                <a:latin typeface="Arial"/>
                <a:ea typeface="Arial"/>
                <a:cs typeface="Arial"/>
              </a:defRPr>
            </a:lvl1pPr>
            <a:lvl2pPr>
              <a:defRPr sz="3300" b="1">
                <a:solidFill>
                  <a:srgbClr val="163B35"/>
                </a:solidFill>
                <a:latin typeface="Arial"/>
                <a:ea typeface="Arial"/>
                <a:cs typeface="Arial"/>
              </a:defRPr>
            </a:lvl2pPr>
            <a:lvl3pPr>
              <a:defRPr sz="3300" b="1">
                <a:solidFill>
                  <a:srgbClr val="163B35"/>
                </a:solidFill>
                <a:latin typeface="Arial"/>
                <a:ea typeface="Arial"/>
                <a:cs typeface="Arial"/>
              </a:defRPr>
            </a:lvl3pPr>
            <a:lvl4pPr>
              <a:defRPr sz="3300" b="1">
                <a:solidFill>
                  <a:srgbClr val="163B35"/>
                </a:solidFill>
                <a:latin typeface="Arial"/>
                <a:ea typeface="Arial"/>
                <a:cs typeface="Arial"/>
              </a:defRPr>
            </a:lvl4pPr>
            <a:lvl5pPr>
              <a:defRPr sz="3300" b="1">
                <a:solidFill>
                  <a:srgbClr val="163B35"/>
                </a:solidFill>
                <a:latin typeface="Arial"/>
                <a:ea typeface="Arial"/>
                <a:cs typeface="Arial"/>
              </a:defRPr>
            </a:lvl5pPr>
            <a:lvl6pPr>
              <a:defRPr sz="3300" b="1">
                <a:solidFill>
                  <a:srgbClr val="163B35"/>
                </a:solidFill>
                <a:latin typeface="Arial"/>
                <a:ea typeface="Arial"/>
                <a:cs typeface="Arial"/>
              </a:defRPr>
            </a:lvl6pPr>
            <a:lvl7pPr>
              <a:defRPr sz="3300" b="1">
                <a:solidFill>
                  <a:srgbClr val="163B35"/>
                </a:solidFill>
                <a:latin typeface="Arial"/>
                <a:ea typeface="Arial"/>
                <a:cs typeface="Arial"/>
              </a:defRPr>
            </a:lvl7pPr>
            <a:lvl8pPr>
              <a:defRPr sz="3300" b="1">
                <a:solidFill>
                  <a:srgbClr val="163B35"/>
                </a:solidFill>
                <a:latin typeface="Arial"/>
                <a:ea typeface="Arial"/>
                <a:cs typeface="Arial"/>
              </a:defRPr>
            </a:lvl8pPr>
            <a:lvl9pPr>
              <a:defRPr sz="3300" b="1">
                <a:solidFill>
                  <a:srgbClr val="163B35"/>
                </a:solidFill>
                <a:latin typeface="Arial"/>
                <a:ea typeface="Arial"/>
                <a:cs typeface="Arial"/>
              </a:defRPr>
            </a:lvl9pPr>
          </a:lstStyle>
          <a:p xmlns:a="http://schemas.openxmlformats.org/drawingml/2006/main">
            <a:pPr>
              <a:defRPr sz="3300" b="1">
                <a:solidFill>
                  <a:srgbClr val="163B35"/>
                </a:solidFill>
                <a:latin typeface="Arial"/>
                <a:ea typeface="Arial"/>
                <a:cs typeface="Arial"/>
              </a:defRPr>
            </a:pPr>
            <a:r>
              <a:rPr sz="3300" b="1">
                <a:solidFill>
                  <a:srgbClr val="163B35"/>
                </a:solidFill>
                <a:latin typeface="Arial"/>
                <a:ea typeface="Arial"/>
                <a:cs typeface="Arial"/>
              </a:rPr>
              <a:t>Backup: calibration is still imperfect</a:t>
            </a:r>
          </a:p>
        </p:txBody>
      </p:sp>
      <p:sp>
        <p:nvSpPr>
          <p:cNvPr id="2" name="">
            <a:extLst xmlns:a="http://schemas.openxmlformats.org/drawingml/2006/main">
              <a:ext uri="{FF2B5EF4-FFF2-40B4-BE49-F238E27FC236}">
                <a16:creationId xmlns:a16="http://schemas.microsoft.com/office/drawing/2014/main" id="{80C57495-5162-43AC-8186-9C021FEC56F9}"/>
              </a:ext>
            </a:extLst>
          </p:cNvPr>
          <p:cNvSpPr>
            <a:spLocks xmlns:a="http://schemas.openxmlformats.org/drawingml/2006/main" noGrp="1"/>
          </p:cNvSpPr>
          <p:nvPr/>
        </p:nvSpPr>
        <p:spPr>
          <a:xfrm xmlns:a="http://schemas.openxmlformats.org/drawingml/2006/main">
            <a:off x="11068050" y="633412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36C66"/>
                </a:solidFill>
                <a:latin typeface="Arial"/>
                <a:ea typeface="Arial"/>
                <a:cs typeface="Arial"/>
              </a:defRPr>
            </a:defPPr>
            <a:lvl1pPr>
              <a:defRPr sz="1350" b="0">
                <a:solidFill>
                  <a:srgbClr val="536C66"/>
                </a:solidFill>
                <a:latin typeface="Arial"/>
                <a:ea typeface="Arial"/>
                <a:cs typeface="Arial"/>
              </a:defRPr>
            </a:lvl1pPr>
            <a:lvl2pPr>
              <a:defRPr sz="1350" b="0">
                <a:solidFill>
                  <a:srgbClr val="536C66"/>
                </a:solidFill>
                <a:latin typeface="Arial"/>
                <a:ea typeface="Arial"/>
                <a:cs typeface="Arial"/>
              </a:defRPr>
            </a:lvl2pPr>
            <a:lvl3pPr>
              <a:defRPr sz="1350" b="0">
                <a:solidFill>
                  <a:srgbClr val="536C66"/>
                </a:solidFill>
                <a:latin typeface="Arial"/>
                <a:ea typeface="Arial"/>
                <a:cs typeface="Arial"/>
              </a:defRPr>
            </a:lvl3pPr>
            <a:lvl4pPr>
              <a:defRPr sz="1350" b="0">
                <a:solidFill>
                  <a:srgbClr val="536C66"/>
                </a:solidFill>
                <a:latin typeface="Arial"/>
                <a:ea typeface="Arial"/>
                <a:cs typeface="Arial"/>
              </a:defRPr>
            </a:lvl4pPr>
            <a:lvl5pPr>
              <a:defRPr sz="1350" b="0">
                <a:solidFill>
                  <a:srgbClr val="536C66"/>
                </a:solidFill>
                <a:latin typeface="Arial"/>
                <a:ea typeface="Arial"/>
                <a:cs typeface="Arial"/>
              </a:defRPr>
            </a:lvl5pPr>
            <a:lvl6pPr>
              <a:defRPr sz="1350" b="0">
                <a:solidFill>
                  <a:srgbClr val="536C66"/>
                </a:solidFill>
                <a:latin typeface="Arial"/>
                <a:ea typeface="Arial"/>
                <a:cs typeface="Arial"/>
              </a:defRPr>
            </a:lvl6pPr>
            <a:lvl7pPr>
              <a:defRPr sz="1350" b="0">
                <a:solidFill>
                  <a:srgbClr val="536C66"/>
                </a:solidFill>
                <a:latin typeface="Arial"/>
                <a:ea typeface="Arial"/>
                <a:cs typeface="Arial"/>
              </a:defRPr>
            </a:lvl7pPr>
            <a:lvl8pPr>
              <a:defRPr sz="1350" b="0">
                <a:solidFill>
                  <a:srgbClr val="536C66"/>
                </a:solidFill>
                <a:latin typeface="Arial"/>
                <a:ea typeface="Arial"/>
                <a:cs typeface="Arial"/>
              </a:defRPr>
            </a:lvl8pPr>
            <a:lvl9pPr>
              <a:defRPr sz="1350" b="0">
                <a:solidFill>
                  <a:srgbClr val="536C66"/>
                </a:solidFill>
                <a:latin typeface="Arial"/>
                <a:ea typeface="Arial"/>
                <a:cs typeface="Arial"/>
              </a:defRPr>
            </a:lvl9pPr>
          </a:lstStyle>
          <a:p xmlns:a="http://schemas.openxmlformats.org/drawingml/2006/main">
            <a:pPr>
              <a:defRPr sz="1350" b="0">
                <a:solidFill>
                  <a:srgbClr val="536C66"/>
                </a:solidFill>
                <a:latin typeface="Arial"/>
                <a:ea typeface="Arial"/>
                <a:cs typeface="Arial"/>
              </a:defRPr>
            </a:pPr>
            <a:r>
              <a:rPr sz="1350" b="0">
                <a:solidFill>
                  <a:srgbClr val="536C66"/>
                </a:solidFill>
                <a:latin typeface="Arial"/>
                <a:ea typeface="Arial"/>
                <a:cs typeface="Arial"/>
              </a:rPr>
              <a:t>17</a:t>
            </a:r>
          </a:p>
        </p:txBody>
      </p:sp>
      <p:graphicFrame>
        <p:nvGraphicFramePr>
          <p:cNvPr id="3" name="Chart">
            <a:extLst xmlns:a="http://schemas.openxmlformats.org/drawingml/2006/main">
              <a:ext uri="{FF2B5EF4-FFF2-40B4-BE49-F238E27FC236}">
                <a16:creationId xmlns:a16="http://schemas.microsoft.com/office/drawing/2014/main" id="{E106F4CA-CC1B-4861-B5DE-C41A143113C2}"/>
              </a:ext>
            </a:extLst>
          </p:cNvPr>
          <p:cNvGraphicFramePr/>
          <p:nvPr/>
        </p:nvGraphicFramePr>
        <p:xfrm>
          <a:off xmlns:a="http://schemas.openxmlformats.org/drawingml/2006/main" x="609600" y="1714500"/>
          <a:ext xmlns:a="http://schemas.openxmlformats.org/drawingml/2006/main" cx="7620000" cy="3905250"/>
        </p:xfrm>
        <a:graphic xmlns:a="http://schemas.openxmlformats.org/drawingml/2006/main">
          <a:graphicData uri="http://schemas.openxmlformats.org/drawingml/2006/chart">
            <c:chart xmlns:r="http://schemas.openxmlformats.org/officeDocument/2006/relationships" xmlns:c="http://schemas.openxmlformats.org/drawingml/2006/chart" r:id="Rc4ecb86f283a416d"/>
          </a:graphicData>
        </a:graphic>
      </p:graphicFrame>
      <p:sp>
        <p:nvSpPr>
          <p:cNvPr id="4" name="">
            <a:extLst xmlns:a="http://schemas.openxmlformats.org/drawingml/2006/main">
              <a:ext uri="{FF2B5EF4-FFF2-40B4-BE49-F238E27FC236}">
                <a16:creationId xmlns:a16="http://schemas.microsoft.com/office/drawing/2014/main" id="{3273698F-6D39-45F9-8537-4A4C6BAC9A3F}"/>
              </a:ext>
            </a:extLst>
          </p:cNvPr>
          <p:cNvSpPr>
            <a:spLocks xmlns:a="http://schemas.openxmlformats.org/drawingml/2006/main" noGrp="1"/>
          </p:cNvSpPr>
          <p:nvPr/>
        </p:nvSpPr>
        <p:spPr>
          <a:xfrm xmlns:a="http://schemas.openxmlformats.org/drawingml/2006/main">
            <a:off x="8858250" y="19812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167B62"/>
                </a:solidFill>
                <a:latin typeface="Arial"/>
                <a:ea typeface="Arial"/>
                <a:cs typeface="Arial"/>
              </a:defRPr>
            </a:defPPr>
            <a:lvl1pPr>
              <a:defRPr sz="3600" b="1">
                <a:solidFill>
                  <a:srgbClr val="167B62"/>
                </a:solidFill>
                <a:latin typeface="Arial"/>
                <a:ea typeface="Arial"/>
                <a:cs typeface="Arial"/>
              </a:defRPr>
            </a:lvl1pPr>
            <a:lvl2pPr>
              <a:defRPr sz="3600" b="1">
                <a:solidFill>
                  <a:srgbClr val="167B62"/>
                </a:solidFill>
                <a:latin typeface="Arial"/>
                <a:ea typeface="Arial"/>
                <a:cs typeface="Arial"/>
              </a:defRPr>
            </a:lvl2pPr>
            <a:lvl3pPr>
              <a:defRPr sz="3600" b="1">
                <a:solidFill>
                  <a:srgbClr val="167B62"/>
                </a:solidFill>
                <a:latin typeface="Arial"/>
                <a:ea typeface="Arial"/>
                <a:cs typeface="Arial"/>
              </a:defRPr>
            </a:lvl3pPr>
            <a:lvl4pPr>
              <a:defRPr sz="3600" b="1">
                <a:solidFill>
                  <a:srgbClr val="167B62"/>
                </a:solidFill>
                <a:latin typeface="Arial"/>
                <a:ea typeface="Arial"/>
                <a:cs typeface="Arial"/>
              </a:defRPr>
            </a:lvl4pPr>
            <a:lvl5pPr>
              <a:defRPr sz="3600" b="1">
                <a:solidFill>
                  <a:srgbClr val="167B62"/>
                </a:solidFill>
                <a:latin typeface="Arial"/>
                <a:ea typeface="Arial"/>
                <a:cs typeface="Arial"/>
              </a:defRPr>
            </a:lvl5pPr>
            <a:lvl6pPr>
              <a:defRPr sz="3600" b="1">
                <a:solidFill>
                  <a:srgbClr val="167B62"/>
                </a:solidFill>
                <a:latin typeface="Arial"/>
                <a:ea typeface="Arial"/>
                <a:cs typeface="Arial"/>
              </a:defRPr>
            </a:lvl6pPr>
            <a:lvl7pPr>
              <a:defRPr sz="3600" b="1">
                <a:solidFill>
                  <a:srgbClr val="167B62"/>
                </a:solidFill>
                <a:latin typeface="Arial"/>
                <a:ea typeface="Arial"/>
                <a:cs typeface="Arial"/>
              </a:defRPr>
            </a:lvl7pPr>
            <a:lvl8pPr>
              <a:defRPr sz="3600" b="1">
                <a:solidFill>
                  <a:srgbClr val="167B62"/>
                </a:solidFill>
                <a:latin typeface="Arial"/>
                <a:ea typeface="Arial"/>
                <a:cs typeface="Arial"/>
              </a:defRPr>
            </a:lvl8pPr>
            <a:lvl9pPr>
              <a:defRPr sz="3600" b="1">
                <a:solidFill>
                  <a:srgbClr val="167B62"/>
                </a:solidFill>
                <a:latin typeface="Arial"/>
                <a:ea typeface="Arial"/>
                <a:cs typeface="Arial"/>
              </a:defRPr>
            </a:lvl9pPr>
          </a:lstStyle>
          <a:p xmlns:a="http://schemas.openxmlformats.org/drawingml/2006/main">
            <a:pPr>
              <a:defRPr sz="3600" b="1">
                <a:solidFill>
                  <a:srgbClr val="167B62"/>
                </a:solidFill>
                <a:latin typeface="Arial"/>
                <a:ea typeface="Arial"/>
                <a:cs typeface="Arial"/>
              </a:defRPr>
            </a:pPr>
            <a:r>
              <a:rPr sz="3600" b="1">
                <a:solidFill>
                  <a:srgbClr val="167B62"/>
                </a:solidFill>
                <a:latin typeface="Arial"/>
                <a:ea typeface="Arial"/>
                <a:cs typeface="Arial"/>
              </a:rPr>
              <a:t>0.1325</a:t>
            </a:r>
          </a:p>
        </p:txBody>
      </p:sp>
      <p:sp>
        <p:nvSpPr>
          <p:cNvPr id="5" name="">
            <a:extLst xmlns:a="http://schemas.openxmlformats.org/drawingml/2006/main">
              <a:ext uri="{FF2B5EF4-FFF2-40B4-BE49-F238E27FC236}">
                <a16:creationId xmlns:a16="http://schemas.microsoft.com/office/drawing/2014/main" id="{0A7F0527-D587-424C-9230-459A345EEAB8}"/>
              </a:ext>
            </a:extLst>
          </p:cNvPr>
          <p:cNvSpPr>
            <a:spLocks xmlns:a="http://schemas.openxmlformats.org/drawingml/2006/main" noGrp="1"/>
          </p:cNvSpPr>
          <p:nvPr/>
        </p:nvSpPr>
        <p:spPr>
          <a:xfrm xmlns:a="http://schemas.openxmlformats.org/drawingml/2006/main">
            <a:off x="8858250" y="2667000"/>
            <a:ext cx="257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63B35"/>
                </a:solidFill>
                <a:latin typeface="Arial"/>
                <a:ea typeface="Arial"/>
                <a:cs typeface="Arial"/>
              </a:defRPr>
            </a:defPPr>
            <a:lvl1pPr>
              <a:defRPr sz="1875" b="0">
                <a:solidFill>
                  <a:srgbClr val="163B35"/>
                </a:solidFill>
                <a:latin typeface="Arial"/>
                <a:ea typeface="Arial"/>
                <a:cs typeface="Arial"/>
              </a:defRPr>
            </a:lvl1pPr>
            <a:lvl2pPr>
              <a:defRPr sz="1875" b="0">
                <a:solidFill>
                  <a:srgbClr val="163B35"/>
                </a:solidFill>
                <a:latin typeface="Arial"/>
                <a:ea typeface="Arial"/>
                <a:cs typeface="Arial"/>
              </a:defRPr>
            </a:lvl2pPr>
            <a:lvl3pPr>
              <a:defRPr sz="1875" b="0">
                <a:solidFill>
                  <a:srgbClr val="163B35"/>
                </a:solidFill>
                <a:latin typeface="Arial"/>
                <a:ea typeface="Arial"/>
                <a:cs typeface="Arial"/>
              </a:defRPr>
            </a:lvl3pPr>
            <a:lvl4pPr>
              <a:defRPr sz="1875" b="0">
                <a:solidFill>
                  <a:srgbClr val="163B35"/>
                </a:solidFill>
                <a:latin typeface="Arial"/>
                <a:ea typeface="Arial"/>
                <a:cs typeface="Arial"/>
              </a:defRPr>
            </a:lvl4pPr>
            <a:lvl5pPr>
              <a:defRPr sz="1875" b="0">
                <a:solidFill>
                  <a:srgbClr val="163B35"/>
                </a:solidFill>
                <a:latin typeface="Arial"/>
                <a:ea typeface="Arial"/>
                <a:cs typeface="Arial"/>
              </a:defRPr>
            </a:lvl5pPr>
            <a:lvl6pPr>
              <a:defRPr sz="1875" b="0">
                <a:solidFill>
                  <a:srgbClr val="163B35"/>
                </a:solidFill>
                <a:latin typeface="Arial"/>
                <a:ea typeface="Arial"/>
                <a:cs typeface="Arial"/>
              </a:defRPr>
            </a:lvl6pPr>
            <a:lvl7pPr>
              <a:defRPr sz="1875" b="0">
                <a:solidFill>
                  <a:srgbClr val="163B35"/>
                </a:solidFill>
                <a:latin typeface="Arial"/>
                <a:ea typeface="Arial"/>
                <a:cs typeface="Arial"/>
              </a:defRPr>
            </a:lvl7pPr>
            <a:lvl8pPr>
              <a:defRPr sz="1875" b="0">
                <a:solidFill>
                  <a:srgbClr val="163B35"/>
                </a:solidFill>
                <a:latin typeface="Arial"/>
                <a:ea typeface="Arial"/>
                <a:cs typeface="Arial"/>
              </a:defRPr>
            </a:lvl8pPr>
            <a:lvl9pPr>
              <a:defRPr sz="1875" b="0">
                <a:solidFill>
                  <a:srgbClr val="163B35"/>
                </a:solidFill>
                <a:latin typeface="Arial"/>
                <a:ea typeface="Arial"/>
                <a:cs typeface="Arial"/>
              </a:defRPr>
            </a:lvl9pPr>
          </a:lstStyle>
          <a:p xmlns:a="http://schemas.openxmlformats.org/drawingml/2006/main">
            <a:pPr>
              <a:defRPr sz="1875" b="0">
                <a:solidFill>
                  <a:srgbClr val="163B35"/>
                </a:solidFill>
                <a:latin typeface="Arial"/>
                <a:ea typeface="Arial"/>
                <a:cs typeface="Arial"/>
              </a:defRPr>
            </a:pPr>
            <a:r>
              <a:rPr sz="1875" b="0">
                <a:solidFill>
                  <a:srgbClr val="163B35"/>
                </a:solidFill>
                <a:latin typeface="Arial"/>
                <a:ea typeface="Arial"/>
                <a:cs typeface="Arial"/>
              </a:rPr>
              <a:t>ECE, 10 bins</a:t>
            </a:r>
          </a:p>
        </p:txBody>
      </p:sp>
      <p:sp>
        <p:nvSpPr>
          <p:cNvPr id="6" name="">
            <a:extLst xmlns:a="http://schemas.openxmlformats.org/drawingml/2006/main">
              <a:ext uri="{FF2B5EF4-FFF2-40B4-BE49-F238E27FC236}">
                <a16:creationId xmlns:a16="http://schemas.microsoft.com/office/drawing/2014/main" id="{90F3CA0D-2476-479D-B9E2-B741F06E47B6}"/>
              </a:ext>
            </a:extLst>
          </p:cNvPr>
          <p:cNvSpPr>
            <a:spLocks xmlns:a="http://schemas.openxmlformats.org/drawingml/2006/main" noGrp="1"/>
          </p:cNvSpPr>
          <p:nvPr/>
        </p:nvSpPr>
        <p:spPr>
          <a:xfrm xmlns:a="http://schemas.openxmlformats.org/drawingml/2006/main">
            <a:off x="8858250" y="3381375"/>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167B62"/>
                </a:solidFill>
                <a:latin typeface="Arial"/>
                <a:ea typeface="Arial"/>
                <a:cs typeface="Arial"/>
              </a:defRPr>
            </a:defPPr>
            <a:lvl1pPr>
              <a:defRPr sz="3600" b="1">
                <a:solidFill>
                  <a:srgbClr val="167B62"/>
                </a:solidFill>
                <a:latin typeface="Arial"/>
                <a:ea typeface="Arial"/>
                <a:cs typeface="Arial"/>
              </a:defRPr>
            </a:lvl1pPr>
            <a:lvl2pPr>
              <a:defRPr sz="3600" b="1">
                <a:solidFill>
                  <a:srgbClr val="167B62"/>
                </a:solidFill>
                <a:latin typeface="Arial"/>
                <a:ea typeface="Arial"/>
                <a:cs typeface="Arial"/>
              </a:defRPr>
            </a:lvl2pPr>
            <a:lvl3pPr>
              <a:defRPr sz="3600" b="1">
                <a:solidFill>
                  <a:srgbClr val="167B62"/>
                </a:solidFill>
                <a:latin typeface="Arial"/>
                <a:ea typeface="Arial"/>
                <a:cs typeface="Arial"/>
              </a:defRPr>
            </a:lvl3pPr>
            <a:lvl4pPr>
              <a:defRPr sz="3600" b="1">
                <a:solidFill>
                  <a:srgbClr val="167B62"/>
                </a:solidFill>
                <a:latin typeface="Arial"/>
                <a:ea typeface="Arial"/>
                <a:cs typeface="Arial"/>
              </a:defRPr>
            </a:lvl4pPr>
            <a:lvl5pPr>
              <a:defRPr sz="3600" b="1">
                <a:solidFill>
                  <a:srgbClr val="167B62"/>
                </a:solidFill>
                <a:latin typeface="Arial"/>
                <a:ea typeface="Arial"/>
                <a:cs typeface="Arial"/>
              </a:defRPr>
            </a:lvl5pPr>
            <a:lvl6pPr>
              <a:defRPr sz="3600" b="1">
                <a:solidFill>
                  <a:srgbClr val="167B62"/>
                </a:solidFill>
                <a:latin typeface="Arial"/>
                <a:ea typeface="Arial"/>
                <a:cs typeface="Arial"/>
              </a:defRPr>
            </a:lvl6pPr>
            <a:lvl7pPr>
              <a:defRPr sz="3600" b="1">
                <a:solidFill>
                  <a:srgbClr val="167B62"/>
                </a:solidFill>
                <a:latin typeface="Arial"/>
                <a:ea typeface="Arial"/>
                <a:cs typeface="Arial"/>
              </a:defRPr>
            </a:lvl7pPr>
            <a:lvl8pPr>
              <a:defRPr sz="3600" b="1">
                <a:solidFill>
                  <a:srgbClr val="167B62"/>
                </a:solidFill>
                <a:latin typeface="Arial"/>
                <a:ea typeface="Arial"/>
                <a:cs typeface="Arial"/>
              </a:defRPr>
            </a:lvl8pPr>
            <a:lvl9pPr>
              <a:defRPr sz="3600" b="1">
                <a:solidFill>
                  <a:srgbClr val="167B62"/>
                </a:solidFill>
                <a:latin typeface="Arial"/>
                <a:ea typeface="Arial"/>
                <a:cs typeface="Arial"/>
              </a:defRPr>
            </a:lvl9pPr>
          </a:lstStyle>
          <a:p xmlns:a="http://schemas.openxmlformats.org/drawingml/2006/main">
            <a:pPr>
              <a:defRPr sz="3600" b="1">
                <a:solidFill>
                  <a:srgbClr val="167B62"/>
                </a:solidFill>
                <a:latin typeface="Arial"/>
                <a:ea typeface="Arial"/>
                <a:cs typeface="Arial"/>
              </a:defRPr>
            </a:pPr>
            <a:r>
              <a:rPr sz="3600" b="1">
                <a:solidFill>
                  <a:srgbClr val="167B62"/>
                </a:solidFill>
                <a:latin typeface="Arial"/>
                <a:ea typeface="Arial"/>
                <a:cs typeface="Arial"/>
              </a:rPr>
              <a:t>0.4599</a:t>
            </a:r>
          </a:p>
        </p:txBody>
      </p:sp>
      <p:sp>
        <p:nvSpPr>
          <p:cNvPr id="7" name="">
            <a:extLst xmlns:a="http://schemas.openxmlformats.org/drawingml/2006/main">
              <a:ext uri="{FF2B5EF4-FFF2-40B4-BE49-F238E27FC236}">
                <a16:creationId xmlns:a16="http://schemas.microsoft.com/office/drawing/2014/main" id="{C3DFE4AD-332F-425D-80A9-783B9C5D47CF}"/>
              </a:ext>
            </a:extLst>
          </p:cNvPr>
          <p:cNvSpPr>
            <a:spLocks xmlns:a="http://schemas.openxmlformats.org/drawingml/2006/main" noGrp="1"/>
          </p:cNvSpPr>
          <p:nvPr/>
        </p:nvSpPr>
        <p:spPr>
          <a:xfrm xmlns:a="http://schemas.openxmlformats.org/drawingml/2006/main">
            <a:off x="8858250" y="4076700"/>
            <a:ext cx="257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63B35"/>
                </a:solidFill>
                <a:latin typeface="Arial"/>
                <a:ea typeface="Arial"/>
                <a:cs typeface="Arial"/>
              </a:defRPr>
            </a:defPPr>
            <a:lvl1pPr>
              <a:defRPr sz="1875" b="0">
                <a:solidFill>
                  <a:srgbClr val="163B35"/>
                </a:solidFill>
                <a:latin typeface="Arial"/>
                <a:ea typeface="Arial"/>
                <a:cs typeface="Arial"/>
              </a:defRPr>
            </a:lvl1pPr>
            <a:lvl2pPr>
              <a:defRPr sz="1875" b="0">
                <a:solidFill>
                  <a:srgbClr val="163B35"/>
                </a:solidFill>
                <a:latin typeface="Arial"/>
                <a:ea typeface="Arial"/>
                <a:cs typeface="Arial"/>
              </a:defRPr>
            </a:lvl2pPr>
            <a:lvl3pPr>
              <a:defRPr sz="1875" b="0">
                <a:solidFill>
                  <a:srgbClr val="163B35"/>
                </a:solidFill>
                <a:latin typeface="Arial"/>
                <a:ea typeface="Arial"/>
                <a:cs typeface="Arial"/>
              </a:defRPr>
            </a:lvl3pPr>
            <a:lvl4pPr>
              <a:defRPr sz="1875" b="0">
                <a:solidFill>
                  <a:srgbClr val="163B35"/>
                </a:solidFill>
                <a:latin typeface="Arial"/>
                <a:ea typeface="Arial"/>
                <a:cs typeface="Arial"/>
              </a:defRPr>
            </a:lvl4pPr>
            <a:lvl5pPr>
              <a:defRPr sz="1875" b="0">
                <a:solidFill>
                  <a:srgbClr val="163B35"/>
                </a:solidFill>
                <a:latin typeface="Arial"/>
                <a:ea typeface="Arial"/>
                <a:cs typeface="Arial"/>
              </a:defRPr>
            </a:lvl5pPr>
            <a:lvl6pPr>
              <a:defRPr sz="1875" b="0">
                <a:solidFill>
                  <a:srgbClr val="163B35"/>
                </a:solidFill>
                <a:latin typeface="Arial"/>
                <a:ea typeface="Arial"/>
                <a:cs typeface="Arial"/>
              </a:defRPr>
            </a:lvl6pPr>
            <a:lvl7pPr>
              <a:defRPr sz="1875" b="0">
                <a:solidFill>
                  <a:srgbClr val="163B35"/>
                </a:solidFill>
                <a:latin typeface="Arial"/>
                <a:ea typeface="Arial"/>
                <a:cs typeface="Arial"/>
              </a:defRPr>
            </a:lvl7pPr>
            <a:lvl8pPr>
              <a:defRPr sz="1875" b="0">
                <a:solidFill>
                  <a:srgbClr val="163B35"/>
                </a:solidFill>
                <a:latin typeface="Arial"/>
                <a:ea typeface="Arial"/>
                <a:cs typeface="Arial"/>
              </a:defRPr>
            </a:lvl8pPr>
            <a:lvl9pPr>
              <a:defRPr sz="1875" b="0">
                <a:solidFill>
                  <a:srgbClr val="163B35"/>
                </a:solidFill>
                <a:latin typeface="Arial"/>
                <a:ea typeface="Arial"/>
                <a:cs typeface="Arial"/>
              </a:defRPr>
            </a:lvl9pPr>
          </a:lstStyle>
          <a:p xmlns:a="http://schemas.openxmlformats.org/drawingml/2006/main">
            <a:pPr>
              <a:defRPr sz="1875" b="0">
                <a:solidFill>
                  <a:srgbClr val="163B35"/>
                </a:solidFill>
                <a:latin typeface="Arial"/>
                <a:ea typeface="Arial"/>
                <a:cs typeface="Arial"/>
              </a:defRPr>
            </a:pPr>
            <a:r>
              <a:rPr sz="1875" b="0">
                <a:solidFill>
                  <a:srgbClr val="163B35"/>
                </a:solidFill>
                <a:latin typeface="Arial"/>
                <a:ea typeface="Arial"/>
                <a:cs typeface="Arial"/>
              </a:rPr>
              <a:t>Log loss</a:t>
            </a:r>
          </a:p>
        </p:txBody>
      </p:sp>
      <p:sp>
        <p:nvSpPr>
          <p:cNvPr id="8" name="">
            <a:extLst xmlns:a="http://schemas.openxmlformats.org/drawingml/2006/main">
              <a:ext uri="{FF2B5EF4-FFF2-40B4-BE49-F238E27FC236}">
                <a16:creationId xmlns:a16="http://schemas.microsoft.com/office/drawing/2014/main" id="{6CC49480-03C1-4F0F-92B0-6B258EAEE5DB}"/>
              </a:ext>
            </a:extLst>
          </p:cNvPr>
          <p:cNvSpPr>
            <a:spLocks xmlns:a="http://schemas.openxmlformats.org/drawingml/2006/main" noGrp="1"/>
          </p:cNvSpPr>
          <p:nvPr/>
        </p:nvSpPr>
        <p:spPr>
          <a:xfrm xmlns:a="http://schemas.openxmlformats.org/drawingml/2006/main">
            <a:off x="8858250" y="4772025"/>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167B62"/>
                </a:solidFill>
                <a:latin typeface="Arial"/>
                <a:ea typeface="Arial"/>
                <a:cs typeface="Arial"/>
              </a:defRPr>
            </a:defPPr>
            <a:lvl1pPr>
              <a:defRPr sz="3600" b="1">
                <a:solidFill>
                  <a:srgbClr val="167B62"/>
                </a:solidFill>
                <a:latin typeface="Arial"/>
                <a:ea typeface="Arial"/>
                <a:cs typeface="Arial"/>
              </a:defRPr>
            </a:lvl1pPr>
            <a:lvl2pPr>
              <a:defRPr sz="3600" b="1">
                <a:solidFill>
                  <a:srgbClr val="167B62"/>
                </a:solidFill>
                <a:latin typeface="Arial"/>
                <a:ea typeface="Arial"/>
                <a:cs typeface="Arial"/>
              </a:defRPr>
            </a:lvl2pPr>
            <a:lvl3pPr>
              <a:defRPr sz="3600" b="1">
                <a:solidFill>
                  <a:srgbClr val="167B62"/>
                </a:solidFill>
                <a:latin typeface="Arial"/>
                <a:ea typeface="Arial"/>
                <a:cs typeface="Arial"/>
              </a:defRPr>
            </a:lvl3pPr>
            <a:lvl4pPr>
              <a:defRPr sz="3600" b="1">
                <a:solidFill>
                  <a:srgbClr val="167B62"/>
                </a:solidFill>
                <a:latin typeface="Arial"/>
                <a:ea typeface="Arial"/>
                <a:cs typeface="Arial"/>
              </a:defRPr>
            </a:lvl4pPr>
            <a:lvl5pPr>
              <a:defRPr sz="3600" b="1">
                <a:solidFill>
                  <a:srgbClr val="167B62"/>
                </a:solidFill>
                <a:latin typeface="Arial"/>
                <a:ea typeface="Arial"/>
                <a:cs typeface="Arial"/>
              </a:defRPr>
            </a:lvl5pPr>
            <a:lvl6pPr>
              <a:defRPr sz="3600" b="1">
                <a:solidFill>
                  <a:srgbClr val="167B62"/>
                </a:solidFill>
                <a:latin typeface="Arial"/>
                <a:ea typeface="Arial"/>
                <a:cs typeface="Arial"/>
              </a:defRPr>
            </a:lvl6pPr>
            <a:lvl7pPr>
              <a:defRPr sz="3600" b="1">
                <a:solidFill>
                  <a:srgbClr val="167B62"/>
                </a:solidFill>
                <a:latin typeface="Arial"/>
                <a:ea typeface="Arial"/>
                <a:cs typeface="Arial"/>
              </a:defRPr>
            </a:lvl7pPr>
            <a:lvl8pPr>
              <a:defRPr sz="3600" b="1">
                <a:solidFill>
                  <a:srgbClr val="167B62"/>
                </a:solidFill>
                <a:latin typeface="Arial"/>
                <a:ea typeface="Arial"/>
                <a:cs typeface="Arial"/>
              </a:defRPr>
            </a:lvl8pPr>
            <a:lvl9pPr>
              <a:defRPr sz="3600" b="1">
                <a:solidFill>
                  <a:srgbClr val="167B62"/>
                </a:solidFill>
                <a:latin typeface="Arial"/>
                <a:ea typeface="Arial"/>
                <a:cs typeface="Arial"/>
              </a:defRPr>
            </a:lvl9pPr>
          </a:lstStyle>
          <a:p xmlns:a="http://schemas.openxmlformats.org/drawingml/2006/main">
            <a:pPr>
              <a:defRPr sz="3600" b="1">
                <a:solidFill>
                  <a:srgbClr val="167B62"/>
                </a:solidFill>
                <a:latin typeface="Arial"/>
                <a:ea typeface="Arial"/>
                <a:cs typeface="Arial"/>
              </a:defRPr>
            </a:pPr>
            <a:r>
              <a:rPr sz="3600" b="1">
                <a:solidFill>
                  <a:srgbClr val="167B62"/>
                </a:solidFill>
                <a:latin typeface="Arial"/>
                <a:ea typeface="Arial"/>
                <a:cs typeface="Arial"/>
              </a:rPr>
              <a:t>0.1828</a:t>
            </a:r>
          </a:p>
        </p:txBody>
      </p:sp>
      <p:sp>
        <p:nvSpPr>
          <p:cNvPr id="9" name="">
            <a:extLst xmlns:a="http://schemas.openxmlformats.org/drawingml/2006/main">
              <a:ext uri="{FF2B5EF4-FFF2-40B4-BE49-F238E27FC236}">
                <a16:creationId xmlns:a16="http://schemas.microsoft.com/office/drawing/2014/main" id="{528DC321-5202-47A3-B136-303656CB753D}"/>
              </a:ext>
            </a:extLst>
          </p:cNvPr>
          <p:cNvSpPr>
            <a:spLocks xmlns:a="http://schemas.openxmlformats.org/drawingml/2006/main" noGrp="1"/>
          </p:cNvSpPr>
          <p:nvPr/>
        </p:nvSpPr>
        <p:spPr>
          <a:xfrm xmlns:a="http://schemas.openxmlformats.org/drawingml/2006/main">
            <a:off x="8858250" y="5438775"/>
            <a:ext cx="257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63B35"/>
                </a:solidFill>
                <a:latin typeface="Arial"/>
                <a:ea typeface="Arial"/>
                <a:cs typeface="Arial"/>
              </a:defRPr>
            </a:defPPr>
            <a:lvl1pPr>
              <a:defRPr sz="1875" b="0">
                <a:solidFill>
                  <a:srgbClr val="163B35"/>
                </a:solidFill>
                <a:latin typeface="Arial"/>
                <a:ea typeface="Arial"/>
                <a:cs typeface="Arial"/>
              </a:defRPr>
            </a:lvl1pPr>
            <a:lvl2pPr>
              <a:defRPr sz="1875" b="0">
                <a:solidFill>
                  <a:srgbClr val="163B35"/>
                </a:solidFill>
                <a:latin typeface="Arial"/>
                <a:ea typeface="Arial"/>
                <a:cs typeface="Arial"/>
              </a:defRPr>
            </a:lvl2pPr>
            <a:lvl3pPr>
              <a:defRPr sz="1875" b="0">
                <a:solidFill>
                  <a:srgbClr val="163B35"/>
                </a:solidFill>
                <a:latin typeface="Arial"/>
                <a:ea typeface="Arial"/>
                <a:cs typeface="Arial"/>
              </a:defRPr>
            </a:lvl3pPr>
            <a:lvl4pPr>
              <a:defRPr sz="1875" b="0">
                <a:solidFill>
                  <a:srgbClr val="163B35"/>
                </a:solidFill>
                <a:latin typeface="Arial"/>
                <a:ea typeface="Arial"/>
                <a:cs typeface="Arial"/>
              </a:defRPr>
            </a:lvl4pPr>
            <a:lvl5pPr>
              <a:defRPr sz="1875" b="0">
                <a:solidFill>
                  <a:srgbClr val="163B35"/>
                </a:solidFill>
                <a:latin typeface="Arial"/>
                <a:ea typeface="Arial"/>
                <a:cs typeface="Arial"/>
              </a:defRPr>
            </a:lvl5pPr>
            <a:lvl6pPr>
              <a:defRPr sz="1875" b="0">
                <a:solidFill>
                  <a:srgbClr val="163B35"/>
                </a:solidFill>
                <a:latin typeface="Arial"/>
                <a:ea typeface="Arial"/>
                <a:cs typeface="Arial"/>
              </a:defRPr>
            </a:lvl6pPr>
            <a:lvl7pPr>
              <a:defRPr sz="1875" b="0">
                <a:solidFill>
                  <a:srgbClr val="163B35"/>
                </a:solidFill>
                <a:latin typeface="Arial"/>
                <a:ea typeface="Arial"/>
                <a:cs typeface="Arial"/>
              </a:defRPr>
            </a:lvl7pPr>
            <a:lvl8pPr>
              <a:defRPr sz="1875" b="0">
                <a:solidFill>
                  <a:srgbClr val="163B35"/>
                </a:solidFill>
                <a:latin typeface="Arial"/>
                <a:ea typeface="Arial"/>
                <a:cs typeface="Arial"/>
              </a:defRPr>
            </a:lvl8pPr>
            <a:lvl9pPr>
              <a:defRPr sz="1875" b="0">
                <a:solidFill>
                  <a:srgbClr val="163B35"/>
                </a:solidFill>
                <a:latin typeface="Arial"/>
                <a:ea typeface="Arial"/>
                <a:cs typeface="Arial"/>
              </a:defRPr>
            </a:lvl9pPr>
          </a:lstStyle>
          <a:p xmlns:a="http://schemas.openxmlformats.org/drawingml/2006/main">
            <a:pPr>
              <a:defRPr sz="1875" b="0">
                <a:solidFill>
                  <a:srgbClr val="163B35"/>
                </a:solidFill>
                <a:latin typeface="Arial"/>
                <a:ea typeface="Arial"/>
                <a:cs typeface="Arial"/>
              </a:defRPr>
            </a:pPr>
            <a:r>
              <a:rPr sz="1875" b="0">
                <a:solidFill>
                  <a:srgbClr val="163B35"/>
                </a:solidFill>
                <a:latin typeface="Arial"/>
                <a:ea typeface="Arial"/>
                <a:cs typeface="Arial"/>
              </a:rPr>
              <a:t>Brier score</a:t>
            </a:r>
          </a:p>
        </p:txBody>
      </p:sp>
    </p:spTree>
    <p:extLst>
      <p:ext uri="{BB962C8B-B14F-4D97-AF65-F5344CB8AC3E}">
        <p14:creationId xmlns:p14="http://schemas.microsoft.com/office/powerpoint/2010/main" val="1137747566"/>
      </p:ext>
    </p:extLst>
  </p:cSld>
</p:sld>
</file>

<file path=ppt/slides/slide18.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AC3B394-584F-4F31-B7D4-3D5D5C9B4288}"/>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63B35"/>
                </a:solidFill>
                <a:latin typeface="Arial"/>
                <a:ea typeface="Arial"/>
                <a:cs typeface="Arial"/>
              </a:defRPr>
            </a:defPPr>
            <a:lvl1pPr>
              <a:defRPr sz="3300" b="1">
                <a:solidFill>
                  <a:srgbClr val="163B35"/>
                </a:solidFill>
                <a:latin typeface="Arial"/>
                <a:ea typeface="Arial"/>
                <a:cs typeface="Arial"/>
              </a:defRPr>
            </a:lvl1pPr>
            <a:lvl2pPr>
              <a:defRPr sz="3300" b="1">
                <a:solidFill>
                  <a:srgbClr val="163B35"/>
                </a:solidFill>
                <a:latin typeface="Arial"/>
                <a:ea typeface="Arial"/>
                <a:cs typeface="Arial"/>
              </a:defRPr>
            </a:lvl2pPr>
            <a:lvl3pPr>
              <a:defRPr sz="3300" b="1">
                <a:solidFill>
                  <a:srgbClr val="163B35"/>
                </a:solidFill>
                <a:latin typeface="Arial"/>
                <a:ea typeface="Arial"/>
                <a:cs typeface="Arial"/>
              </a:defRPr>
            </a:lvl3pPr>
            <a:lvl4pPr>
              <a:defRPr sz="3300" b="1">
                <a:solidFill>
                  <a:srgbClr val="163B35"/>
                </a:solidFill>
                <a:latin typeface="Arial"/>
                <a:ea typeface="Arial"/>
                <a:cs typeface="Arial"/>
              </a:defRPr>
            </a:lvl4pPr>
            <a:lvl5pPr>
              <a:defRPr sz="3300" b="1">
                <a:solidFill>
                  <a:srgbClr val="163B35"/>
                </a:solidFill>
                <a:latin typeface="Arial"/>
                <a:ea typeface="Arial"/>
                <a:cs typeface="Arial"/>
              </a:defRPr>
            </a:lvl5pPr>
            <a:lvl6pPr>
              <a:defRPr sz="3300" b="1">
                <a:solidFill>
                  <a:srgbClr val="163B35"/>
                </a:solidFill>
                <a:latin typeface="Arial"/>
                <a:ea typeface="Arial"/>
                <a:cs typeface="Arial"/>
              </a:defRPr>
            </a:lvl6pPr>
            <a:lvl7pPr>
              <a:defRPr sz="3300" b="1">
                <a:solidFill>
                  <a:srgbClr val="163B35"/>
                </a:solidFill>
                <a:latin typeface="Arial"/>
                <a:ea typeface="Arial"/>
                <a:cs typeface="Arial"/>
              </a:defRPr>
            </a:lvl7pPr>
            <a:lvl8pPr>
              <a:defRPr sz="3300" b="1">
                <a:solidFill>
                  <a:srgbClr val="163B35"/>
                </a:solidFill>
                <a:latin typeface="Arial"/>
                <a:ea typeface="Arial"/>
                <a:cs typeface="Arial"/>
              </a:defRPr>
            </a:lvl8pPr>
            <a:lvl9pPr>
              <a:defRPr sz="3300" b="1">
                <a:solidFill>
                  <a:srgbClr val="163B35"/>
                </a:solidFill>
                <a:latin typeface="Arial"/>
                <a:ea typeface="Arial"/>
                <a:cs typeface="Arial"/>
              </a:defRPr>
            </a:lvl9pPr>
          </a:lstStyle>
          <a:p xmlns:a="http://schemas.openxmlformats.org/drawingml/2006/main">
            <a:pPr>
              <a:defRPr sz="3300" b="1">
                <a:solidFill>
                  <a:srgbClr val="163B35"/>
                </a:solidFill>
                <a:latin typeface="Arial"/>
                <a:ea typeface="Arial"/>
                <a:cs typeface="Arial"/>
              </a:defRPr>
            </a:pPr>
            <a:r>
              <a:rPr sz="3300" b="1">
                <a:solidFill>
                  <a:srgbClr val="163B35"/>
                </a:solidFill>
                <a:latin typeface="Arial"/>
                <a:ea typeface="Arial"/>
                <a:cs typeface="Arial"/>
              </a:rPr>
              <a:t>Backup: references and experiment records</a:t>
            </a:r>
          </a:p>
        </p:txBody>
      </p:sp>
      <p:sp>
        <p:nvSpPr>
          <p:cNvPr id="2" name="">
            <a:extLst xmlns:a="http://schemas.openxmlformats.org/drawingml/2006/main">
              <a:ext uri="{FF2B5EF4-FFF2-40B4-BE49-F238E27FC236}">
                <a16:creationId xmlns:a16="http://schemas.microsoft.com/office/drawing/2014/main" id="{3E4414BD-A76C-4E4C-906D-8F2AE6B8DBF3}"/>
              </a:ext>
            </a:extLst>
          </p:cNvPr>
          <p:cNvSpPr>
            <a:spLocks xmlns:a="http://schemas.openxmlformats.org/drawingml/2006/main" noGrp="1"/>
          </p:cNvSpPr>
          <p:nvPr/>
        </p:nvSpPr>
        <p:spPr>
          <a:xfrm xmlns:a="http://schemas.openxmlformats.org/drawingml/2006/main">
            <a:off x="11068050" y="633412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36C66"/>
                </a:solidFill>
                <a:latin typeface="Arial"/>
                <a:ea typeface="Arial"/>
                <a:cs typeface="Arial"/>
              </a:defRPr>
            </a:defPPr>
            <a:lvl1pPr>
              <a:defRPr sz="1350" b="0">
                <a:solidFill>
                  <a:srgbClr val="536C66"/>
                </a:solidFill>
                <a:latin typeface="Arial"/>
                <a:ea typeface="Arial"/>
                <a:cs typeface="Arial"/>
              </a:defRPr>
            </a:lvl1pPr>
            <a:lvl2pPr>
              <a:defRPr sz="1350" b="0">
                <a:solidFill>
                  <a:srgbClr val="536C66"/>
                </a:solidFill>
                <a:latin typeface="Arial"/>
                <a:ea typeface="Arial"/>
                <a:cs typeface="Arial"/>
              </a:defRPr>
            </a:lvl2pPr>
            <a:lvl3pPr>
              <a:defRPr sz="1350" b="0">
                <a:solidFill>
                  <a:srgbClr val="536C66"/>
                </a:solidFill>
                <a:latin typeface="Arial"/>
                <a:ea typeface="Arial"/>
                <a:cs typeface="Arial"/>
              </a:defRPr>
            </a:lvl3pPr>
            <a:lvl4pPr>
              <a:defRPr sz="1350" b="0">
                <a:solidFill>
                  <a:srgbClr val="536C66"/>
                </a:solidFill>
                <a:latin typeface="Arial"/>
                <a:ea typeface="Arial"/>
                <a:cs typeface="Arial"/>
              </a:defRPr>
            </a:lvl4pPr>
            <a:lvl5pPr>
              <a:defRPr sz="1350" b="0">
                <a:solidFill>
                  <a:srgbClr val="536C66"/>
                </a:solidFill>
                <a:latin typeface="Arial"/>
                <a:ea typeface="Arial"/>
                <a:cs typeface="Arial"/>
              </a:defRPr>
            </a:lvl5pPr>
            <a:lvl6pPr>
              <a:defRPr sz="1350" b="0">
                <a:solidFill>
                  <a:srgbClr val="536C66"/>
                </a:solidFill>
                <a:latin typeface="Arial"/>
                <a:ea typeface="Arial"/>
                <a:cs typeface="Arial"/>
              </a:defRPr>
            </a:lvl6pPr>
            <a:lvl7pPr>
              <a:defRPr sz="1350" b="0">
                <a:solidFill>
                  <a:srgbClr val="536C66"/>
                </a:solidFill>
                <a:latin typeface="Arial"/>
                <a:ea typeface="Arial"/>
                <a:cs typeface="Arial"/>
              </a:defRPr>
            </a:lvl7pPr>
            <a:lvl8pPr>
              <a:defRPr sz="1350" b="0">
                <a:solidFill>
                  <a:srgbClr val="536C66"/>
                </a:solidFill>
                <a:latin typeface="Arial"/>
                <a:ea typeface="Arial"/>
                <a:cs typeface="Arial"/>
              </a:defRPr>
            </a:lvl8pPr>
            <a:lvl9pPr>
              <a:defRPr sz="1350" b="0">
                <a:solidFill>
                  <a:srgbClr val="536C66"/>
                </a:solidFill>
                <a:latin typeface="Arial"/>
                <a:ea typeface="Arial"/>
                <a:cs typeface="Arial"/>
              </a:defRPr>
            </a:lvl9pPr>
          </a:lstStyle>
          <a:p xmlns:a="http://schemas.openxmlformats.org/drawingml/2006/main">
            <a:pPr>
              <a:defRPr sz="1350" b="0">
                <a:solidFill>
                  <a:srgbClr val="536C66"/>
                </a:solidFill>
                <a:latin typeface="Arial"/>
                <a:ea typeface="Arial"/>
                <a:cs typeface="Arial"/>
              </a:defRPr>
            </a:pPr>
            <a:r>
              <a:rPr sz="1350" b="0">
                <a:solidFill>
                  <a:srgbClr val="536C66"/>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5B78820A-83B8-4781-AB3A-4723A12080EF}"/>
              </a:ext>
            </a:extLst>
          </p:cNvPr>
          <p:cNvSpPr>
            <a:spLocks xmlns:a="http://schemas.openxmlformats.org/drawingml/2006/main" noGrp="1"/>
          </p:cNvSpPr>
          <p:nvPr/>
        </p:nvSpPr>
        <p:spPr>
          <a:xfrm xmlns:a="http://schemas.openxmlformats.org/drawingml/2006/main">
            <a:off x="609600" y="16764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B35"/>
                </a:solidFill>
                <a:latin typeface="Arial"/>
                <a:ea typeface="Arial"/>
                <a:cs typeface="Arial"/>
              </a:defRPr>
            </a:defPPr>
            <a:lvl1pPr>
              <a:defRPr sz="2025" b="0">
                <a:solidFill>
                  <a:srgbClr val="163B35"/>
                </a:solidFill>
                <a:latin typeface="Arial"/>
                <a:ea typeface="Arial"/>
                <a:cs typeface="Arial"/>
              </a:defRPr>
            </a:lvl1pPr>
            <a:lvl2pPr>
              <a:defRPr sz="2025" b="0">
                <a:solidFill>
                  <a:srgbClr val="163B35"/>
                </a:solidFill>
                <a:latin typeface="Arial"/>
                <a:ea typeface="Arial"/>
                <a:cs typeface="Arial"/>
              </a:defRPr>
            </a:lvl2pPr>
            <a:lvl3pPr>
              <a:defRPr sz="2025" b="0">
                <a:solidFill>
                  <a:srgbClr val="163B35"/>
                </a:solidFill>
                <a:latin typeface="Arial"/>
                <a:ea typeface="Arial"/>
                <a:cs typeface="Arial"/>
              </a:defRPr>
            </a:lvl3pPr>
            <a:lvl4pPr>
              <a:defRPr sz="2025" b="0">
                <a:solidFill>
                  <a:srgbClr val="163B35"/>
                </a:solidFill>
                <a:latin typeface="Arial"/>
                <a:ea typeface="Arial"/>
                <a:cs typeface="Arial"/>
              </a:defRPr>
            </a:lvl4pPr>
            <a:lvl5pPr>
              <a:defRPr sz="2025" b="0">
                <a:solidFill>
                  <a:srgbClr val="163B35"/>
                </a:solidFill>
                <a:latin typeface="Arial"/>
                <a:ea typeface="Arial"/>
                <a:cs typeface="Arial"/>
              </a:defRPr>
            </a:lvl5pPr>
            <a:lvl6pPr>
              <a:defRPr sz="2025" b="0">
                <a:solidFill>
                  <a:srgbClr val="163B35"/>
                </a:solidFill>
                <a:latin typeface="Arial"/>
                <a:ea typeface="Arial"/>
                <a:cs typeface="Arial"/>
              </a:defRPr>
            </a:lvl6pPr>
            <a:lvl7pPr>
              <a:defRPr sz="2025" b="0">
                <a:solidFill>
                  <a:srgbClr val="163B35"/>
                </a:solidFill>
                <a:latin typeface="Arial"/>
                <a:ea typeface="Arial"/>
                <a:cs typeface="Arial"/>
              </a:defRPr>
            </a:lvl7pPr>
            <a:lvl8pPr>
              <a:defRPr sz="2025" b="0">
                <a:solidFill>
                  <a:srgbClr val="163B35"/>
                </a:solidFill>
                <a:latin typeface="Arial"/>
                <a:ea typeface="Arial"/>
                <a:cs typeface="Arial"/>
              </a:defRPr>
            </a:lvl8pPr>
            <a:lvl9pPr>
              <a:defRPr sz="2025" b="0">
                <a:solidFill>
                  <a:srgbClr val="163B35"/>
                </a:solidFill>
                <a:latin typeface="Arial"/>
                <a:ea typeface="Arial"/>
                <a:cs typeface="Arial"/>
              </a:defRPr>
            </a:lvl9pPr>
          </a:lstStyle>
          <a:p xmlns:a="http://schemas.openxmlformats.org/drawingml/2006/main">
            <a:pPr>
              <a:defRPr sz="2025" b="0">
                <a:solidFill>
                  <a:srgbClr val="163B35"/>
                </a:solidFill>
                <a:latin typeface="Arial"/>
                <a:ea typeface="Arial"/>
                <a:cs typeface="Arial"/>
              </a:defRPr>
            </a:pPr>
            <a:r>
              <a:rPr sz="2025" b="0">
                <a:solidFill>
                  <a:srgbClr val="163B35"/>
                </a:solidFill>
                <a:latin typeface="Arial"/>
                <a:ea typeface="Arial"/>
                <a:cs typeface="Arial"/>
              </a:rPr>
              <a:t>TrashNet: Thung and Yang (2016)</a:t>
            </a:r>
          </a:p>
        </p:txBody>
      </p:sp>
      <p:sp>
        <p:nvSpPr>
          <p:cNvPr id="4" name="">
            <a:extLst xmlns:a="http://schemas.openxmlformats.org/drawingml/2006/main">
              <a:ext uri="{FF2B5EF4-FFF2-40B4-BE49-F238E27FC236}">
                <a16:creationId xmlns:a16="http://schemas.microsoft.com/office/drawing/2014/main" id="{9286DE44-A368-4364-B454-B013934E6CB8}"/>
              </a:ext>
            </a:extLst>
          </p:cNvPr>
          <p:cNvSpPr>
            <a:spLocks xmlns:a="http://schemas.openxmlformats.org/drawingml/2006/main" noGrp="1"/>
          </p:cNvSpPr>
          <p:nvPr/>
        </p:nvSpPr>
        <p:spPr>
          <a:xfrm xmlns:a="http://schemas.openxmlformats.org/drawingml/2006/main">
            <a:off x="609600" y="237172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B35"/>
                </a:solidFill>
                <a:latin typeface="Arial"/>
                <a:ea typeface="Arial"/>
                <a:cs typeface="Arial"/>
              </a:defRPr>
            </a:defPPr>
            <a:lvl1pPr>
              <a:defRPr sz="2025" b="0">
                <a:solidFill>
                  <a:srgbClr val="163B35"/>
                </a:solidFill>
                <a:latin typeface="Arial"/>
                <a:ea typeface="Arial"/>
                <a:cs typeface="Arial"/>
              </a:defRPr>
            </a:lvl1pPr>
            <a:lvl2pPr>
              <a:defRPr sz="2025" b="0">
                <a:solidFill>
                  <a:srgbClr val="163B35"/>
                </a:solidFill>
                <a:latin typeface="Arial"/>
                <a:ea typeface="Arial"/>
                <a:cs typeface="Arial"/>
              </a:defRPr>
            </a:lvl2pPr>
            <a:lvl3pPr>
              <a:defRPr sz="2025" b="0">
                <a:solidFill>
                  <a:srgbClr val="163B35"/>
                </a:solidFill>
                <a:latin typeface="Arial"/>
                <a:ea typeface="Arial"/>
                <a:cs typeface="Arial"/>
              </a:defRPr>
            </a:lvl3pPr>
            <a:lvl4pPr>
              <a:defRPr sz="2025" b="0">
                <a:solidFill>
                  <a:srgbClr val="163B35"/>
                </a:solidFill>
                <a:latin typeface="Arial"/>
                <a:ea typeface="Arial"/>
                <a:cs typeface="Arial"/>
              </a:defRPr>
            </a:lvl4pPr>
            <a:lvl5pPr>
              <a:defRPr sz="2025" b="0">
                <a:solidFill>
                  <a:srgbClr val="163B35"/>
                </a:solidFill>
                <a:latin typeface="Arial"/>
                <a:ea typeface="Arial"/>
                <a:cs typeface="Arial"/>
              </a:defRPr>
            </a:lvl5pPr>
            <a:lvl6pPr>
              <a:defRPr sz="2025" b="0">
                <a:solidFill>
                  <a:srgbClr val="163B35"/>
                </a:solidFill>
                <a:latin typeface="Arial"/>
                <a:ea typeface="Arial"/>
                <a:cs typeface="Arial"/>
              </a:defRPr>
            </a:lvl6pPr>
            <a:lvl7pPr>
              <a:defRPr sz="2025" b="0">
                <a:solidFill>
                  <a:srgbClr val="163B35"/>
                </a:solidFill>
                <a:latin typeface="Arial"/>
                <a:ea typeface="Arial"/>
                <a:cs typeface="Arial"/>
              </a:defRPr>
            </a:lvl7pPr>
            <a:lvl8pPr>
              <a:defRPr sz="2025" b="0">
                <a:solidFill>
                  <a:srgbClr val="163B35"/>
                </a:solidFill>
                <a:latin typeface="Arial"/>
                <a:ea typeface="Arial"/>
                <a:cs typeface="Arial"/>
              </a:defRPr>
            </a:lvl8pPr>
            <a:lvl9pPr>
              <a:defRPr sz="2025" b="0">
                <a:solidFill>
                  <a:srgbClr val="163B35"/>
                </a:solidFill>
                <a:latin typeface="Arial"/>
                <a:ea typeface="Arial"/>
                <a:cs typeface="Arial"/>
              </a:defRPr>
            </a:lvl9pPr>
          </a:lstStyle>
          <a:p xmlns:a="http://schemas.openxmlformats.org/drawingml/2006/main">
            <a:pPr>
              <a:defRPr sz="2025" b="0">
                <a:solidFill>
                  <a:srgbClr val="163B35"/>
                </a:solidFill>
                <a:latin typeface="Arial"/>
                <a:ea typeface="Arial"/>
                <a:cs typeface="Arial"/>
              </a:defRPr>
            </a:pPr>
            <a:r>
              <a:rPr sz="2025" b="0">
                <a:solidFill>
                  <a:srgbClr val="163B35"/>
                </a:solidFill>
                <a:latin typeface="Arial"/>
                <a:ea typeface="Arial"/>
                <a:cs typeface="Arial"/>
              </a:rPr>
              <a:t>Descriptors: Dalal and Triggs (2005), Ojala et al. (2002)</a:t>
            </a:r>
          </a:p>
        </p:txBody>
      </p:sp>
      <p:sp>
        <p:nvSpPr>
          <p:cNvPr id="5" name="">
            <a:extLst xmlns:a="http://schemas.openxmlformats.org/drawingml/2006/main">
              <a:ext uri="{FF2B5EF4-FFF2-40B4-BE49-F238E27FC236}">
                <a16:creationId xmlns:a16="http://schemas.microsoft.com/office/drawing/2014/main" id="{AF4777D5-6E5B-4444-8FC7-C9DCAEB55F97}"/>
              </a:ext>
            </a:extLst>
          </p:cNvPr>
          <p:cNvSpPr>
            <a:spLocks xmlns:a="http://schemas.openxmlformats.org/drawingml/2006/main" noGrp="1"/>
          </p:cNvSpPr>
          <p:nvPr/>
        </p:nvSpPr>
        <p:spPr>
          <a:xfrm xmlns:a="http://schemas.openxmlformats.org/drawingml/2006/main">
            <a:off x="609600" y="30670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B35"/>
                </a:solidFill>
                <a:latin typeface="Arial"/>
                <a:ea typeface="Arial"/>
                <a:cs typeface="Arial"/>
              </a:defRPr>
            </a:defPPr>
            <a:lvl1pPr>
              <a:defRPr sz="2025" b="0">
                <a:solidFill>
                  <a:srgbClr val="163B35"/>
                </a:solidFill>
                <a:latin typeface="Arial"/>
                <a:ea typeface="Arial"/>
                <a:cs typeface="Arial"/>
              </a:defRPr>
            </a:lvl1pPr>
            <a:lvl2pPr>
              <a:defRPr sz="2025" b="0">
                <a:solidFill>
                  <a:srgbClr val="163B35"/>
                </a:solidFill>
                <a:latin typeface="Arial"/>
                <a:ea typeface="Arial"/>
                <a:cs typeface="Arial"/>
              </a:defRPr>
            </a:lvl2pPr>
            <a:lvl3pPr>
              <a:defRPr sz="2025" b="0">
                <a:solidFill>
                  <a:srgbClr val="163B35"/>
                </a:solidFill>
                <a:latin typeface="Arial"/>
                <a:ea typeface="Arial"/>
                <a:cs typeface="Arial"/>
              </a:defRPr>
            </a:lvl3pPr>
            <a:lvl4pPr>
              <a:defRPr sz="2025" b="0">
                <a:solidFill>
                  <a:srgbClr val="163B35"/>
                </a:solidFill>
                <a:latin typeface="Arial"/>
                <a:ea typeface="Arial"/>
                <a:cs typeface="Arial"/>
              </a:defRPr>
            </a:lvl4pPr>
            <a:lvl5pPr>
              <a:defRPr sz="2025" b="0">
                <a:solidFill>
                  <a:srgbClr val="163B35"/>
                </a:solidFill>
                <a:latin typeface="Arial"/>
                <a:ea typeface="Arial"/>
                <a:cs typeface="Arial"/>
              </a:defRPr>
            </a:lvl5pPr>
            <a:lvl6pPr>
              <a:defRPr sz="2025" b="0">
                <a:solidFill>
                  <a:srgbClr val="163B35"/>
                </a:solidFill>
                <a:latin typeface="Arial"/>
                <a:ea typeface="Arial"/>
                <a:cs typeface="Arial"/>
              </a:defRPr>
            </a:lvl6pPr>
            <a:lvl7pPr>
              <a:defRPr sz="2025" b="0">
                <a:solidFill>
                  <a:srgbClr val="163B35"/>
                </a:solidFill>
                <a:latin typeface="Arial"/>
                <a:ea typeface="Arial"/>
                <a:cs typeface="Arial"/>
              </a:defRPr>
            </a:lvl7pPr>
            <a:lvl8pPr>
              <a:defRPr sz="2025" b="0">
                <a:solidFill>
                  <a:srgbClr val="163B35"/>
                </a:solidFill>
                <a:latin typeface="Arial"/>
                <a:ea typeface="Arial"/>
                <a:cs typeface="Arial"/>
              </a:defRPr>
            </a:lvl8pPr>
            <a:lvl9pPr>
              <a:defRPr sz="2025" b="0">
                <a:solidFill>
                  <a:srgbClr val="163B35"/>
                </a:solidFill>
                <a:latin typeface="Arial"/>
                <a:ea typeface="Arial"/>
                <a:cs typeface="Arial"/>
              </a:defRPr>
            </a:lvl9pPr>
          </a:lstStyle>
          <a:p xmlns:a="http://schemas.openxmlformats.org/drawingml/2006/main">
            <a:pPr>
              <a:defRPr sz="2025" b="0">
                <a:solidFill>
                  <a:srgbClr val="163B35"/>
                </a:solidFill>
                <a:latin typeface="Arial"/>
                <a:ea typeface="Arial"/>
                <a:cs typeface="Arial"/>
              </a:defRPr>
            </a:pPr>
            <a:r>
              <a:rPr sz="2025" b="0">
                <a:solidFill>
                  <a:srgbClr val="163B35"/>
                </a:solidFill>
                <a:latin typeface="Arial"/>
                <a:ea typeface="Arial"/>
                <a:cs typeface="Arial"/>
              </a:rPr>
              <a:t>Models: Cortes and Vapnik (1995), Breiman (2001)</a:t>
            </a:r>
          </a:p>
        </p:txBody>
      </p:sp>
      <p:sp>
        <p:nvSpPr>
          <p:cNvPr id="6" name="">
            <a:extLst xmlns:a="http://schemas.openxmlformats.org/drawingml/2006/main">
              <a:ext uri="{FF2B5EF4-FFF2-40B4-BE49-F238E27FC236}">
                <a16:creationId xmlns:a16="http://schemas.microsoft.com/office/drawing/2014/main" id="{872F5BB3-0404-4B18-A6C8-AD5CCABCECFA}"/>
              </a:ext>
            </a:extLst>
          </p:cNvPr>
          <p:cNvSpPr>
            <a:spLocks xmlns:a="http://schemas.openxmlformats.org/drawingml/2006/main" noGrp="1"/>
          </p:cNvSpPr>
          <p:nvPr/>
        </p:nvSpPr>
        <p:spPr>
          <a:xfrm xmlns:a="http://schemas.openxmlformats.org/drawingml/2006/main">
            <a:off x="609600" y="376237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B35"/>
                </a:solidFill>
                <a:latin typeface="Arial"/>
                <a:ea typeface="Arial"/>
                <a:cs typeface="Arial"/>
              </a:defRPr>
            </a:defPPr>
            <a:lvl1pPr>
              <a:defRPr sz="2025" b="0">
                <a:solidFill>
                  <a:srgbClr val="163B35"/>
                </a:solidFill>
                <a:latin typeface="Arial"/>
                <a:ea typeface="Arial"/>
                <a:cs typeface="Arial"/>
              </a:defRPr>
            </a:lvl1pPr>
            <a:lvl2pPr>
              <a:defRPr sz="2025" b="0">
                <a:solidFill>
                  <a:srgbClr val="163B35"/>
                </a:solidFill>
                <a:latin typeface="Arial"/>
                <a:ea typeface="Arial"/>
                <a:cs typeface="Arial"/>
              </a:defRPr>
            </a:lvl2pPr>
            <a:lvl3pPr>
              <a:defRPr sz="2025" b="0">
                <a:solidFill>
                  <a:srgbClr val="163B35"/>
                </a:solidFill>
                <a:latin typeface="Arial"/>
                <a:ea typeface="Arial"/>
                <a:cs typeface="Arial"/>
              </a:defRPr>
            </a:lvl3pPr>
            <a:lvl4pPr>
              <a:defRPr sz="2025" b="0">
                <a:solidFill>
                  <a:srgbClr val="163B35"/>
                </a:solidFill>
                <a:latin typeface="Arial"/>
                <a:ea typeface="Arial"/>
                <a:cs typeface="Arial"/>
              </a:defRPr>
            </a:lvl4pPr>
            <a:lvl5pPr>
              <a:defRPr sz="2025" b="0">
                <a:solidFill>
                  <a:srgbClr val="163B35"/>
                </a:solidFill>
                <a:latin typeface="Arial"/>
                <a:ea typeface="Arial"/>
                <a:cs typeface="Arial"/>
              </a:defRPr>
            </a:lvl5pPr>
            <a:lvl6pPr>
              <a:defRPr sz="2025" b="0">
                <a:solidFill>
                  <a:srgbClr val="163B35"/>
                </a:solidFill>
                <a:latin typeface="Arial"/>
                <a:ea typeface="Arial"/>
                <a:cs typeface="Arial"/>
              </a:defRPr>
            </a:lvl6pPr>
            <a:lvl7pPr>
              <a:defRPr sz="2025" b="0">
                <a:solidFill>
                  <a:srgbClr val="163B35"/>
                </a:solidFill>
                <a:latin typeface="Arial"/>
                <a:ea typeface="Arial"/>
                <a:cs typeface="Arial"/>
              </a:defRPr>
            </a:lvl7pPr>
            <a:lvl8pPr>
              <a:defRPr sz="2025" b="0">
                <a:solidFill>
                  <a:srgbClr val="163B35"/>
                </a:solidFill>
                <a:latin typeface="Arial"/>
                <a:ea typeface="Arial"/>
                <a:cs typeface="Arial"/>
              </a:defRPr>
            </a:lvl8pPr>
            <a:lvl9pPr>
              <a:defRPr sz="2025" b="0">
                <a:solidFill>
                  <a:srgbClr val="163B35"/>
                </a:solidFill>
                <a:latin typeface="Arial"/>
                <a:ea typeface="Arial"/>
                <a:cs typeface="Arial"/>
              </a:defRPr>
            </a:lvl9pPr>
          </a:lstStyle>
          <a:p xmlns:a="http://schemas.openxmlformats.org/drawingml/2006/main">
            <a:pPr>
              <a:defRPr sz="2025" b="0">
                <a:solidFill>
                  <a:srgbClr val="163B35"/>
                </a:solidFill>
                <a:latin typeface="Arial"/>
                <a:ea typeface="Arial"/>
                <a:cs typeface="Arial"/>
              </a:defRPr>
            </a:pPr>
            <a:r>
              <a:rPr sz="2025" b="0">
                <a:solidFill>
                  <a:srgbClr val="163B35"/>
                </a:solidFill>
                <a:latin typeface="Arial"/>
                <a:ea typeface="Arial"/>
                <a:cs typeface="Arial"/>
              </a:rPr>
              <a:t>Confidence: Platt (1999), Niculescu-Mizil and Caruana (2005)</a:t>
            </a:r>
          </a:p>
        </p:txBody>
      </p:sp>
      <p:sp>
        <p:nvSpPr>
          <p:cNvPr id="7" name="">
            <a:extLst xmlns:a="http://schemas.openxmlformats.org/drawingml/2006/main">
              <a:ext uri="{FF2B5EF4-FFF2-40B4-BE49-F238E27FC236}">
                <a16:creationId xmlns:a16="http://schemas.microsoft.com/office/drawing/2014/main" id="{292E6CE3-840D-46B2-AA17-1B16445B9BAC}"/>
              </a:ext>
            </a:extLst>
          </p:cNvPr>
          <p:cNvSpPr>
            <a:spLocks xmlns:a="http://schemas.openxmlformats.org/drawingml/2006/main" noGrp="1"/>
          </p:cNvSpPr>
          <p:nvPr/>
        </p:nvSpPr>
        <p:spPr>
          <a:xfrm xmlns:a="http://schemas.openxmlformats.org/drawingml/2006/main">
            <a:off x="609600" y="44577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B35"/>
                </a:solidFill>
                <a:latin typeface="Arial"/>
                <a:ea typeface="Arial"/>
                <a:cs typeface="Arial"/>
              </a:defRPr>
            </a:defPPr>
            <a:lvl1pPr>
              <a:defRPr sz="2025" b="0">
                <a:solidFill>
                  <a:srgbClr val="163B35"/>
                </a:solidFill>
                <a:latin typeface="Arial"/>
                <a:ea typeface="Arial"/>
                <a:cs typeface="Arial"/>
              </a:defRPr>
            </a:lvl1pPr>
            <a:lvl2pPr>
              <a:defRPr sz="2025" b="0">
                <a:solidFill>
                  <a:srgbClr val="163B35"/>
                </a:solidFill>
                <a:latin typeface="Arial"/>
                <a:ea typeface="Arial"/>
                <a:cs typeface="Arial"/>
              </a:defRPr>
            </a:lvl2pPr>
            <a:lvl3pPr>
              <a:defRPr sz="2025" b="0">
                <a:solidFill>
                  <a:srgbClr val="163B35"/>
                </a:solidFill>
                <a:latin typeface="Arial"/>
                <a:ea typeface="Arial"/>
                <a:cs typeface="Arial"/>
              </a:defRPr>
            </a:lvl3pPr>
            <a:lvl4pPr>
              <a:defRPr sz="2025" b="0">
                <a:solidFill>
                  <a:srgbClr val="163B35"/>
                </a:solidFill>
                <a:latin typeface="Arial"/>
                <a:ea typeface="Arial"/>
                <a:cs typeface="Arial"/>
              </a:defRPr>
            </a:lvl4pPr>
            <a:lvl5pPr>
              <a:defRPr sz="2025" b="0">
                <a:solidFill>
                  <a:srgbClr val="163B35"/>
                </a:solidFill>
                <a:latin typeface="Arial"/>
                <a:ea typeface="Arial"/>
                <a:cs typeface="Arial"/>
              </a:defRPr>
            </a:lvl5pPr>
            <a:lvl6pPr>
              <a:defRPr sz="2025" b="0">
                <a:solidFill>
                  <a:srgbClr val="163B35"/>
                </a:solidFill>
                <a:latin typeface="Arial"/>
                <a:ea typeface="Arial"/>
                <a:cs typeface="Arial"/>
              </a:defRPr>
            </a:lvl6pPr>
            <a:lvl7pPr>
              <a:defRPr sz="2025" b="0">
                <a:solidFill>
                  <a:srgbClr val="163B35"/>
                </a:solidFill>
                <a:latin typeface="Arial"/>
                <a:ea typeface="Arial"/>
                <a:cs typeface="Arial"/>
              </a:defRPr>
            </a:lvl7pPr>
            <a:lvl8pPr>
              <a:defRPr sz="2025" b="0">
                <a:solidFill>
                  <a:srgbClr val="163B35"/>
                </a:solidFill>
                <a:latin typeface="Arial"/>
                <a:ea typeface="Arial"/>
                <a:cs typeface="Arial"/>
              </a:defRPr>
            </a:lvl8pPr>
            <a:lvl9pPr>
              <a:defRPr sz="2025" b="0">
                <a:solidFill>
                  <a:srgbClr val="163B35"/>
                </a:solidFill>
                <a:latin typeface="Arial"/>
                <a:ea typeface="Arial"/>
                <a:cs typeface="Arial"/>
              </a:defRPr>
            </a:lvl9pPr>
          </a:lstStyle>
          <a:p xmlns:a="http://schemas.openxmlformats.org/drawingml/2006/main">
            <a:pPr>
              <a:defRPr sz="2025" b="0">
                <a:solidFill>
                  <a:srgbClr val="163B35"/>
                </a:solidFill>
                <a:latin typeface="Arial"/>
                <a:ea typeface="Arial"/>
                <a:cs typeface="Arial"/>
              </a:defRPr>
            </a:pPr>
            <a:r>
              <a:rPr sz="2025" b="0">
                <a:solidFill>
                  <a:srgbClr val="163B35"/>
                </a:solidFill>
                <a:latin typeface="Arial"/>
                <a:ea typeface="Arial"/>
                <a:cs typeface="Arial"/>
              </a:rPr>
              <a:t>Selective classification: El-Yaniv and Wiener (2010)</a:t>
            </a:r>
          </a:p>
        </p:txBody>
      </p:sp>
      <p:sp>
        <p:nvSpPr>
          <p:cNvPr id="8" name="">
            <a:extLst xmlns:a="http://schemas.openxmlformats.org/drawingml/2006/main">
              <a:ext uri="{FF2B5EF4-FFF2-40B4-BE49-F238E27FC236}">
                <a16:creationId xmlns:a16="http://schemas.microsoft.com/office/drawing/2014/main" id="{2691A723-718D-4E53-8EAE-0BEFA11302EB}"/>
              </a:ext>
            </a:extLst>
          </p:cNvPr>
          <p:cNvSpPr>
            <a:spLocks xmlns:a="http://schemas.openxmlformats.org/drawingml/2006/main" noGrp="1"/>
          </p:cNvSpPr>
          <p:nvPr/>
        </p:nvSpPr>
        <p:spPr>
          <a:xfrm xmlns:a="http://schemas.openxmlformats.org/drawingml/2006/main">
            <a:off x="609600" y="56197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67B62"/>
                </a:solidFill>
                <a:latin typeface="Arial"/>
                <a:ea typeface="Arial"/>
                <a:cs typeface="Arial"/>
              </a:defRPr>
            </a:defPPr>
            <a:lvl1pPr>
              <a:defRPr sz="1875" b="1">
                <a:solidFill>
                  <a:srgbClr val="167B62"/>
                </a:solidFill>
                <a:latin typeface="Arial"/>
                <a:ea typeface="Arial"/>
                <a:cs typeface="Arial"/>
              </a:defRPr>
            </a:lvl1pPr>
            <a:lvl2pPr>
              <a:defRPr sz="1875" b="1">
                <a:solidFill>
                  <a:srgbClr val="167B62"/>
                </a:solidFill>
                <a:latin typeface="Arial"/>
                <a:ea typeface="Arial"/>
                <a:cs typeface="Arial"/>
              </a:defRPr>
            </a:lvl2pPr>
            <a:lvl3pPr>
              <a:defRPr sz="1875" b="1">
                <a:solidFill>
                  <a:srgbClr val="167B62"/>
                </a:solidFill>
                <a:latin typeface="Arial"/>
                <a:ea typeface="Arial"/>
                <a:cs typeface="Arial"/>
              </a:defRPr>
            </a:lvl3pPr>
            <a:lvl4pPr>
              <a:defRPr sz="1875" b="1">
                <a:solidFill>
                  <a:srgbClr val="167B62"/>
                </a:solidFill>
                <a:latin typeface="Arial"/>
                <a:ea typeface="Arial"/>
                <a:cs typeface="Arial"/>
              </a:defRPr>
            </a:lvl4pPr>
            <a:lvl5pPr>
              <a:defRPr sz="1875" b="1">
                <a:solidFill>
                  <a:srgbClr val="167B62"/>
                </a:solidFill>
                <a:latin typeface="Arial"/>
                <a:ea typeface="Arial"/>
                <a:cs typeface="Arial"/>
              </a:defRPr>
            </a:lvl5pPr>
            <a:lvl6pPr>
              <a:defRPr sz="1875" b="1">
                <a:solidFill>
                  <a:srgbClr val="167B62"/>
                </a:solidFill>
                <a:latin typeface="Arial"/>
                <a:ea typeface="Arial"/>
                <a:cs typeface="Arial"/>
              </a:defRPr>
            </a:lvl6pPr>
            <a:lvl7pPr>
              <a:defRPr sz="1875" b="1">
                <a:solidFill>
                  <a:srgbClr val="167B62"/>
                </a:solidFill>
                <a:latin typeface="Arial"/>
                <a:ea typeface="Arial"/>
                <a:cs typeface="Arial"/>
              </a:defRPr>
            </a:lvl7pPr>
            <a:lvl8pPr>
              <a:defRPr sz="1875" b="1">
                <a:solidFill>
                  <a:srgbClr val="167B62"/>
                </a:solidFill>
                <a:latin typeface="Arial"/>
                <a:ea typeface="Arial"/>
                <a:cs typeface="Arial"/>
              </a:defRPr>
            </a:lvl8pPr>
            <a:lvl9pPr>
              <a:defRPr sz="1875" b="1">
                <a:solidFill>
                  <a:srgbClr val="167B62"/>
                </a:solidFill>
                <a:latin typeface="Arial"/>
                <a:ea typeface="Arial"/>
                <a:cs typeface="Arial"/>
              </a:defRPr>
            </a:lvl9pPr>
          </a:lstStyle>
          <a:p xmlns:a="http://schemas.openxmlformats.org/drawingml/2006/main">
            <a:pPr>
              <a:defRPr sz="1875" b="1">
                <a:solidFill>
                  <a:srgbClr val="167B62"/>
                </a:solidFill>
                <a:latin typeface="Arial"/>
                <a:ea typeface="Arial"/>
                <a:cs typeface="Arial"/>
              </a:defRPr>
            </a:pPr>
            <a:r>
              <a:rPr sz="1875" b="1">
                <a:solidFill>
                  <a:srgbClr val="167B62"/>
                </a:solidFill>
                <a:latin typeface="Arial"/>
                <a:ea typeface="Arial"/>
                <a:cs typeface="Arial"/>
              </a:rPr>
              <a:t>Repository: github.com/shourya2006/smart-waste-segregation</a:t>
            </a:r>
          </a:p>
        </p:txBody>
      </p:sp>
    </p:spTree>
    <p:extLst>
      <p:ext uri="{BB962C8B-B14F-4D97-AF65-F5344CB8AC3E}">
        <p14:creationId xmlns:p14="http://schemas.microsoft.com/office/powerpoint/2010/main" val="14173141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2026-10-26T02:53:53.1780000Z</dcterms:created>
  <dcterms:modified xsi:type="dcterms:W3CDTF">2026-10-26T02:53:53.1780000Z</dcterms:modified>
</coreProperties>
</file>